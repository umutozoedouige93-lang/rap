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5" autoAdjust="0"/>
    <p:restoredTop sz="93447" autoAdjust="0"/>
  </p:normalViewPr>
  <p:slideViewPr>
    <p:cSldViewPr snapToGrid="0">
      <p:cViewPr varScale="1">
        <p:scale>
          <a:sx n="56" d="100"/>
          <a:sy n="56" d="100"/>
        </p:scale>
        <p:origin x="996" y="56"/>
      </p:cViewPr>
      <p:guideLst/>
    </p:cSldViewPr>
  </p:slideViewPr>
  <p:outlineViewPr>
    <p:cViewPr>
      <p:scale>
        <a:sx n="33" d="100"/>
        <a:sy n="33" d="100"/>
      </p:scale>
      <p:origin x="0" y="-3056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E7F38-E5C4-8475-F9D4-3807786B97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C542E7F-DDBD-A4DA-0A88-003466F3CE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08ADD3-D6BF-8C41-4386-0B427863D041}"/>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5" name="Footer Placeholder 4">
            <a:extLst>
              <a:ext uri="{FF2B5EF4-FFF2-40B4-BE49-F238E27FC236}">
                <a16:creationId xmlns:a16="http://schemas.microsoft.com/office/drawing/2014/main" id="{4C557320-5481-D0F9-3556-C47149461D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8EE351-87E8-88C4-C9B5-7689BDB63671}"/>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3219529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2E75-F321-2807-F1DA-9C9EE27EBB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37A1F5-A1E9-3836-870B-40AF29559F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262A8-CC45-5A69-A042-A6726553FEC6}"/>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5" name="Footer Placeholder 4">
            <a:extLst>
              <a:ext uri="{FF2B5EF4-FFF2-40B4-BE49-F238E27FC236}">
                <a16:creationId xmlns:a16="http://schemas.microsoft.com/office/drawing/2014/main" id="{56A6D280-221B-7A02-058B-2B152EA95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A6796-57DD-7021-8137-0DA31C6AF82C}"/>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3409402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C6AD8-B632-90D8-D646-9BCF4B8861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6B2A6C-BE1A-1782-73D3-49C192AC94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6620FD-8C16-B53F-A410-16318911CA50}"/>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5" name="Footer Placeholder 4">
            <a:extLst>
              <a:ext uri="{FF2B5EF4-FFF2-40B4-BE49-F238E27FC236}">
                <a16:creationId xmlns:a16="http://schemas.microsoft.com/office/drawing/2014/main" id="{B7B9024C-53D1-B6C5-7755-C097AD36AB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89A32A-49BF-86E4-0216-60C4E4BFECAC}"/>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378427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6183-314A-FC84-AE57-DDEB2FD8A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F78F7C-B4FD-D09D-DF9E-98CC2A1688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D7C82-104C-BC73-188E-422D846841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89EE65-CDA8-537D-B9E9-1C27C614985C}"/>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6" name="Footer Placeholder 5">
            <a:extLst>
              <a:ext uri="{FF2B5EF4-FFF2-40B4-BE49-F238E27FC236}">
                <a16:creationId xmlns:a16="http://schemas.microsoft.com/office/drawing/2014/main" id="{D62DF913-0DCE-0102-488F-1E268DDC87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4F8656-26FA-907D-CCB9-A605F1851D9A}"/>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158307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90B09-1ED6-F575-582E-0970872C8A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C83300-7508-74CF-1901-6699509E2D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88B2D0-75D0-564D-BE41-E416B2949B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6C026D-6A14-BDF3-4897-7AB31B77AE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C0405A-6DFF-27D8-0BD3-FC38EFBD01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626E49-432B-03A0-AAB1-7E84507BED6C}"/>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8" name="Footer Placeholder 7">
            <a:extLst>
              <a:ext uri="{FF2B5EF4-FFF2-40B4-BE49-F238E27FC236}">
                <a16:creationId xmlns:a16="http://schemas.microsoft.com/office/drawing/2014/main" id="{BDE71263-326C-703D-0B2F-B299046737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26726-4D49-07EA-1E23-67EEF71DF58A}"/>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1035761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3DD33-CF88-43A1-36D9-E20CAD8870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F96042-0FCE-5115-66B6-E8ACF256F498}"/>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4" name="Footer Placeholder 3">
            <a:extLst>
              <a:ext uri="{FF2B5EF4-FFF2-40B4-BE49-F238E27FC236}">
                <a16:creationId xmlns:a16="http://schemas.microsoft.com/office/drawing/2014/main" id="{216E9E37-8834-833F-A551-92DDF4514C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584CE7-F9CE-56C2-EF8D-02672F89FC19}"/>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175163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DC9E88-C628-0970-09EA-B8BEB5C9F3B7}"/>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3" name="Footer Placeholder 2">
            <a:extLst>
              <a:ext uri="{FF2B5EF4-FFF2-40B4-BE49-F238E27FC236}">
                <a16:creationId xmlns:a16="http://schemas.microsoft.com/office/drawing/2014/main" id="{7DF7B574-9805-AE61-2AD6-AC28D63CB3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154B22-6F42-8ACB-F5E4-0BA077C8A01F}"/>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2443131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9C9A-3FF0-7C52-B57B-B5B07F0E6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BBC11E-CB09-E477-84F4-57F1243862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CE6F3E-701D-EE8D-C2C4-A805D9B58D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994C8-8290-C738-E166-D75E3C4C7FBA}"/>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6" name="Footer Placeholder 5">
            <a:extLst>
              <a:ext uri="{FF2B5EF4-FFF2-40B4-BE49-F238E27FC236}">
                <a16:creationId xmlns:a16="http://schemas.microsoft.com/office/drawing/2014/main" id="{6D04871A-2659-1561-37D7-37D596B352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B67A44-9480-0F19-9F1D-520F342198FB}"/>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2772214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96A73-1F1F-1387-027F-C021A7371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B5326F-6585-B65C-A8B2-F235D4D5A8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BE2F6F-06DD-1E66-F0F7-452EABE53D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CEC16A-9904-46F4-3112-BF4B01C299C9}"/>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6" name="Footer Placeholder 5">
            <a:extLst>
              <a:ext uri="{FF2B5EF4-FFF2-40B4-BE49-F238E27FC236}">
                <a16:creationId xmlns:a16="http://schemas.microsoft.com/office/drawing/2014/main" id="{BFA2B252-726C-FE09-6C85-4921928901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408FB5-9202-4E2C-61D4-A1439253614C}"/>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622402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2DB6E-58BB-AE20-01D3-6FADE3B791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E32DE4-1005-F4FD-FE4B-0EE0623C12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15B9D3-CACD-3295-03E1-60F1A5116D8D}"/>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5" name="Footer Placeholder 4">
            <a:extLst>
              <a:ext uri="{FF2B5EF4-FFF2-40B4-BE49-F238E27FC236}">
                <a16:creationId xmlns:a16="http://schemas.microsoft.com/office/drawing/2014/main" id="{4D52861D-F541-CD89-A4C9-9B53EB5FE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C752FA-6941-2595-68F4-9237A32EC1D7}"/>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2522239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D4D54C-5357-A858-1A8F-396674B9B5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85BD743-D680-47B1-8D05-AB849DC5AC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E96101-E992-0BDF-22BA-070FC4BC9297}"/>
              </a:ext>
            </a:extLst>
          </p:cNvPr>
          <p:cNvSpPr>
            <a:spLocks noGrp="1"/>
          </p:cNvSpPr>
          <p:nvPr>
            <p:ph type="dt" sz="half" idx="10"/>
          </p:nvPr>
        </p:nvSpPr>
        <p:spPr/>
        <p:txBody>
          <a:bodyPr/>
          <a:lstStyle/>
          <a:p>
            <a:fld id="{57807E25-BB9B-40CC-AEA2-80C7E42B7F3C}" type="datetimeFigureOut">
              <a:rPr lang="en-US" smtClean="0"/>
              <a:t>6/9/2026</a:t>
            </a:fld>
            <a:endParaRPr lang="en-US"/>
          </a:p>
        </p:txBody>
      </p:sp>
      <p:sp>
        <p:nvSpPr>
          <p:cNvPr id="5" name="Footer Placeholder 4">
            <a:extLst>
              <a:ext uri="{FF2B5EF4-FFF2-40B4-BE49-F238E27FC236}">
                <a16:creationId xmlns:a16="http://schemas.microsoft.com/office/drawing/2014/main" id="{777D8D01-92F0-B20F-E469-66AE339C9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17223-4807-D22C-AA07-61C4A0DD61A9}"/>
              </a:ext>
            </a:extLst>
          </p:cNvPr>
          <p:cNvSpPr>
            <a:spLocks noGrp="1"/>
          </p:cNvSpPr>
          <p:nvPr>
            <p:ph type="sldNum" sz="quarter" idx="12"/>
          </p:nvPr>
        </p:nvSpPr>
        <p:spPr/>
        <p:txBody>
          <a:bodyPr/>
          <a:lstStyle/>
          <a:p>
            <a:fld id="{6580FDB3-F874-4355-A6C9-E445E6576E90}" type="slidenum">
              <a:rPr lang="en-US" smtClean="0"/>
              <a:t>‹#›</a:t>
            </a:fld>
            <a:endParaRPr lang="en-US"/>
          </a:p>
        </p:txBody>
      </p:sp>
    </p:spTree>
    <p:extLst>
      <p:ext uri="{BB962C8B-B14F-4D97-AF65-F5344CB8AC3E}">
        <p14:creationId xmlns:p14="http://schemas.microsoft.com/office/powerpoint/2010/main" val="2994581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D93111-AFE6-8821-8C53-569BBD33F1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617857-A07D-B3B9-1632-435FEBDB5B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7B244E-E34B-ACCD-D928-8C404B95C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807E25-BB9B-40CC-AEA2-80C7E42B7F3C}" type="datetimeFigureOut">
              <a:rPr lang="en-US" smtClean="0"/>
              <a:t>6/9/2026</a:t>
            </a:fld>
            <a:endParaRPr lang="en-US"/>
          </a:p>
        </p:txBody>
      </p:sp>
      <p:sp>
        <p:nvSpPr>
          <p:cNvPr id="5" name="Footer Placeholder 4">
            <a:extLst>
              <a:ext uri="{FF2B5EF4-FFF2-40B4-BE49-F238E27FC236}">
                <a16:creationId xmlns:a16="http://schemas.microsoft.com/office/drawing/2014/main" id="{2F2E63A7-E81C-2BF1-F4D7-CFD11B9462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5D1DF1D-ABDB-D684-1D5F-6036066797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80FDB3-F874-4355-A6C9-E445E6576E90}" type="slidenum">
              <a:rPr lang="en-US" smtClean="0"/>
              <a:t>‹#›</a:t>
            </a:fld>
            <a:endParaRPr lang="en-US"/>
          </a:p>
        </p:txBody>
      </p:sp>
    </p:spTree>
    <p:extLst>
      <p:ext uri="{BB962C8B-B14F-4D97-AF65-F5344CB8AC3E}">
        <p14:creationId xmlns:p14="http://schemas.microsoft.com/office/powerpoint/2010/main" val="3068688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6D95F-5D2A-14B5-0E72-72788297A143}"/>
              </a:ext>
            </a:extLst>
          </p:cNvPr>
          <p:cNvSpPr>
            <a:spLocks noGrp="1"/>
          </p:cNvSpPr>
          <p:nvPr>
            <p:ph type="ctrTitle"/>
          </p:nvPr>
        </p:nvSpPr>
        <p:spPr>
          <a:xfrm>
            <a:off x="971550" y="1965961"/>
            <a:ext cx="10561320" cy="1200149"/>
          </a:xfrm>
        </p:spPr>
        <p:txBody>
          <a:bodyPr/>
          <a:lstStyle/>
          <a:p>
            <a:r>
              <a:rPr lang="en-US" b="1" dirty="0"/>
              <a:t>SWDVC301:VERSION CONTROL</a:t>
            </a:r>
          </a:p>
        </p:txBody>
      </p:sp>
    </p:spTree>
    <p:extLst>
      <p:ext uri="{BB962C8B-B14F-4D97-AF65-F5344CB8AC3E}">
        <p14:creationId xmlns:p14="http://schemas.microsoft.com/office/powerpoint/2010/main" val="4142958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1AA37E-8692-DCFD-2EA8-0ACC702F9117}"/>
              </a:ext>
            </a:extLst>
          </p:cNvPr>
          <p:cNvSpPr>
            <a:spLocks noGrp="1"/>
          </p:cNvSpPr>
          <p:nvPr>
            <p:ph idx="1"/>
          </p:nvPr>
        </p:nvSpPr>
        <p:spPr>
          <a:xfrm>
            <a:off x="754380" y="182880"/>
            <a:ext cx="11064240" cy="6137910"/>
          </a:xfrm>
        </p:spPr>
        <p:txBody>
          <a:bodyPr>
            <a:normAutofit fontScale="47500" lnSpcReduction="20000"/>
          </a:bodyPr>
          <a:lstStyle/>
          <a:p>
            <a:pPr marL="0" indent="0">
              <a:lnSpc>
                <a:spcPct val="170000"/>
              </a:lnSpc>
              <a:buNone/>
            </a:pPr>
            <a:r>
              <a:rPr lang="en-US" sz="5900" b="1" dirty="0"/>
              <a:t>Steps to perform git configuration:</a:t>
            </a:r>
          </a:p>
          <a:p>
            <a:pPr marL="0" indent="0">
              <a:lnSpc>
                <a:spcPct val="170000"/>
              </a:lnSpc>
              <a:buNone/>
            </a:pPr>
            <a:r>
              <a:rPr lang="en-US" sz="5900" dirty="0"/>
              <a:t>The steps to perform Git </a:t>
            </a:r>
            <a:r>
              <a:rPr lang="en-US" sz="5900" b="1" dirty="0"/>
              <a:t>configuration: </a:t>
            </a:r>
            <a:endParaRPr lang="en-US" sz="5900" dirty="0"/>
          </a:p>
          <a:p>
            <a:pPr marL="0" indent="0">
              <a:lnSpc>
                <a:spcPct val="170000"/>
              </a:lnSpc>
              <a:buNone/>
            </a:pPr>
            <a:r>
              <a:rPr lang="en-US" sz="5900" b="1" dirty="0"/>
              <a:t>1. Verify that Git is installed </a:t>
            </a:r>
            <a:endParaRPr lang="en-US" sz="5900" dirty="0"/>
          </a:p>
          <a:p>
            <a:pPr marL="0" indent="0">
              <a:lnSpc>
                <a:spcPct val="170000"/>
              </a:lnSpc>
              <a:buNone/>
            </a:pPr>
            <a:r>
              <a:rPr lang="en-US" sz="5900" dirty="0"/>
              <a:t>After the installation is complete, Sarah opens a new terminal or command prompt to verify that Git is installed. She runs the following command: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b="1" dirty="0"/>
              <a:t> </a:t>
            </a:r>
            <a:r>
              <a:rPr lang="en-US" dirty="0"/>
              <a:t>	</a:t>
            </a:r>
          </a:p>
          <a:p>
            <a:pPr marL="0" indent="0">
              <a:buNone/>
            </a:pPr>
            <a:endParaRPr lang="en-US" dirty="0"/>
          </a:p>
        </p:txBody>
      </p:sp>
      <p:pic>
        <p:nvPicPr>
          <p:cNvPr id="5" name="Picture 4">
            <a:extLst>
              <a:ext uri="{FF2B5EF4-FFF2-40B4-BE49-F238E27FC236}">
                <a16:creationId xmlns:a16="http://schemas.microsoft.com/office/drawing/2014/main" id="{213CA04C-5A1F-F4E6-15BB-C35B87FC28F0}"/>
              </a:ext>
            </a:extLst>
          </p:cNvPr>
          <p:cNvPicPr>
            <a:picLocks noChangeAspect="1"/>
          </p:cNvPicPr>
          <p:nvPr/>
        </p:nvPicPr>
        <p:blipFill>
          <a:blip r:embed="rId2"/>
          <a:stretch>
            <a:fillRect/>
          </a:stretch>
        </p:blipFill>
        <p:spPr>
          <a:xfrm>
            <a:off x="754380" y="4293609"/>
            <a:ext cx="9071465" cy="1165286"/>
          </a:xfrm>
          <a:prstGeom prst="rect">
            <a:avLst/>
          </a:prstGeom>
        </p:spPr>
      </p:pic>
    </p:spTree>
    <p:extLst>
      <p:ext uri="{BB962C8B-B14F-4D97-AF65-F5344CB8AC3E}">
        <p14:creationId xmlns:p14="http://schemas.microsoft.com/office/powerpoint/2010/main" val="227199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CCE8D2-9195-28D7-8509-A2E16318692B}"/>
              </a:ext>
            </a:extLst>
          </p:cNvPr>
          <p:cNvSpPr>
            <a:spLocks noGrp="1"/>
          </p:cNvSpPr>
          <p:nvPr>
            <p:ph idx="1"/>
          </p:nvPr>
        </p:nvSpPr>
        <p:spPr>
          <a:xfrm>
            <a:off x="868680" y="674370"/>
            <a:ext cx="10789920" cy="5806440"/>
          </a:xfrm>
        </p:spPr>
        <p:txBody>
          <a:bodyPr/>
          <a:lstStyle/>
          <a:p>
            <a:pPr marL="0" indent="0">
              <a:lnSpc>
                <a:spcPct val="150000"/>
              </a:lnSpc>
              <a:buNone/>
            </a:pPr>
            <a:r>
              <a:rPr lang="en-US" b="1" dirty="0"/>
              <a:t>2. Set Your Name and Email: </a:t>
            </a:r>
            <a:endParaRPr lang="en-US" dirty="0"/>
          </a:p>
          <a:p>
            <a:pPr marL="0" indent="0">
              <a:lnSpc>
                <a:spcPct val="150000"/>
              </a:lnSpc>
              <a:buNone/>
            </a:pPr>
            <a:r>
              <a:rPr lang="en-US" dirty="0"/>
              <a:t>Use the git config command to set your name and email. This information will be associated with your commits. 	</a:t>
            </a:r>
          </a:p>
          <a:p>
            <a:pPr marL="0" indent="0">
              <a:lnSpc>
                <a:spcPct val="150000"/>
              </a:lnSpc>
              <a:buNone/>
            </a:pPr>
            <a:endParaRPr lang="en-US" dirty="0"/>
          </a:p>
          <a:p>
            <a:pPr marL="0" indent="0">
              <a:lnSpc>
                <a:spcPct val="150000"/>
              </a:lnSpc>
              <a:buNone/>
            </a:pPr>
            <a:endParaRPr lang="en-US" dirty="0"/>
          </a:p>
          <a:p>
            <a:pPr marL="0" indent="0">
              <a:lnSpc>
                <a:spcPct val="150000"/>
              </a:lnSpc>
              <a:buNone/>
            </a:pPr>
            <a:r>
              <a:rPr lang="en-US" dirty="0"/>
              <a:t>Replace "Your Name" with your actual name and "your.email@example.com" with your actual email address. 	</a:t>
            </a:r>
          </a:p>
          <a:p>
            <a:pPr marL="0" indent="0">
              <a:lnSpc>
                <a:spcPct val="150000"/>
              </a:lnSpc>
              <a:buNone/>
            </a:pPr>
            <a:endParaRPr lang="en-US" dirty="0"/>
          </a:p>
          <a:p>
            <a:pPr marL="0" indent="0">
              <a:lnSpc>
                <a:spcPct val="150000"/>
              </a:lnSpc>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ABD4EA33-672A-ADD5-C2B5-86B297D88788}"/>
              </a:ext>
            </a:extLst>
          </p:cNvPr>
          <p:cNvPicPr>
            <a:picLocks noChangeAspect="1"/>
          </p:cNvPicPr>
          <p:nvPr/>
        </p:nvPicPr>
        <p:blipFill>
          <a:blip r:embed="rId2"/>
          <a:stretch>
            <a:fillRect/>
          </a:stretch>
        </p:blipFill>
        <p:spPr>
          <a:xfrm>
            <a:off x="868680" y="2983230"/>
            <a:ext cx="10199370" cy="1417320"/>
          </a:xfrm>
          <a:prstGeom prst="rect">
            <a:avLst/>
          </a:prstGeom>
        </p:spPr>
      </p:pic>
    </p:spTree>
    <p:extLst>
      <p:ext uri="{BB962C8B-B14F-4D97-AF65-F5344CB8AC3E}">
        <p14:creationId xmlns:p14="http://schemas.microsoft.com/office/powerpoint/2010/main" val="3779405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F297E2-A791-A41E-42E1-83781DB09449}"/>
              </a:ext>
            </a:extLst>
          </p:cNvPr>
          <p:cNvSpPr>
            <a:spLocks noGrp="1"/>
          </p:cNvSpPr>
          <p:nvPr>
            <p:ph idx="1"/>
          </p:nvPr>
        </p:nvSpPr>
        <p:spPr>
          <a:xfrm>
            <a:off x="788670" y="571500"/>
            <a:ext cx="10565130" cy="5605463"/>
          </a:xfrm>
        </p:spPr>
        <p:txBody>
          <a:bodyPr>
            <a:normAutofit fontScale="92500" lnSpcReduction="20000"/>
          </a:bodyPr>
          <a:lstStyle/>
          <a:p>
            <a:pPr marL="0" indent="0">
              <a:lnSpc>
                <a:spcPct val="150000"/>
              </a:lnSpc>
              <a:buNone/>
            </a:pPr>
            <a:r>
              <a:rPr lang="en-US" sz="3000" b="1" dirty="0"/>
              <a:t>3. Configure Your Preferred Text Editor: </a:t>
            </a:r>
            <a:endParaRPr lang="en-US" sz="3000" dirty="0"/>
          </a:p>
          <a:p>
            <a:pPr marL="0" indent="0">
              <a:lnSpc>
                <a:spcPct val="150000"/>
              </a:lnSpc>
              <a:buNone/>
            </a:pPr>
            <a:r>
              <a:rPr lang="en-US" sz="3000" dirty="0"/>
              <a:t>Set your preferred text editor for Git commit messages. This is the editor that will open when you make a commit. </a:t>
            </a:r>
          </a:p>
          <a:p>
            <a:pPr marL="0" indent="0">
              <a:lnSpc>
                <a:spcPct val="150000"/>
              </a:lnSpc>
              <a:buNone/>
            </a:pPr>
            <a:r>
              <a:rPr lang="en-US" sz="3000" dirty="0"/>
              <a:t>For example, if you want to use Visual Studio Code: </a:t>
            </a:r>
          </a:p>
          <a:p>
            <a:pPr marL="0" indent="0">
              <a:lnSpc>
                <a:spcPct val="150000"/>
              </a:lnSpc>
              <a:buNone/>
            </a:pPr>
            <a:endParaRPr lang="en-US" dirty="0"/>
          </a:p>
          <a:p>
            <a:pPr marL="0" indent="0">
              <a:lnSpc>
                <a:spcPct val="150000"/>
              </a:lnSpc>
              <a:buNone/>
            </a:pPr>
            <a:endParaRPr lang="en-US" dirty="0"/>
          </a:p>
          <a:p>
            <a:pPr marL="0" indent="0">
              <a:lnSpc>
                <a:spcPct val="150000"/>
              </a:lnSpc>
              <a:buNone/>
            </a:pPr>
            <a:r>
              <a:rPr lang="en-US" dirty="0"/>
              <a:t>Replace "code" with the command for your preferred text editor. 	</a:t>
            </a:r>
          </a:p>
          <a:p>
            <a:pPr marL="0" indent="0">
              <a:lnSpc>
                <a:spcPct val="150000"/>
              </a:lnSpc>
              <a:buNone/>
            </a:pPr>
            <a:endParaRPr lang="en-US" dirty="0"/>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59FE5014-6365-CEC8-9AB6-660B17F1A5F6}"/>
              </a:ext>
            </a:extLst>
          </p:cNvPr>
          <p:cNvPicPr>
            <a:picLocks noChangeAspect="1"/>
          </p:cNvPicPr>
          <p:nvPr/>
        </p:nvPicPr>
        <p:blipFill>
          <a:blip r:embed="rId2"/>
          <a:stretch>
            <a:fillRect/>
          </a:stretch>
        </p:blipFill>
        <p:spPr>
          <a:xfrm>
            <a:off x="838200" y="3429000"/>
            <a:ext cx="9943318" cy="754392"/>
          </a:xfrm>
          <a:prstGeom prst="rect">
            <a:avLst/>
          </a:prstGeom>
        </p:spPr>
      </p:pic>
    </p:spTree>
    <p:extLst>
      <p:ext uri="{BB962C8B-B14F-4D97-AF65-F5344CB8AC3E}">
        <p14:creationId xmlns:p14="http://schemas.microsoft.com/office/powerpoint/2010/main" val="186093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EB8F90-48D9-93E2-47E3-9F0F84EC41F8}"/>
              </a:ext>
            </a:extLst>
          </p:cNvPr>
          <p:cNvSpPr>
            <a:spLocks noGrp="1"/>
          </p:cNvSpPr>
          <p:nvPr>
            <p:ph idx="1"/>
          </p:nvPr>
        </p:nvSpPr>
        <p:spPr>
          <a:xfrm>
            <a:off x="662940" y="594360"/>
            <a:ext cx="11121390" cy="6012180"/>
          </a:xfrm>
        </p:spPr>
        <p:txBody>
          <a:bodyPr>
            <a:normAutofit fontScale="25000" lnSpcReduction="20000"/>
          </a:bodyPr>
          <a:lstStyle/>
          <a:p>
            <a:pPr marL="0" indent="0">
              <a:buNone/>
            </a:pPr>
            <a:r>
              <a:rPr lang="en-US" sz="11200" b="1" dirty="0"/>
              <a:t>4. Check Your Configuration: </a:t>
            </a:r>
          </a:p>
          <a:p>
            <a:pPr marL="0" indent="0">
              <a:buNone/>
            </a:pPr>
            <a:endParaRPr lang="en-US" sz="11200" b="1" dirty="0"/>
          </a:p>
          <a:p>
            <a:pPr marL="0" indent="0">
              <a:buNone/>
            </a:pPr>
            <a:r>
              <a:rPr lang="en-US" sz="11200" dirty="0"/>
              <a:t>To view your Git configuration, use the following command: </a:t>
            </a:r>
          </a:p>
          <a:p>
            <a:pPr marL="0" indent="0">
              <a:buNone/>
            </a:pPr>
            <a:endParaRPr lang="en-US" sz="11200" dirty="0"/>
          </a:p>
          <a:p>
            <a:pPr marL="0" indent="0">
              <a:buNone/>
            </a:pPr>
            <a:endParaRPr lang="en-US" sz="11200" dirty="0"/>
          </a:p>
          <a:p>
            <a:pPr marL="0" indent="0">
              <a:lnSpc>
                <a:spcPct val="170000"/>
              </a:lnSpc>
              <a:buNone/>
            </a:pPr>
            <a:r>
              <a:rPr lang="en-US" sz="11200" b="1" dirty="0"/>
              <a:t>5. Configure Default Branch Name (Optional): </a:t>
            </a:r>
            <a:endParaRPr lang="en-US" sz="11200" dirty="0"/>
          </a:p>
          <a:p>
            <a:pPr marL="0" indent="0">
              <a:lnSpc>
                <a:spcPct val="170000"/>
              </a:lnSpc>
              <a:buNone/>
            </a:pPr>
            <a:r>
              <a:rPr lang="en-US" sz="11200" dirty="0"/>
              <a:t>If you want to use a branch name other than "master" or "main" as the default branch name for new repositories, you can configure it: </a:t>
            </a:r>
          </a:p>
          <a:p>
            <a:pPr marL="0" indent="0">
              <a:lnSpc>
                <a:spcPct val="170000"/>
              </a:lnSpc>
              <a:buNone/>
            </a:pPr>
            <a:endParaRPr lang="en-US" sz="11200" dirty="0"/>
          </a:p>
          <a:p>
            <a:pPr marL="0" indent="0">
              <a:lnSpc>
                <a:spcPct val="170000"/>
              </a:lnSpc>
              <a:buNone/>
            </a:pPr>
            <a:r>
              <a:rPr lang="en-US" sz="11200" dirty="0"/>
              <a:t>Replace "main" with your preferred default branch name. 	</a:t>
            </a:r>
          </a:p>
          <a:p>
            <a:pPr marL="0" indent="0">
              <a:lnSpc>
                <a:spcPct val="170000"/>
              </a:lnSpc>
              <a:buNone/>
            </a:pPr>
            <a:endParaRPr lang="en-US" sz="11200" dirty="0"/>
          </a:p>
          <a:p>
            <a:pPr marL="0" indent="0">
              <a:lnSpc>
                <a:spcPct val="170000"/>
              </a:lnSpc>
              <a:buNone/>
            </a:pPr>
            <a:r>
              <a:rPr lang="en-US" sz="11200" dirty="0"/>
              <a:t>	</a:t>
            </a:r>
          </a:p>
          <a:p>
            <a:pPr marL="0" indent="0">
              <a:buNone/>
            </a:pPr>
            <a:endParaRPr lang="en-US" sz="5100" dirty="0"/>
          </a:p>
          <a:p>
            <a:pPr marL="0" indent="0">
              <a:buNone/>
            </a:pPr>
            <a:endParaRPr lang="en-US" sz="5100"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983DE5DB-ED5C-2E3B-0DB1-C72843AD8937}"/>
              </a:ext>
            </a:extLst>
          </p:cNvPr>
          <p:cNvPicPr>
            <a:picLocks noChangeAspect="1"/>
          </p:cNvPicPr>
          <p:nvPr/>
        </p:nvPicPr>
        <p:blipFill>
          <a:blip r:embed="rId2"/>
          <a:stretch>
            <a:fillRect/>
          </a:stretch>
        </p:blipFill>
        <p:spPr>
          <a:xfrm>
            <a:off x="662940" y="1928486"/>
            <a:ext cx="10104272" cy="734704"/>
          </a:xfrm>
          <a:prstGeom prst="rect">
            <a:avLst/>
          </a:prstGeom>
        </p:spPr>
      </p:pic>
      <p:pic>
        <p:nvPicPr>
          <p:cNvPr id="7" name="Picture 6">
            <a:extLst>
              <a:ext uri="{FF2B5EF4-FFF2-40B4-BE49-F238E27FC236}">
                <a16:creationId xmlns:a16="http://schemas.microsoft.com/office/drawing/2014/main" id="{C72FB618-5FD3-34FE-F9BC-A8FD25E039FC}"/>
              </a:ext>
            </a:extLst>
          </p:cNvPr>
          <p:cNvPicPr>
            <a:picLocks noChangeAspect="1"/>
          </p:cNvPicPr>
          <p:nvPr/>
        </p:nvPicPr>
        <p:blipFill>
          <a:blip r:embed="rId3"/>
          <a:stretch>
            <a:fillRect/>
          </a:stretch>
        </p:blipFill>
        <p:spPr>
          <a:xfrm>
            <a:off x="768488" y="5106026"/>
            <a:ext cx="10760572" cy="551824"/>
          </a:xfrm>
          <a:prstGeom prst="rect">
            <a:avLst/>
          </a:prstGeom>
        </p:spPr>
      </p:pic>
    </p:spTree>
    <p:extLst>
      <p:ext uri="{BB962C8B-B14F-4D97-AF65-F5344CB8AC3E}">
        <p14:creationId xmlns:p14="http://schemas.microsoft.com/office/powerpoint/2010/main" val="3639855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1C5FB3-CA2E-EB68-CDBB-D7AE9A43D79C}"/>
              </a:ext>
            </a:extLst>
          </p:cNvPr>
          <p:cNvSpPr>
            <a:spLocks noGrp="1"/>
          </p:cNvSpPr>
          <p:nvPr>
            <p:ph idx="1"/>
          </p:nvPr>
        </p:nvSpPr>
        <p:spPr>
          <a:xfrm>
            <a:off x="697230" y="548640"/>
            <a:ext cx="10801350" cy="5703570"/>
          </a:xfrm>
        </p:spPr>
        <p:txBody>
          <a:bodyPr/>
          <a:lstStyle/>
          <a:p>
            <a:pPr marL="0" indent="0">
              <a:lnSpc>
                <a:spcPct val="150000"/>
              </a:lnSpc>
              <a:buNone/>
            </a:pPr>
            <a:r>
              <a:rPr lang="en-US" b="1" dirty="0"/>
              <a:t>6. Set Up a Global .</a:t>
            </a:r>
            <a:r>
              <a:rPr lang="en-US" b="1" dirty="0" err="1"/>
              <a:t>gitignore</a:t>
            </a:r>
            <a:r>
              <a:rPr lang="en-US" b="1" dirty="0"/>
              <a:t> (Optional): </a:t>
            </a:r>
            <a:endParaRPr lang="en-US" dirty="0"/>
          </a:p>
          <a:p>
            <a:pPr marL="0" indent="0">
              <a:lnSpc>
                <a:spcPct val="150000"/>
              </a:lnSpc>
              <a:buNone/>
            </a:pPr>
            <a:r>
              <a:rPr lang="en-US" b="1" dirty="0"/>
              <a:t>If you want to use a global </a:t>
            </a:r>
            <a:r>
              <a:rPr lang="en-US" dirty="0"/>
              <a:t>.</a:t>
            </a:r>
            <a:r>
              <a:rPr lang="en-US" dirty="0" err="1"/>
              <a:t>gitignore</a:t>
            </a:r>
            <a:r>
              <a:rPr lang="en-US" dirty="0"/>
              <a:t> </a:t>
            </a:r>
            <a:r>
              <a:rPr lang="en-US" b="1" dirty="0"/>
              <a:t>file across multiple repositories, you can create a global </a:t>
            </a:r>
            <a:r>
              <a:rPr lang="en-US" dirty="0"/>
              <a:t>.</a:t>
            </a:r>
            <a:r>
              <a:rPr lang="en-US" dirty="0" err="1"/>
              <a:t>gitignore</a:t>
            </a:r>
            <a:r>
              <a:rPr lang="en-US" dirty="0"/>
              <a:t> </a:t>
            </a:r>
            <a:r>
              <a:rPr lang="en-US" b="1" dirty="0"/>
              <a:t>file and tell Git to use it: </a:t>
            </a:r>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91A184C1-9388-EF9E-CF86-B5D796A6D449}"/>
              </a:ext>
            </a:extLst>
          </p:cNvPr>
          <p:cNvPicPr>
            <a:picLocks noChangeAspect="1"/>
          </p:cNvPicPr>
          <p:nvPr/>
        </p:nvPicPr>
        <p:blipFill>
          <a:blip r:embed="rId2"/>
          <a:stretch>
            <a:fillRect/>
          </a:stretch>
        </p:blipFill>
        <p:spPr>
          <a:xfrm>
            <a:off x="693420" y="3010486"/>
            <a:ext cx="10668000" cy="3426966"/>
          </a:xfrm>
          <a:prstGeom prst="rect">
            <a:avLst/>
          </a:prstGeom>
        </p:spPr>
      </p:pic>
    </p:spTree>
    <p:extLst>
      <p:ext uri="{BB962C8B-B14F-4D97-AF65-F5344CB8AC3E}">
        <p14:creationId xmlns:p14="http://schemas.microsoft.com/office/powerpoint/2010/main" val="396486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272C36-D830-F69E-75A9-78976E6A026B}"/>
              </a:ext>
            </a:extLst>
          </p:cNvPr>
          <p:cNvSpPr>
            <a:spLocks noGrp="1"/>
          </p:cNvSpPr>
          <p:nvPr>
            <p:ph idx="1"/>
          </p:nvPr>
        </p:nvSpPr>
        <p:spPr>
          <a:xfrm>
            <a:off x="788670" y="777240"/>
            <a:ext cx="10565130" cy="5399723"/>
          </a:xfrm>
        </p:spPr>
        <p:txBody>
          <a:bodyPr/>
          <a:lstStyle/>
          <a:p>
            <a:pPr marL="0" indent="0">
              <a:lnSpc>
                <a:spcPct val="150000"/>
              </a:lnSpc>
              <a:buNone/>
            </a:pPr>
            <a:r>
              <a:rPr lang="en-US" b="1" dirty="0"/>
              <a:t>7. Verify the installation: </a:t>
            </a:r>
            <a:endParaRPr lang="en-US" dirty="0"/>
          </a:p>
          <a:p>
            <a:pPr marL="0" indent="0">
              <a:lnSpc>
                <a:spcPct val="150000"/>
              </a:lnSpc>
              <a:buNone/>
            </a:pPr>
            <a:r>
              <a:rPr lang="en-US" b="1" dirty="0"/>
              <a:t>Check Which Version of Git You’re Using </a:t>
            </a:r>
            <a:endParaRPr lang="en-US" dirty="0"/>
          </a:p>
          <a:p>
            <a:pPr marL="0" indent="0">
              <a:lnSpc>
                <a:spcPct val="150000"/>
              </a:lnSpc>
              <a:buNone/>
            </a:pPr>
            <a:r>
              <a:rPr lang="en-US" dirty="0"/>
              <a:t>The command to check which version of Git you’re using is the same on both Windows and Mac. To check your Git version, open Command Prompt (Windows), Terminal (Mac), or the Linux terminal. Once open, run this command: 	</a:t>
            </a:r>
          </a:p>
          <a:p>
            <a:pPr marL="0" indent="0">
              <a:buNone/>
            </a:pPr>
            <a:endParaRPr lang="en-US" dirty="0"/>
          </a:p>
        </p:txBody>
      </p:sp>
    </p:spTree>
    <p:extLst>
      <p:ext uri="{BB962C8B-B14F-4D97-AF65-F5344CB8AC3E}">
        <p14:creationId xmlns:p14="http://schemas.microsoft.com/office/powerpoint/2010/main" val="1900498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B96AF-42CB-839A-8420-04577DFBFDFF}"/>
              </a:ext>
            </a:extLst>
          </p:cNvPr>
          <p:cNvSpPr>
            <a:spLocks noGrp="1"/>
          </p:cNvSpPr>
          <p:nvPr>
            <p:ph idx="1"/>
          </p:nvPr>
        </p:nvSpPr>
        <p:spPr>
          <a:xfrm>
            <a:off x="720090" y="525780"/>
            <a:ext cx="10633710" cy="5651183"/>
          </a:xfrm>
        </p:spPr>
        <p:txBody>
          <a:bodyPr/>
          <a:lstStyle/>
          <a:p>
            <a:pPr marL="0" indent="0">
              <a:buNone/>
            </a:pPr>
            <a:r>
              <a:rPr lang="en-US" b="1" dirty="0"/>
              <a:t>git --version </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dirty="0"/>
              <a:t>The Git version you’re currently using will be returned. 	</a:t>
            </a:r>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B47DB414-CAEC-ED6A-EFC6-CBD182862910}"/>
              </a:ext>
            </a:extLst>
          </p:cNvPr>
          <p:cNvPicPr>
            <a:picLocks noChangeAspect="1"/>
          </p:cNvPicPr>
          <p:nvPr/>
        </p:nvPicPr>
        <p:blipFill>
          <a:blip r:embed="rId2"/>
          <a:stretch>
            <a:fillRect/>
          </a:stretch>
        </p:blipFill>
        <p:spPr>
          <a:xfrm>
            <a:off x="838200" y="1154390"/>
            <a:ext cx="8755380" cy="2964918"/>
          </a:xfrm>
          <a:prstGeom prst="rect">
            <a:avLst/>
          </a:prstGeom>
        </p:spPr>
      </p:pic>
    </p:spTree>
    <p:extLst>
      <p:ext uri="{BB962C8B-B14F-4D97-AF65-F5344CB8AC3E}">
        <p14:creationId xmlns:p14="http://schemas.microsoft.com/office/powerpoint/2010/main" val="310003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364DF2D4-4C4A-6E86-F160-AF822329900A}"/>
              </a:ext>
            </a:extLst>
          </p:cNvPr>
          <p:cNvSpPr>
            <a:spLocks noGrp="1"/>
          </p:cNvSpPr>
          <p:nvPr>
            <p:ph idx="1"/>
          </p:nvPr>
        </p:nvSpPr>
        <p:spPr>
          <a:xfrm>
            <a:off x="838200" y="640080"/>
            <a:ext cx="10740390" cy="5536883"/>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nSpc>
                <a:spcPct val="150000"/>
              </a:lnSpc>
              <a:buNone/>
            </a:pPr>
            <a:endParaRPr lang="en-US" dirty="0"/>
          </a:p>
          <a:p>
            <a:pPr marL="0" indent="0">
              <a:lnSpc>
                <a:spcPct val="150000"/>
              </a:lnSpc>
              <a:buNone/>
            </a:pPr>
            <a:r>
              <a:rPr lang="en-US" dirty="0"/>
              <a:t>Now that you know which version of Git you’re using, you can decide if you want to update it or not. 	</a:t>
            </a:r>
          </a:p>
          <a:p>
            <a:pPr marL="0" indent="0">
              <a:buNone/>
            </a:pPr>
            <a:endParaRPr lang="en-US" dirty="0"/>
          </a:p>
        </p:txBody>
      </p:sp>
      <p:pic>
        <p:nvPicPr>
          <p:cNvPr id="13" name="Picture 12">
            <a:extLst>
              <a:ext uri="{FF2B5EF4-FFF2-40B4-BE49-F238E27FC236}">
                <a16:creationId xmlns:a16="http://schemas.microsoft.com/office/drawing/2014/main" id="{64796EF7-C494-FE3A-70F6-E610693B2900}"/>
              </a:ext>
            </a:extLst>
          </p:cNvPr>
          <p:cNvPicPr>
            <a:picLocks noChangeAspect="1"/>
          </p:cNvPicPr>
          <p:nvPr/>
        </p:nvPicPr>
        <p:blipFill>
          <a:blip r:embed="rId2"/>
          <a:stretch>
            <a:fillRect/>
          </a:stretch>
        </p:blipFill>
        <p:spPr>
          <a:xfrm>
            <a:off x="992438" y="1188720"/>
            <a:ext cx="7427770" cy="2802295"/>
          </a:xfrm>
          <a:prstGeom prst="rect">
            <a:avLst/>
          </a:prstGeom>
        </p:spPr>
      </p:pic>
    </p:spTree>
    <p:extLst>
      <p:ext uri="{BB962C8B-B14F-4D97-AF65-F5344CB8AC3E}">
        <p14:creationId xmlns:p14="http://schemas.microsoft.com/office/powerpoint/2010/main" val="3918772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C58DF3A-64AF-B6C7-CA52-37A4A63201E7}"/>
              </a:ext>
            </a:extLst>
          </p:cNvPr>
          <p:cNvSpPr>
            <a:spLocks noGrp="1"/>
          </p:cNvSpPr>
          <p:nvPr>
            <p:ph idx="1"/>
          </p:nvPr>
        </p:nvSpPr>
        <p:spPr>
          <a:xfrm>
            <a:off x="605790" y="457200"/>
            <a:ext cx="11189970" cy="6057900"/>
          </a:xfrm>
        </p:spPr>
        <p:txBody>
          <a:bodyPr/>
          <a:lstStyle/>
          <a:p>
            <a:pPr marL="0" indent="0">
              <a:lnSpc>
                <a:spcPct val="150000"/>
              </a:lnSpc>
              <a:buNone/>
            </a:pPr>
            <a:r>
              <a:rPr lang="en-US" b="1" dirty="0"/>
              <a:t>How to Update Git on Windows </a:t>
            </a:r>
            <a:endParaRPr lang="en-US" dirty="0"/>
          </a:p>
          <a:p>
            <a:pPr marL="0" indent="0">
              <a:lnSpc>
                <a:spcPct val="150000"/>
              </a:lnSpc>
              <a:buNone/>
            </a:pPr>
            <a:r>
              <a:rPr lang="en-US" dirty="0"/>
              <a:t>The command you use to update Git on Windows depends on which version of Git you’re currently using. If you’re using any version from 2.14.2 to 2.16.1, then run this command in Command Prompt: </a:t>
            </a:r>
          </a:p>
          <a:p>
            <a:pPr marL="0" indent="0">
              <a:lnSpc>
                <a:spcPct val="150000"/>
              </a:lnSpc>
              <a:buNone/>
            </a:pPr>
            <a:r>
              <a:rPr lang="en-US" b="1" dirty="0"/>
              <a:t>git update </a:t>
            </a:r>
            <a:endParaRPr lang="en-US" dirty="0"/>
          </a:p>
          <a:p>
            <a:pPr marL="0" indent="0">
              <a:lnSpc>
                <a:spcPct val="150000"/>
              </a:lnSpc>
              <a:buNone/>
            </a:pPr>
            <a:r>
              <a:rPr lang="en-US" dirty="0"/>
              <a:t>If you’re using any version after 2.16.1, then you’ll need to run this command instead: 	</a:t>
            </a:r>
          </a:p>
          <a:p>
            <a:pPr marL="0" indent="0">
              <a:buNone/>
            </a:pPr>
            <a:endParaRPr lang="en-US" dirty="0"/>
          </a:p>
        </p:txBody>
      </p:sp>
    </p:spTree>
    <p:extLst>
      <p:ext uri="{BB962C8B-B14F-4D97-AF65-F5344CB8AC3E}">
        <p14:creationId xmlns:p14="http://schemas.microsoft.com/office/powerpoint/2010/main" val="1083694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2AC8A6-DB2F-7B9C-696F-DFED6C1C0FA8}"/>
              </a:ext>
            </a:extLst>
          </p:cNvPr>
          <p:cNvSpPr>
            <a:spLocks noGrp="1"/>
          </p:cNvSpPr>
          <p:nvPr>
            <p:ph idx="1"/>
          </p:nvPr>
        </p:nvSpPr>
        <p:spPr>
          <a:xfrm>
            <a:off x="733318" y="411479"/>
            <a:ext cx="10993861" cy="6183631"/>
          </a:xfrm>
        </p:spPr>
        <p:txBody>
          <a:bodyPr/>
          <a:lstStyle/>
          <a:p>
            <a:pPr>
              <a:lnSpc>
                <a:spcPct val="150000"/>
              </a:lnSpc>
            </a:pPr>
            <a:r>
              <a:rPr lang="en-US" b="1" dirty="0"/>
              <a:t>git update-git-for-windows </a:t>
            </a:r>
            <a:endParaRPr lang="en-US" dirty="0"/>
          </a:p>
          <a:p>
            <a:pPr marL="0" indent="0">
              <a:lnSpc>
                <a:spcPct val="150000"/>
              </a:lnSpc>
              <a:buNone/>
            </a:pPr>
            <a:r>
              <a:rPr lang="en-US" dirty="0"/>
              <a:t>Regardless of which command you need to use, your Git version will update or you’ll get a message saying you’re up to date if you’re already using the latest version. 	</a:t>
            </a:r>
          </a:p>
          <a:p>
            <a:pPr marL="0" indent="0">
              <a:buNone/>
            </a:pPr>
            <a:endParaRPr lang="en-US" dirty="0"/>
          </a:p>
        </p:txBody>
      </p:sp>
      <p:pic>
        <p:nvPicPr>
          <p:cNvPr id="5" name="Picture 4">
            <a:extLst>
              <a:ext uri="{FF2B5EF4-FFF2-40B4-BE49-F238E27FC236}">
                <a16:creationId xmlns:a16="http://schemas.microsoft.com/office/drawing/2014/main" id="{0956E2F8-61B8-9F1E-96E0-D54AAF536247}"/>
              </a:ext>
            </a:extLst>
          </p:cNvPr>
          <p:cNvPicPr>
            <a:picLocks noChangeAspect="1"/>
          </p:cNvPicPr>
          <p:nvPr/>
        </p:nvPicPr>
        <p:blipFill>
          <a:blip r:embed="rId2"/>
          <a:stretch>
            <a:fillRect/>
          </a:stretch>
        </p:blipFill>
        <p:spPr>
          <a:xfrm>
            <a:off x="733317" y="3429000"/>
            <a:ext cx="9153313" cy="2526030"/>
          </a:xfrm>
          <a:prstGeom prst="rect">
            <a:avLst/>
          </a:prstGeom>
        </p:spPr>
      </p:pic>
    </p:spTree>
    <p:extLst>
      <p:ext uri="{BB962C8B-B14F-4D97-AF65-F5344CB8AC3E}">
        <p14:creationId xmlns:p14="http://schemas.microsoft.com/office/powerpoint/2010/main" val="419869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A98A1C-A514-8028-6A22-64F887E78175}"/>
              </a:ext>
            </a:extLst>
          </p:cNvPr>
          <p:cNvSpPr>
            <a:spLocks noGrp="1"/>
          </p:cNvSpPr>
          <p:nvPr>
            <p:ph idx="1"/>
          </p:nvPr>
        </p:nvSpPr>
        <p:spPr>
          <a:xfrm>
            <a:off x="742950" y="514350"/>
            <a:ext cx="11052810" cy="6012180"/>
          </a:xfrm>
        </p:spPr>
        <p:txBody>
          <a:bodyPr/>
          <a:lstStyle/>
          <a:p>
            <a:pPr marL="0" indent="0">
              <a:lnSpc>
                <a:spcPct val="150000"/>
              </a:lnSpc>
              <a:buNone/>
            </a:pPr>
            <a:r>
              <a:rPr lang="en-US" b="1" dirty="0"/>
              <a:t>Apply Git configuration </a:t>
            </a:r>
            <a:endParaRPr lang="en-US" dirty="0"/>
          </a:p>
          <a:p>
            <a:pPr marL="0" indent="0">
              <a:lnSpc>
                <a:spcPct val="150000"/>
              </a:lnSpc>
              <a:buNone/>
            </a:pPr>
            <a:r>
              <a:rPr lang="en-US" dirty="0"/>
              <a:t>The git config command is used to set or get configuration variables in Git. These variables can control various aspects of Git's behavior, such as user information, default behavior, and repository settings. 	</a:t>
            </a:r>
          </a:p>
          <a:p>
            <a:pPr marL="0" indent="0">
              <a:lnSpc>
                <a:spcPct val="150000"/>
              </a:lnSpc>
              <a:buNone/>
            </a:pPr>
            <a:r>
              <a:rPr lang="en-US" dirty="0"/>
              <a:t>Some practical Git configurations with examples: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4072160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B870D1-79FC-5A56-F5B9-137BD51DF19B}"/>
              </a:ext>
            </a:extLst>
          </p:cNvPr>
          <p:cNvSpPr>
            <a:spLocks noGrp="1"/>
          </p:cNvSpPr>
          <p:nvPr>
            <p:ph idx="1"/>
          </p:nvPr>
        </p:nvSpPr>
        <p:spPr>
          <a:xfrm>
            <a:off x="632460" y="240030"/>
            <a:ext cx="11311890" cy="6400800"/>
          </a:xfrm>
        </p:spPr>
        <p:txBody>
          <a:bodyPr>
            <a:normAutofit lnSpcReduction="10000"/>
          </a:bodyPr>
          <a:lstStyle/>
          <a:p>
            <a:pPr marL="0" indent="0">
              <a:lnSpc>
                <a:spcPct val="150000"/>
              </a:lnSpc>
              <a:buNone/>
            </a:pPr>
            <a:r>
              <a:rPr lang="en-US" b="1" dirty="0"/>
              <a:t>1. Set your name and email: </a:t>
            </a:r>
            <a:endParaRPr lang="en-US" dirty="0"/>
          </a:p>
          <a:p>
            <a:pPr marL="0" indent="0">
              <a:lnSpc>
                <a:spcPct val="150000"/>
              </a:lnSpc>
              <a:buNone/>
            </a:pPr>
            <a:r>
              <a:rPr lang="en-US" dirty="0"/>
              <a:t>git config --global user. name "Your Name." </a:t>
            </a:r>
          </a:p>
          <a:p>
            <a:pPr marL="0" indent="0">
              <a:lnSpc>
                <a:spcPct val="150000"/>
              </a:lnSpc>
              <a:buNone/>
            </a:pPr>
            <a:r>
              <a:rPr lang="en-US" dirty="0"/>
              <a:t>git config --global </a:t>
            </a:r>
            <a:r>
              <a:rPr lang="en-US" dirty="0" err="1"/>
              <a:t>user.email</a:t>
            </a:r>
            <a:r>
              <a:rPr lang="en-US" dirty="0"/>
              <a:t> "your@email.com" </a:t>
            </a:r>
          </a:p>
          <a:p>
            <a:pPr marL="0" indent="0">
              <a:lnSpc>
                <a:spcPct val="150000"/>
              </a:lnSpc>
              <a:buNone/>
            </a:pPr>
            <a:r>
              <a:rPr lang="en-US" dirty="0"/>
              <a:t>This configuration sets your name and email globally, which will be used for all your Git commits. 	</a:t>
            </a:r>
          </a:p>
          <a:p>
            <a:pPr marL="0" indent="0">
              <a:lnSpc>
                <a:spcPct val="150000"/>
              </a:lnSpc>
              <a:buNone/>
            </a:pPr>
            <a:r>
              <a:rPr lang="en-US" b="1" dirty="0"/>
              <a:t>2. Configure your preferred text editor: </a:t>
            </a:r>
            <a:endParaRPr lang="en-US" dirty="0"/>
          </a:p>
          <a:p>
            <a:pPr marL="0" indent="0">
              <a:lnSpc>
                <a:spcPct val="150000"/>
              </a:lnSpc>
              <a:buNone/>
            </a:pPr>
            <a:r>
              <a:rPr lang="en-US" dirty="0"/>
              <a:t>git config --global </a:t>
            </a:r>
            <a:r>
              <a:rPr lang="en-US" dirty="0" err="1"/>
              <a:t>core.editor</a:t>
            </a:r>
            <a:r>
              <a:rPr lang="en-US" dirty="0"/>
              <a:t> "vim" </a:t>
            </a:r>
          </a:p>
          <a:p>
            <a:pPr marL="0" indent="0">
              <a:lnSpc>
                <a:spcPct val="150000"/>
              </a:lnSpc>
              <a:buNone/>
            </a:pPr>
            <a:r>
              <a:rPr lang="en-US" dirty="0"/>
              <a:t>This configuration sets Vim as the default text editor for Git. You can replace "vim" with the name of your preferred editor. 	</a:t>
            </a:r>
          </a:p>
          <a:p>
            <a:pPr marL="0" indent="0">
              <a:buNone/>
            </a:pPr>
            <a:endParaRPr lang="en-US" dirty="0"/>
          </a:p>
        </p:txBody>
      </p:sp>
    </p:spTree>
    <p:extLst>
      <p:ext uri="{BB962C8B-B14F-4D97-AF65-F5344CB8AC3E}">
        <p14:creationId xmlns:p14="http://schemas.microsoft.com/office/powerpoint/2010/main" val="1946764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AD2426-4D0C-D6B1-74A5-078CD48029A4}"/>
              </a:ext>
            </a:extLst>
          </p:cNvPr>
          <p:cNvSpPr>
            <a:spLocks noGrp="1"/>
          </p:cNvSpPr>
          <p:nvPr>
            <p:ph idx="1"/>
          </p:nvPr>
        </p:nvSpPr>
        <p:spPr>
          <a:xfrm>
            <a:off x="571500" y="388620"/>
            <a:ext cx="11281410" cy="6103620"/>
          </a:xfrm>
        </p:spPr>
        <p:txBody>
          <a:bodyPr/>
          <a:lstStyle/>
          <a:p>
            <a:pPr marL="0" indent="0">
              <a:lnSpc>
                <a:spcPct val="150000"/>
              </a:lnSpc>
              <a:buNone/>
            </a:pPr>
            <a:r>
              <a:rPr lang="en-US" b="1" dirty="0"/>
              <a:t>3. Set default branch name: </a:t>
            </a:r>
            <a:endParaRPr lang="en-US" dirty="0"/>
          </a:p>
          <a:p>
            <a:pPr marL="0" indent="0">
              <a:lnSpc>
                <a:spcPct val="150000"/>
              </a:lnSpc>
              <a:buNone/>
            </a:pPr>
            <a:r>
              <a:rPr lang="en-US" dirty="0"/>
              <a:t>git config --global </a:t>
            </a:r>
            <a:r>
              <a:rPr lang="en-US" dirty="0" err="1"/>
              <a:t>init.defaultBranch</a:t>
            </a:r>
            <a:r>
              <a:rPr lang="en-US" dirty="0"/>
              <a:t> "main" </a:t>
            </a:r>
          </a:p>
          <a:p>
            <a:pPr marL="0" indent="0">
              <a:lnSpc>
                <a:spcPct val="150000"/>
              </a:lnSpc>
              <a:buNone/>
            </a:pPr>
            <a:r>
              <a:rPr lang="en-US" dirty="0"/>
              <a:t>This configuration sets the default branch name to "main" when creating a new repository. 	</a:t>
            </a:r>
          </a:p>
          <a:p>
            <a:pPr marL="0" indent="0">
              <a:lnSpc>
                <a:spcPct val="150000"/>
              </a:lnSpc>
              <a:buNone/>
            </a:pPr>
            <a:r>
              <a:rPr lang="en-US" b="1" dirty="0"/>
              <a:t>4. Enable colored output: </a:t>
            </a:r>
            <a:endParaRPr lang="en-US" dirty="0"/>
          </a:p>
          <a:p>
            <a:pPr marL="0" indent="0">
              <a:lnSpc>
                <a:spcPct val="150000"/>
              </a:lnSpc>
              <a:buNone/>
            </a:pPr>
            <a:r>
              <a:rPr lang="en-US" dirty="0"/>
              <a:t>git config --global </a:t>
            </a:r>
            <a:r>
              <a:rPr lang="en-US" dirty="0" err="1"/>
              <a:t>color.ui</a:t>
            </a:r>
            <a:r>
              <a:rPr lang="en-US" dirty="0"/>
              <a:t> true </a:t>
            </a:r>
          </a:p>
          <a:p>
            <a:pPr marL="0" indent="0">
              <a:lnSpc>
                <a:spcPct val="150000"/>
              </a:lnSpc>
              <a:buNone/>
            </a:pPr>
            <a:r>
              <a:rPr lang="en-US" dirty="0"/>
              <a:t>This configuration enables colored output in Git's command-line interface, making it easier to read and interpret.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3306792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F919B1-CBFE-FB1D-FE10-695DA0576658}"/>
              </a:ext>
            </a:extLst>
          </p:cNvPr>
          <p:cNvSpPr>
            <a:spLocks noGrp="1"/>
          </p:cNvSpPr>
          <p:nvPr>
            <p:ph idx="1"/>
          </p:nvPr>
        </p:nvSpPr>
        <p:spPr>
          <a:xfrm>
            <a:off x="697230" y="480060"/>
            <a:ext cx="11144250" cy="5977889"/>
          </a:xfrm>
        </p:spPr>
        <p:txBody>
          <a:bodyPr/>
          <a:lstStyle/>
          <a:p>
            <a:pPr marL="0" indent="0">
              <a:lnSpc>
                <a:spcPct val="150000"/>
              </a:lnSpc>
              <a:buNone/>
            </a:pPr>
            <a:r>
              <a:rPr lang="en-US" dirty="0"/>
              <a:t>Syntax to create a git repo using the git </a:t>
            </a:r>
            <a:r>
              <a:rPr lang="en-US" dirty="0" err="1"/>
              <a:t>init</a:t>
            </a:r>
            <a:r>
              <a:rPr lang="en-US" dirty="0"/>
              <a:t> command: </a:t>
            </a:r>
          </a:p>
          <a:p>
            <a:pPr marL="0" indent="0">
              <a:lnSpc>
                <a:spcPct val="150000"/>
              </a:lnSpc>
              <a:buNone/>
            </a:pPr>
            <a:r>
              <a:rPr lang="en-US" b="1" dirty="0"/>
              <a:t>git </a:t>
            </a:r>
            <a:r>
              <a:rPr lang="en-US" b="1" dirty="0" err="1"/>
              <a:t>init</a:t>
            </a:r>
            <a:r>
              <a:rPr lang="en-US" b="1" dirty="0"/>
              <a:t> </a:t>
            </a:r>
          </a:p>
          <a:p>
            <a:pPr marL="0" indent="0">
              <a:lnSpc>
                <a:spcPct val="150000"/>
              </a:lnSpc>
              <a:buNone/>
            </a:pPr>
            <a:r>
              <a:rPr lang="en-US" dirty="0"/>
              <a:t>This command will initialize a new Git repository in the current working directory. So, before you run the command, make sure you are in the directory in which you want to initialize a repository. 	</a:t>
            </a:r>
          </a:p>
          <a:p>
            <a:pPr marL="0" indent="0">
              <a:lnSpc>
                <a:spcPct val="150000"/>
              </a:lnSpc>
              <a:buNone/>
            </a:pPr>
            <a:r>
              <a:rPr lang="en-US" dirty="0"/>
              <a:t>Alternatively, you can specify the directory in which the new repository should be initialized. The syntax for doing so is as follows: 	</a:t>
            </a:r>
          </a:p>
          <a:p>
            <a:pPr marL="0" indent="0">
              <a:buNone/>
            </a:pPr>
            <a:endParaRPr lang="en-US" dirty="0"/>
          </a:p>
        </p:txBody>
      </p:sp>
    </p:spTree>
    <p:extLst>
      <p:ext uri="{BB962C8B-B14F-4D97-AF65-F5344CB8AC3E}">
        <p14:creationId xmlns:p14="http://schemas.microsoft.com/office/powerpoint/2010/main" val="752572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E7DF45-518C-054F-6128-D98261AC1509}"/>
              </a:ext>
            </a:extLst>
          </p:cNvPr>
          <p:cNvSpPr>
            <a:spLocks noGrp="1"/>
          </p:cNvSpPr>
          <p:nvPr>
            <p:ph idx="1"/>
          </p:nvPr>
        </p:nvSpPr>
        <p:spPr>
          <a:xfrm>
            <a:off x="662940" y="434340"/>
            <a:ext cx="11087100" cy="5875020"/>
          </a:xfrm>
        </p:spPr>
        <p:txBody>
          <a:bodyPr/>
          <a:lstStyle/>
          <a:p>
            <a:pPr marL="0" indent="0">
              <a:lnSpc>
                <a:spcPct val="150000"/>
              </a:lnSpc>
              <a:buNone/>
            </a:pPr>
            <a:r>
              <a:rPr lang="en-US" dirty="0"/>
              <a:t>git </a:t>
            </a:r>
            <a:r>
              <a:rPr lang="en-US" b="1" dirty="0" err="1"/>
              <a:t>init</a:t>
            </a:r>
            <a:r>
              <a:rPr lang="en-US" b="1" dirty="0"/>
              <a:t> </a:t>
            </a:r>
            <a:r>
              <a:rPr lang="en-US" dirty="0"/>
              <a:t>&lt;folder&gt; </a:t>
            </a:r>
          </a:p>
          <a:p>
            <a:pPr marL="0" indent="0">
              <a:lnSpc>
                <a:spcPct val="150000"/>
              </a:lnSpc>
              <a:buNone/>
            </a:pPr>
            <a:r>
              <a:rPr lang="en-US" dirty="0"/>
              <a:t>Suppose we wanted to initialize a repository in a folder called demo-project. We could do so using this code: </a:t>
            </a:r>
          </a:p>
          <a:p>
            <a:pPr marL="0" indent="0">
              <a:lnSpc>
                <a:spcPct val="150000"/>
              </a:lnSpc>
              <a:buNone/>
            </a:pPr>
            <a:r>
              <a:rPr lang="en-US" dirty="0"/>
              <a:t>git </a:t>
            </a:r>
            <a:r>
              <a:rPr lang="en-US" b="1" dirty="0" err="1"/>
              <a:t>init</a:t>
            </a:r>
            <a:r>
              <a:rPr lang="en-US" b="1" dirty="0"/>
              <a:t> </a:t>
            </a:r>
            <a:r>
              <a:rPr lang="en-US" dirty="0"/>
              <a:t>demo-project </a:t>
            </a:r>
          </a:p>
          <a:p>
            <a:pPr marL="0" indent="0">
              <a:lnSpc>
                <a:spcPct val="150000"/>
              </a:lnSpc>
              <a:buNone/>
            </a:pPr>
            <a:r>
              <a:rPr lang="en-US" dirty="0"/>
              <a:t>When we run this command, a .git folder is created within our </a:t>
            </a:r>
            <a:r>
              <a:rPr lang="en-US" i="1" dirty="0"/>
              <a:t>demo-project </a:t>
            </a:r>
            <a:r>
              <a:rPr lang="en-US" dirty="0"/>
              <a:t>folder, instead of in our current working directory. 	</a:t>
            </a:r>
          </a:p>
          <a:p>
            <a:pPr marL="0" indent="0">
              <a:buNone/>
            </a:pPr>
            <a:endParaRPr lang="en-US" dirty="0"/>
          </a:p>
        </p:txBody>
      </p:sp>
    </p:spTree>
    <p:extLst>
      <p:ext uri="{BB962C8B-B14F-4D97-AF65-F5344CB8AC3E}">
        <p14:creationId xmlns:p14="http://schemas.microsoft.com/office/powerpoint/2010/main" val="2774026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DB55A5-67F0-EA28-A15B-C3E72BFEDB0F}"/>
              </a:ext>
            </a:extLst>
          </p:cNvPr>
          <p:cNvSpPr>
            <a:spLocks noGrp="1"/>
          </p:cNvSpPr>
          <p:nvPr>
            <p:ph idx="1"/>
          </p:nvPr>
        </p:nvSpPr>
        <p:spPr>
          <a:xfrm>
            <a:off x="720090" y="685800"/>
            <a:ext cx="10984230" cy="5772150"/>
          </a:xfrm>
        </p:spPr>
        <p:txBody>
          <a:bodyPr/>
          <a:lstStyle/>
          <a:p>
            <a:pPr marL="0" indent="0">
              <a:buNone/>
            </a:pPr>
            <a:r>
              <a:rPr lang="en-US" b="1" dirty="0"/>
              <a:t>1.3.1: Description of GitHub </a:t>
            </a:r>
            <a:endParaRPr lang="en-US" dirty="0"/>
          </a:p>
          <a:p>
            <a:pPr marL="0" indent="0">
              <a:buNone/>
            </a:pPr>
            <a:r>
              <a:rPr lang="en-US" b="1" dirty="0"/>
              <a:t>1. Definition of GitHub </a:t>
            </a:r>
          </a:p>
          <a:p>
            <a:pPr marL="0" indent="0">
              <a:lnSpc>
                <a:spcPct val="150000"/>
              </a:lnSpc>
              <a:buNone/>
            </a:pPr>
            <a:r>
              <a:rPr lang="en-US" dirty="0"/>
              <a:t>GitHub is a large platform for code hosting. It supports version control and collaboration, allowing developers to work together on projects. It offers both distributed version control and source code management (SCM) functionality of Git. It also facilitates collaboration features such as bug tracking, feature requests, and task management for every project. 	</a:t>
            </a:r>
          </a:p>
          <a:p>
            <a:pPr marL="0" indent="0">
              <a:buNone/>
            </a:pPr>
            <a:endParaRPr lang="en-US" dirty="0"/>
          </a:p>
        </p:txBody>
      </p:sp>
    </p:spTree>
    <p:extLst>
      <p:ext uri="{BB962C8B-B14F-4D97-AF65-F5344CB8AC3E}">
        <p14:creationId xmlns:p14="http://schemas.microsoft.com/office/powerpoint/2010/main" val="3937959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4D32D2-1BE7-7C34-89FB-C9173F872012}"/>
              </a:ext>
            </a:extLst>
          </p:cNvPr>
          <p:cNvSpPr>
            <a:spLocks noGrp="1"/>
          </p:cNvSpPr>
          <p:nvPr>
            <p:ph idx="1"/>
          </p:nvPr>
        </p:nvSpPr>
        <p:spPr>
          <a:xfrm>
            <a:off x="777240" y="388620"/>
            <a:ext cx="10972800" cy="6035040"/>
          </a:xfrm>
        </p:spPr>
        <p:txBody>
          <a:bodyPr>
            <a:normAutofit/>
          </a:bodyPr>
          <a:lstStyle/>
          <a:p>
            <a:pPr marL="0" indent="0">
              <a:lnSpc>
                <a:spcPct val="150000"/>
              </a:lnSpc>
              <a:buNone/>
            </a:pPr>
            <a:r>
              <a:rPr lang="en-US" b="1" dirty="0"/>
              <a:t>Essential components of GitHub are: </a:t>
            </a:r>
          </a:p>
          <a:p>
            <a:pPr>
              <a:lnSpc>
                <a:spcPct val="150000"/>
              </a:lnSpc>
            </a:pPr>
            <a:r>
              <a:rPr lang="en-US" dirty="0"/>
              <a:t>Repositories </a:t>
            </a:r>
          </a:p>
          <a:p>
            <a:pPr>
              <a:lnSpc>
                <a:spcPct val="150000"/>
              </a:lnSpc>
            </a:pPr>
            <a:r>
              <a:rPr lang="en-US" dirty="0"/>
              <a:t>Branches </a:t>
            </a:r>
          </a:p>
          <a:p>
            <a:pPr>
              <a:lnSpc>
                <a:spcPct val="150000"/>
              </a:lnSpc>
            </a:pPr>
            <a:r>
              <a:rPr lang="en-US" dirty="0"/>
              <a:t>Commits </a:t>
            </a:r>
          </a:p>
          <a:p>
            <a:pPr>
              <a:lnSpc>
                <a:spcPct val="150000"/>
              </a:lnSpc>
            </a:pPr>
            <a:r>
              <a:rPr lang="en-US" dirty="0"/>
              <a:t>Pull Requests </a:t>
            </a:r>
          </a:p>
          <a:p>
            <a:pPr>
              <a:lnSpc>
                <a:spcPct val="150000"/>
              </a:lnSpc>
            </a:pPr>
            <a:r>
              <a:rPr lang="en-US" dirty="0"/>
              <a:t>Git (the version control tool GitHub is built on) </a:t>
            </a:r>
          </a:p>
          <a:p>
            <a:pPr marL="0" indent="0">
              <a:lnSpc>
                <a:spcPct val="150000"/>
              </a:lnSpc>
              <a:buNone/>
            </a:pPr>
            <a:r>
              <a:rPr lang="en-US"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84493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737E7-7241-66F8-FFA5-3ABE2577B170}"/>
              </a:ext>
            </a:extLst>
          </p:cNvPr>
          <p:cNvSpPr>
            <a:spLocks noGrp="1"/>
          </p:cNvSpPr>
          <p:nvPr>
            <p:ph idx="1"/>
          </p:nvPr>
        </p:nvSpPr>
        <p:spPr>
          <a:xfrm>
            <a:off x="662940" y="434340"/>
            <a:ext cx="10995660" cy="6023610"/>
          </a:xfrm>
        </p:spPr>
        <p:txBody>
          <a:bodyPr>
            <a:normAutofit lnSpcReduction="10000"/>
          </a:bodyPr>
          <a:lstStyle/>
          <a:p>
            <a:pPr marL="0" indent="0">
              <a:buNone/>
            </a:pPr>
            <a:r>
              <a:rPr lang="en-US" b="1" dirty="0"/>
              <a:t>2. Benefits of GitHub </a:t>
            </a:r>
            <a:endParaRPr lang="en-US" dirty="0"/>
          </a:p>
          <a:p>
            <a:pPr marL="0" indent="0">
              <a:lnSpc>
                <a:spcPct val="150000"/>
              </a:lnSpc>
              <a:buNone/>
            </a:pPr>
            <a:r>
              <a:rPr lang="en-US" b="1" dirty="0"/>
              <a:t>The key benefits of GitHub are as follows. </a:t>
            </a:r>
            <a:endParaRPr lang="en-US" dirty="0"/>
          </a:p>
          <a:p>
            <a:pPr>
              <a:lnSpc>
                <a:spcPct val="150000"/>
              </a:lnSpc>
            </a:pPr>
            <a:r>
              <a:rPr lang="en-US" dirty="0"/>
              <a:t>It is easy to contribute to open-source projects via GitHub. </a:t>
            </a:r>
          </a:p>
          <a:p>
            <a:pPr>
              <a:lnSpc>
                <a:spcPct val="150000"/>
              </a:lnSpc>
            </a:pPr>
            <a:r>
              <a:rPr lang="en-US" dirty="0"/>
              <a:t>It helps to create an excellent document. </a:t>
            </a:r>
          </a:p>
          <a:p>
            <a:pPr>
              <a:lnSpc>
                <a:spcPct val="150000"/>
              </a:lnSpc>
            </a:pPr>
            <a:r>
              <a:rPr lang="en-US" dirty="0"/>
              <a:t>You can attract the recruiter by showing off your work. If you have a profile on GitHub, you will have a higher chance of being recruited. </a:t>
            </a:r>
          </a:p>
          <a:p>
            <a:pPr>
              <a:lnSpc>
                <a:spcPct val="150000"/>
              </a:lnSpc>
            </a:pPr>
            <a:r>
              <a:rPr lang="en-US" dirty="0"/>
              <a:t>It allows your work to get out there in front of the public. </a:t>
            </a:r>
          </a:p>
          <a:p>
            <a:pPr>
              <a:lnSpc>
                <a:spcPct val="150000"/>
              </a:lnSpc>
            </a:pPr>
            <a:r>
              <a:rPr lang="en-US" dirty="0"/>
              <a:t>You can track changes in your code across versions.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2091840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D78AE4-1C2D-2DDC-B09B-20A4D59A57E1}"/>
              </a:ext>
            </a:extLst>
          </p:cNvPr>
          <p:cNvSpPr>
            <a:spLocks noGrp="1"/>
          </p:cNvSpPr>
          <p:nvPr>
            <p:ph idx="1"/>
          </p:nvPr>
        </p:nvSpPr>
        <p:spPr>
          <a:xfrm>
            <a:off x="628650" y="480060"/>
            <a:ext cx="11041380" cy="6000750"/>
          </a:xfrm>
        </p:spPr>
        <p:txBody>
          <a:bodyPr>
            <a:normAutofit/>
          </a:bodyPr>
          <a:lstStyle/>
          <a:p>
            <a:pPr marL="0" indent="0">
              <a:buNone/>
            </a:pPr>
            <a:r>
              <a:rPr lang="en-US" b="1" dirty="0"/>
              <a:t>3. Features of GitHub </a:t>
            </a:r>
          </a:p>
          <a:p>
            <a:pPr marL="0" indent="0">
              <a:lnSpc>
                <a:spcPct val="100000"/>
              </a:lnSpc>
              <a:buNone/>
            </a:pPr>
            <a:r>
              <a:rPr lang="en-US" b="1" dirty="0"/>
              <a:t>Some of its key features: </a:t>
            </a:r>
          </a:p>
          <a:p>
            <a:pPr>
              <a:lnSpc>
                <a:spcPct val="100000"/>
              </a:lnSpc>
            </a:pPr>
            <a:r>
              <a:rPr lang="en-US" dirty="0"/>
              <a:t>Collaboration </a:t>
            </a:r>
          </a:p>
          <a:p>
            <a:pPr>
              <a:lnSpc>
                <a:spcPct val="100000"/>
              </a:lnSpc>
            </a:pPr>
            <a:r>
              <a:rPr lang="en-US" dirty="0"/>
              <a:t>Bug tracking </a:t>
            </a:r>
          </a:p>
          <a:p>
            <a:pPr>
              <a:lnSpc>
                <a:spcPct val="100000"/>
              </a:lnSpc>
            </a:pPr>
            <a:r>
              <a:rPr lang="en-US" dirty="0"/>
              <a:t>Branches </a:t>
            </a:r>
          </a:p>
          <a:p>
            <a:pPr>
              <a:lnSpc>
                <a:spcPct val="100000"/>
              </a:lnSpc>
            </a:pPr>
            <a:r>
              <a:rPr lang="en-US" dirty="0"/>
              <a:t>Git repositories </a:t>
            </a:r>
          </a:p>
          <a:p>
            <a:pPr>
              <a:lnSpc>
                <a:spcPct val="100000"/>
              </a:lnSpc>
            </a:pPr>
            <a:r>
              <a:rPr lang="en-US" dirty="0"/>
              <a:t>Project management </a:t>
            </a:r>
          </a:p>
          <a:p>
            <a:pPr>
              <a:lnSpc>
                <a:spcPct val="100000"/>
              </a:lnSpc>
            </a:pPr>
            <a:r>
              <a:rPr lang="en-US" dirty="0"/>
              <a:t>Team management </a:t>
            </a:r>
          </a:p>
          <a:p>
            <a:pPr>
              <a:lnSpc>
                <a:spcPct val="100000"/>
              </a:lnSpc>
            </a:pPr>
            <a:r>
              <a:rPr lang="en-US" dirty="0"/>
              <a:t>Code hosting </a:t>
            </a:r>
          </a:p>
          <a:p>
            <a:pPr>
              <a:lnSpc>
                <a:spcPct val="100000"/>
              </a:lnSpc>
            </a:pPr>
            <a:r>
              <a:rPr lang="en-US" dirty="0"/>
              <a:t>Track and assign tasks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2997475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AC8E10-32AB-BD8C-1176-715417AEEFF0}"/>
              </a:ext>
            </a:extLst>
          </p:cNvPr>
          <p:cNvSpPr>
            <a:spLocks noGrp="1"/>
          </p:cNvSpPr>
          <p:nvPr>
            <p:ph idx="1"/>
          </p:nvPr>
        </p:nvSpPr>
        <p:spPr>
          <a:xfrm>
            <a:off x="621030" y="240030"/>
            <a:ext cx="10968990" cy="6332220"/>
          </a:xfrm>
        </p:spPr>
        <p:txBody>
          <a:bodyPr>
            <a:normAutofit fontScale="85000" lnSpcReduction="10000"/>
          </a:bodyPr>
          <a:lstStyle/>
          <a:p>
            <a:pPr marL="0" indent="0">
              <a:lnSpc>
                <a:spcPct val="160000"/>
              </a:lnSpc>
              <a:buNone/>
            </a:pPr>
            <a:r>
              <a:rPr lang="en-US" sz="3000" b="1" dirty="0"/>
              <a:t>4. GitHub vs. Git </a:t>
            </a:r>
          </a:p>
          <a:p>
            <a:pPr marL="0" indent="0">
              <a:lnSpc>
                <a:spcPct val="160000"/>
              </a:lnSpc>
              <a:buNone/>
            </a:pPr>
            <a:r>
              <a:rPr lang="en-US" sz="3000" b="1" dirty="0"/>
              <a:t>Git</a:t>
            </a:r>
            <a:r>
              <a:rPr lang="en-US" sz="3000" dirty="0"/>
              <a:t> is an open-source distributed version control system that is available for everyone at zero cost. </a:t>
            </a:r>
          </a:p>
          <a:p>
            <a:pPr>
              <a:lnSpc>
                <a:spcPct val="160000"/>
              </a:lnSpc>
            </a:pPr>
            <a:r>
              <a:rPr lang="en-US" sz="3000" dirty="0"/>
              <a:t>It is designed to handle minor to major projects with speed and efficiency.</a:t>
            </a:r>
          </a:p>
          <a:p>
            <a:pPr>
              <a:lnSpc>
                <a:spcPct val="160000"/>
              </a:lnSpc>
            </a:pPr>
            <a:r>
              <a:rPr lang="en-US" sz="3000" dirty="0"/>
              <a:t>It is developed to coordinate the work among programmers. 	While</a:t>
            </a:r>
          </a:p>
          <a:p>
            <a:pPr marL="0" indent="0">
              <a:lnSpc>
                <a:spcPct val="160000"/>
              </a:lnSpc>
              <a:buNone/>
            </a:pPr>
            <a:r>
              <a:rPr lang="en-US" sz="3000" b="1" dirty="0"/>
              <a:t>GitHub </a:t>
            </a:r>
            <a:r>
              <a:rPr lang="en-US" sz="3000" dirty="0"/>
              <a:t>is an immense platform for code hosting.  it supports version control and collaboration. </a:t>
            </a:r>
          </a:p>
          <a:p>
            <a:pPr marL="0" indent="0">
              <a:buNone/>
            </a:pPr>
            <a:endParaRPr lang="en-US" dirty="0"/>
          </a:p>
          <a:p>
            <a:pPr marL="0" indent="0">
              <a:buNone/>
            </a:pPr>
            <a:endParaRPr lang="en-US" b="1"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091425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67E6CF-740D-6F6F-A88E-BCE99416DA08}"/>
              </a:ext>
            </a:extLst>
          </p:cNvPr>
          <p:cNvSpPr>
            <a:spLocks noGrp="1"/>
          </p:cNvSpPr>
          <p:nvPr>
            <p:ph idx="1"/>
          </p:nvPr>
        </p:nvSpPr>
        <p:spPr>
          <a:xfrm>
            <a:off x="651510" y="491490"/>
            <a:ext cx="11167110" cy="5920740"/>
          </a:xfrm>
        </p:spPr>
        <p:txBody>
          <a:bodyPr/>
          <a:lstStyle/>
          <a:p>
            <a:pPr>
              <a:lnSpc>
                <a:spcPct val="150000"/>
              </a:lnSpc>
            </a:pPr>
            <a:r>
              <a:rPr lang="en-US" dirty="0"/>
              <a:t>It offers both distributed version control and source code management (SCM) functionality of Git. </a:t>
            </a:r>
          </a:p>
          <a:p>
            <a:pPr>
              <a:lnSpc>
                <a:spcPct val="150000"/>
              </a:lnSpc>
            </a:pPr>
            <a:r>
              <a:rPr lang="en-US" dirty="0"/>
              <a:t>It also facilitates collaboration features such as bug tracking, feature requests, and task management for every project. 	</a:t>
            </a:r>
          </a:p>
          <a:p>
            <a:pPr marL="0" indent="0">
              <a:lnSpc>
                <a:spcPct val="150000"/>
              </a:lnSpc>
              <a:buNone/>
            </a:pPr>
            <a:r>
              <a:rPr lang="en-US" b="1" dirty="0"/>
              <a:t>5. Git commands related to the repository </a:t>
            </a:r>
            <a:endParaRPr lang="en-US" dirty="0"/>
          </a:p>
          <a:p>
            <a:pPr marL="0" indent="0">
              <a:lnSpc>
                <a:spcPct val="150000"/>
              </a:lnSpc>
              <a:buNone/>
            </a:pPr>
            <a:r>
              <a:rPr lang="en-US" dirty="0"/>
              <a:t>There are several Git commands related to managing and working with repositories. Here are some common examples of these commands: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4063990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7112E9-162B-2A89-E8F2-723B23846043}"/>
              </a:ext>
            </a:extLst>
          </p:cNvPr>
          <p:cNvSpPr>
            <a:spLocks noGrp="1"/>
          </p:cNvSpPr>
          <p:nvPr>
            <p:ph idx="1"/>
          </p:nvPr>
        </p:nvSpPr>
        <p:spPr>
          <a:xfrm>
            <a:off x="697230" y="457200"/>
            <a:ext cx="11121390" cy="5977890"/>
          </a:xfrm>
        </p:spPr>
        <p:txBody>
          <a:bodyPr/>
          <a:lstStyle/>
          <a:p>
            <a:pPr marL="0" indent="0">
              <a:lnSpc>
                <a:spcPct val="150000"/>
              </a:lnSpc>
              <a:buNone/>
            </a:pPr>
            <a:r>
              <a:rPr lang="en-US" b="1" dirty="0"/>
              <a:t>1. `Git </a:t>
            </a:r>
            <a:r>
              <a:rPr lang="en-US" b="1" dirty="0" err="1"/>
              <a:t>init</a:t>
            </a:r>
            <a:r>
              <a:rPr lang="en-US" b="1" dirty="0"/>
              <a:t>`: </a:t>
            </a:r>
            <a:r>
              <a:rPr lang="en-US" dirty="0"/>
              <a:t>Initializes a new Git repository in the current directory, creating a new `.git` folder to store version control information. </a:t>
            </a:r>
          </a:p>
          <a:p>
            <a:pPr marL="0" indent="0">
              <a:lnSpc>
                <a:spcPct val="150000"/>
              </a:lnSpc>
              <a:buNone/>
            </a:pPr>
            <a:r>
              <a:rPr lang="en-US" b="1" dirty="0"/>
              <a:t>2. `Git clone &lt;repository-</a:t>
            </a:r>
            <a:r>
              <a:rPr lang="en-US" b="1" dirty="0" err="1"/>
              <a:t>url</a:t>
            </a:r>
            <a:r>
              <a:rPr lang="en-US" b="1" dirty="0"/>
              <a:t>&gt;`: </a:t>
            </a:r>
            <a:r>
              <a:rPr lang="en-US" dirty="0"/>
              <a:t>Creates a local copy of a remote repository. The repository URL can be obtained from the hosting platform (e.g., GitHub, GitLab). 	</a:t>
            </a:r>
          </a:p>
          <a:p>
            <a:pPr marL="0" indent="0">
              <a:lnSpc>
                <a:spcPct val="150000"/>
              </a:lnSpc>
              <a:buNone/>
            </a:pPr>
            <a:r>
              <a:rPr lang="en-US" b="1" dirty="0"/>
              <a:t>3. `Git remote add &lt;name&gt; &lt;repository-</a:t>
            </a:r>
            <a:r>
              <a:rPr lang="en-US" b="1" dirty="0" err="1"/>
              <a:t>url</a:t>
            </a:r>
            <a:r>
              <a:rPr lang="en-US" b="1" dirty="0"/>
              <a:t>&gt;`: </a:t>
            </a:r>
            <a:r>
              <a:rPr lang="en-US" dirty="0"/>
              <a:t>Adds a remote repository to your local repository. The `&lt;name&gt;` is an alias for the remote repository, and the `&lt;repository-</a:t>
            </a:r>
            <a:r>
              <a:rPr lang="en-US" dirty="0" err="1"/>
              <a:t>url</a:t>
            </a:r>
            <a:r>
              <a:rPr lang="en-US" dirty="0"/>
              <a:t>&gt;` is the URL of the remote repository. 	</a:t>
            </a:r>
          </a:p>
          <a:p>
            <a:pPr marL="0" indent="0">
              <a:lnSpc>
                <a:spcPct val="150000"/>
              </a:lnSpc>
              <a:buNone/>
            </a:pPr>
            <a:endParaRPr lang="en-US" b="1" dirty="0"/>
          </a:p>
          <a:p>
            <a:pPr marL="0" indent="0">
              <a:buNone/>
            </a:pPr>
            <a:endParaRPr lang="en-US" dirty="0"/>
          </a:p>
        </p:txBody>
      </p:sp>
    </p:spTree>
    <p:extLst>
      <p:ext uri="{BB962C8B-B14F-4D97-AF65-F5344CB8AC3E}">
        <p14:creationId xmlns:p14="http://schemas.microsoft.com/office/powerpoint/2010/main" val="4046677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FB4AC4-13C9-4726-9CEE-77FCBCF9BFC4}"/>
              </a:ext>
            </a:extLst>
          </p:cNvPr>
          <p:cNvSpPr>
            <a:spLocks noGrp="1"/>
          </p:cNvSpPr>
          <p:nvPr>
            <p:ph idx="1"/>
          </p:nvPr>
        </p:nvSpPr>
        <p:spPr>
          <a:xfrm>
            <a:off x="628650" y="537210"/>
            <a:ext cx="11281410" cy="5943600"/>
          </a:xfrm>
        </p:spPr>
        <p:txBody>
          <a:bodyPr/>
          <a:lstStyle/>
          <a:p>
            <a:pPr marL="0" indent="0">
              <a:lnSpc>
                <a:spcPct val="150000"/>
              </a:lnSpc>
              <a:buNone/>
            </a:pPr>
            <a:r>
              <a:rPr lang="en-US" b="1" dirty="0"/>
              <a:t>4. `Git remote -v`: </a:t>
            </a:r>
            <a:r>
              <a:rPr lang="en-US" dirty="0"/>
              <a:t>Lists the remote repositories associated with your local repository, along with their URLs. </a:t>
            </a:r>
          </a:p>
          <a:p>
            <a:pPr marL="0" indent="0">
              <a:lnSpc>
                <a:spcPct val="150000"/>
              </a:lnSpc>
              <a:buNone/>
            </a:pPr>
            <a:r>
              <a:rPr lang="en-US" b="1" dirty="0"/>
              <a:t>5. `Git pull &lt;remote&gt; &lt;branch&gt;`: </a:t>
            </a:r>
            <a:r>
              <a:rPr lang="en-US" dirty="0"/>
              <a:t>Fetches changes from a remote repository and merges them into the current branch in your local repository. </a:t>
            </a:r>
          </a:p>
          <a:p>
            <a:pPr marL="0" indent="0">
              <a:lnSpc>
                <a:spcPct val="150000"/>
              </a:lnSpc>
              <a:buNone/>
            </a:pPr>
            <a:r>
              <a:rPr lang="en-US" b="1" dirty="0"/>
              <a:t>6. `Git push &lt;remote&gt; &lt;branch&gt;`: </a:t>
            </a:r>
            <a:r>
              <a:rPr lang="en-US" dirty="0"/>
              <a:t>Pushes your local commits to a remote repository. The `&lt;remote&gt;` is the remote repository alias, and the `&lt;branch&gt;` is the branch name. 	</a:t>
            </a:r>
          </a:p>
          <a:p>
            <a:pPr marL="0" indent="0">
              <a:buNone/>
            </a:pPr>
            <a:endParaRPr lang="en-US" dirty="0"/>
          </a:p>
        </p:txBody>
      </p:sp>
    </p:spTree>
    <p:extLst>
      <p:ext uri="{BB962C8B-B14F-4D97-AF65-F5344CB8AC3E}">
        <p14:creationId xmlns:p14="http://schemas.microsoft.com/office/powerpoint/2010/main" val="474098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539AF-6A11-EDF3-C26C-1D3C96202691}"/>
              </a:ext>
            </a:extLst>
          </p:cNvPr>
          <p:cNvSpPr>
            <a:spLocks noGrp="1"/>
          </p:cNvSpPr>
          <p:nvPr>
            <p:ph idx="1"/>
          </p:nvPr>
        </p:nvSpPr>
        <p:spPr>
          <a:xfrm>
            <a:off x="536608" y="481263"/>
            <a:ext cx="11167712" cy="5737859"/>
          </a:xfrm>
        </p:spPr>
        <p:txBody>
          <a:bodyPr>
            <a:normAutofit fontScale="92500"/>
          </a:bodyPr>
          <a:lstStyle/>
          <a:p>
            <a:pPr marL="0" indent="0">
              <a:lnSpc>
                <a:spcPct val="150000"/>
              </a:lnSpc>
              <a:buNone/>
            </a:pPr>
            <a:r>
              <a:rPr lang="en-US" b="1" dirty="0"/>
              <a:t>7. `Git branch`: </a:t>
            </a:r>
            <a:r>
              <a:rPr lang="en-US" dirty="0"/>
              <a:t>Lists all the branches in your local repository. The current branch is indicated with an asterisk. </a:t>
            </a:r>
          </a:p>
          <a:p>
            <a:pPr marL="0" indent="0">
              <a:lnSpc>
                <a:spcPct val="150000"/>
              </a:lnSpc>
              <a:buNone/>
            </a:pPr>
            <a:r>
              <a:rPr lang="en-US" b="1" dirty="0"/>
              <a:t>8. `Git branch &lt;branch-name&gt;`: </a:t>
            </a:r>
            <a:r>
              <a:rPr lang="en-US" dirty="0"/>
              <a:t>Creates a new branch with the specified name. </a:t>
            </a:r>
          </a:p>
          <a:p>
            <a:pPr marL="0" indent="0">
              <a:lnSpc>
                <a:spcPct val="150000"/>
              </a:lnSpc>
              <a:buNone/>
            </a:pPr>
            <a:r>
              <a:rPr lang="en-US" b="1" dirty="0"/>
              <a:t>9. `Git checkout &lt;branch-name&gt;`: </a:t>
            </a:r>
            <a:r>
              <a:rPr lang="en-US" dirty="0"/>
              <a:t>Switches to the specified branch. </a:t>
            </a:r>
          </a:p>
          <a:p>
            <a:pPr marL="0" indent="0">
              <a:lnSpc>
                <a:spcPct val="150000"/>
              </a:lnSpc>
              <a:buNone/>
            </a:pPr>
            <a:r>
              <a:rPr lang="en-US" b="1" dirty="0"/>
              <a:t>10. `Git checkout -b &lt;branch-name&gt;`: </a:t>
            </a:r>
            <a:r>
              <a:rPr lang="en-US" dirty="0"/>
              <a:t>Creates a new branch with the specified name and switches to it. </a:t>
            </a:r>
          </a:p>
          <a:p>
            <a:pPr marL="0" indent="0">
              <a:lnSpc>
                <a:spcPct val="150000"/>
              </a:lnSpc>
              <a:buNone/>
            </a:pPr>
            <a:r>
              <a:rPr lang="en-US" b="1" dirty="0"/>
              <a:t>11. `Git merge &lt;branch-name&gt;`: </a:t>
            </a:r>
            <a:r>
              <a:rPr lang="en-US" dirty="0"/>
              <a:t>Merges changes from the specified branch into the current branch. 	</a:t>
            </a:r>
          </a:p>
          <a:p>
            <a:pPr marL="0" indent="0">
              <a:buNone/>
            </a:pPr>
            <a:endParaRPr lang="en-US" dirty="0"/>
          </a:p>
        </p:txBody>
      </p:sp>
    </p:spTree>
    <p:extLst>
      <p:ext uri="{BB962C8B-B14F-4D97-AF65-F5344CB8AC3E}">
        <p14:creationId xmlns:p14="http://schemas.microsoft.com/office/powerpoint/2010/main" val="3956316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DFF42-27A7-6FC1-575E-2D04D5896733}"/>
              </a:ext>
            </a:extLst>
          </p:cNvPr>
          <p:cNvSpPr>
            <a:spLocks noGrp="1"/>
          </p:cNvSpPr>
          <p:nvPr>
            <p:ph idx="1"/>
          </p:nvPr>
        </p:nvSpPr>
        <p:spPr>
          <a:xfrm>
            <a:off x="394636" y="693018"/>
            <a:ext cx="11627318" cy="5621154"/>
          </a:xfrm>
        </p:spPr>
        <p:txBody>
          <a:bodyPr>
            <a:normAutofit fontScale="77500" lnSpcReduction="20000"/>
          </a:bodyPr>
          <a:lstStyle/>
          <a:p>
            <a:pPr marL="0" indent="0">
              <a:lnSpc>
                <a:spcPct val="150000"/>
              </a:lnSpc>
              <a:buNone/>
            </a:pPr>
            <a:r>
              <a:rPr lang="en-US" sz="3600" b="1" dirty="0"/>
              <a:t>12. `Git status`: </a:t>
            </a:r>
            <a:r>
              <a:rPr lang="en-US" sz="3600" dirty="0"/>
              <a:t>Shows the current status of your local repository, including modified files, new files, and branch information. </a:t>
            </a:r>
          </a:p>
          <a:p>
            <a:pPr marL="0" indent="0">
              <a:lnSpc>
                <a:spcPct val="150000"/>
              </a:lnSpc>
              <a:buNone/>
            </a:pPr>
            <a:r>
              <a:rPr lang="en-US" sz="3600" b="1" dirty="0"/>
              <a:t>13. `Git log`: </a:t>
            </a:r>
            <a:r>
              <a:rPr lang="en-US" sz="3600" dirty="0"/>
              <a:t>Displays a log of commits in reverse chronological order, showing commit hashes, authors, dates, and commit messages. </a:t>
            </a:r>
          </a:p>
          <a:p>
            <a:pPr marL="0" indent="0">
              <a:lnSpc>
                <a:spcPct val="150000"/>
              </a:lnSpc>
              <a:buNone/>
            </a:pPr>
            <a:r>
              <a:rPr lang="en-US" sz="3600" b="1" dirty="0"/>
              <a:t>14. `Git add &lt;file&gt;`: </a:t>
            </a:r>
            <a:r>
              <a:rPr lang="en-US" sz="3600" dirty="0"/>
              <a:t>Adds a file to the staging area, preparing it for committing. </a:t>
            </a:r>
          </a:p>
          <a:p>
            <a:pPr marL="0" indent="0">
              <a:lnSpc>
                <a:spcPct val="150000"/>
              </a:lnSpc>
              <a:buNone/>
            </a:pPr>
            <a:r>
              <a:rPr lang="en-US" sz="3600" b="1" dirty="0"/>
              <a:t>15. `Git commit -m "&lt;commit-message&gt;"`: </a:t>
            </a:r>
            <a:r>
              <a:rPr lang="en-US" sz="3600" dirty="0"/>
              <a:t>Commits the changes in the staging area with a descriptive commit message. </a:t>
            </a:r>
          </a:p>
          <a:p>
            <a:pPr marL="0" indent="0">
              <a:lnSpc>
                <a:spcPct val="150000"/>
              </a:lnSpc>
              <a:buNone/>
            </a:pPr>
            <a:r>
              <a:rPr lang="en-US" sz="3600" b="1" dirty="0"/>
              <a:t>16. `Git push --tags`: </a:t>
            </a:r>
            <a:r>
              <a:rPr lang="en-US" sz="3600" dirty="0"/>
              <a:t>Pushes any tags that have been created to the remote repository. 	</a:t>
            </a:r>
          </a:p>
          <a:p>
            <a:pPr marL="0" indent="0">
              <a:buNone/>
            </a:pPr>
            <a:endParaRPr lang="en-US" dirty="0"/>
          </a:p>
        </p:txBody>
      </p:sp>
    </p:spTree>
    <p:extLst>
      <p:ext uri="{BB962C8B-B14F-4D97-AF65-F5344CB8AC3E}">
        <p14:creationId xmlns:p14="http://schemas.microsoft.com/office/powerpoint/2010/main" val="330554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556E48-28BE-2082-58C5-5C70FF633615}"/>
              </a:ext>
            </a:extLst>
          </p:cNvPr>
          <p:cNvSpPr>
            <a:spLocks noGrp="1"/>
          </p:cNvSpPr>
          <p:nvPr>
            <p:ph idx="1"/>
          </p:nvPr>
        </p:nvSpPr>
        <p:spPr>
          <a:xfrm>
            <a:off x="617220" y="342900"/>
            <a:ext cx="11315700" cy="6217920"/>
          </a:xfrm>
        </p:spPr>
        <p:txBody>
          <a:bodyPr>
            <a:normAutofit/>
          </a:bodyPr>
          <a:lstStyle/>
          <a:p>
            <a:pPr marL="0" indent="0">
              <a:lnSpc>
                <a:spcPct val="150000"/>
              </a:lnSpc>
              <a:buNone/>
            </a:pPr>
            <a:r>
              <a:rPr lang="en-US" b="1" dirty="0"/>
              <a:t>1.3.2: Creating an account and a repository on GitHub </a:t>
            </a:r>
            <a:endParaRPr lang="en-US" dirty="0"/>
          </a:p>
          <a:p>
            <a:pPr marL="0" indent="0">
              <a:lnSpc>
                <a:spcPct val="150000"/>
              </a:lnSpc>
              <a:buNone/>
            </a:pPr>
            <a:r>
              <a:rPr lang="en-US" b="1" dirty="0"/>
              <a:t>1. Create a GitHub Account </a:t>
            </a:r>
            <a:endParaRPr lang="en-US" dirty="0"/>
          </a:p>
          <a:p>
            <a:pPr marL="0" indent="0">
              <a:lnSpc>
                <a:spcPct val="150000"/>
              </a:lnSpc>
              <a:buNone/>
            </a:pPr>
            <a:r>
              <a:rPr lang="en-US" dirty="0"/>
              <a:t>After installing Git on your machine, the next step is to create a free GitHub account by following these steps: 	</a:t>
            </a:r>
          </a:p>
          <a:p>
            <a:pPr marL="0" indent="0">
              <a:lnSpc>
                <a:spcPct val="150000"/>
              </a:lnSpc>
              <a:buNone/>
            </a:pPr>
            <a:r>
              <a:rPr lang="en-US" dirty="0"/>
              <a:t>1. Visit the official account creation page by joining GitHub </a:t>
            </a:r>
          </a:p>
          <a:p>
            <a:pPr marL="0" indent="0">
              <a:lnSpc>
                <a:spcPct val="150000"/>
              </a:lnSpc>
              <a:buNone/>
            </a:pPr>
            <a:r>
              <a:rPr lang="en-US" dirty="0"/>
              <a:t>2. Pick a </a:t>
            </a:r>
            <a:r>
              <a:rPr lang="en-US" b="1" dirty="0"/>
              <a:t>username</a:t>
            </a:r>
            <a:r>
              <a:rPr lang="en-US" dirty="0"/>
              <a:t>, enter your </a:t>
            </a:r>
            <a:r>
              <a:rPr lang="en-US" b="1" dirty="0"/>
              <a:t>email address</a:t>
            </a:r>
            <a:r>
              <a:rPr lang="en-US" dirty="0"/>
              <a:t>, and choose a </a:t>
            </a:r>
            <a:r>
              <a:rPr lang="en-US" b="1" dirty="0"/>
              <a:t>password</a:t>
            </a:r>
            <a:r>
              <a:rPr lang="en-US" dirty="0"/>
              <a:t>. </a:t>
            </a:r>
          </a:p>
          <a:p>
            <a:pPr marL="0" indent="0">
              <a:lnSpc>
                <a:spcPct val="150000"/>
              </a:lnSpc>
              <a:buNone/>
            </a:pPr>
            <a:r>
              <a:rPr lang="en-US" dirty="0"/>
              <a:t>3. </a:t>
            </a:r>
            <a:r>
              <a:rPr lang="en-US" dirty="0" err="1"/>
              <a:t>Opt</a:t>
            </a:r>
            <a:r>
              <a:rPr lang="en-US" dirty="0"/>
              <a:t> for or opt out of receiving updates and announcements by checking/unchecking the </a:t>
            </a:r>
            <a:r>
              <a:rPr lang="en-US" b="1" dirty="0"/>
              <a:t>Email preferences </a:t>
            </a:r>
            <a:r>
              <a:rPr lang="en-US" dirty="0"/>
              <a:t>checkbox. 	</a:t>
            </a:r>
          </a:p>
          <a:p>
            <a:pPr marL="0" indent="0">
              <a:buNone/>
            </a:pPr>
            <a:endParaRPr lang="en-US" dirty="0"/>
          </a:p>
        </p:txBody>
      </p:sp>
    </p:spTree>
    <p:extLst>
      <p:ext uri="{BB962C8B-B14F-4D97-AF65-F5344CB8AC3E}">
        <p14:creationId xmlns:p14="http://schemas.microsoft.com/office/powerpoint/2010/main" val="2282418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01D9E6-0600-F1B6-6F87-2879F59387DB}"/>
              </a:ext>
            </a:extLst>
          </p:cNvPr>
          <p:cNvSpPr>
            <a:spLocks noGrp="1"/>
          </p:cNvSpPr>
          <p:nvPr>
            <p:ph idx="1"/>
          </p:nvPr>
        </p:nvSpPr>
        <p:spPr>
          <a:xfrm>
            <a:off x="754380" y="605790"/>
            <a:ext cx="11087100" cy="6069330"/>
          </a:xfrm>
        </p:spPr>
        <p:txBody>
          <a:bodyPr/>
          <a:lstStyle/>
          <a:p>
            <a:pPr marL="0" indent="0">
              <a:lnSpc>
                <a:spcPct val="150000"/>
              </a:lnSpc>
              <a:buNone/>
            </a:pPr>
            <a:r>
              <a:rPr lang="en-US" dirty="0"/>
              <a:t>4. Verify you're not a robot by solving the </a:t>
            </a:r>
            <a:r>
              <a:rPr lang="en-US" b="1" dirty="0"/>
              <a:t>Captcha </a:t>
            </a:r>
            <a:r>
              <a:rPr lang="en-US" dirty="0"/>
              <a:t>puzzle. </a:t>
            </a:r>
          </a:p>
          <a:p>
            <a:pPr marL="0" indent="0">
              <a:lnSpc>
                <a:spcPct val="150000"/>
              </a:lnSpc>
              <a:buNone/>
            </a:pPr>
            <a:r>
              <a:rPr lang="en-US" dirty="0"/>
              <a:t>5. Click </a:t>
            </a:r>
            <a:r>
              <a:rPr lang="en-US" b="1" dirty="0"/>
              <a:t>Create account</a:t>
            </a:r>
            <a:r>
              <a:rPr lang="en-US" dirty="0"/>
              <a:t>. 	</a:t>
            </a:r>
          </a:p>
          <a:p>
            <a:pPr marL="0" indent="0">
              <a:lnSpc>
                <a:spcPct val="150000"/>
              </a:lnSpc>
              <a:buNone/>
            </a:pPr>
            <a:r>
              <a:rPr lang="en-US" dirty="0"/>
              <a:t>6. GitHub sends a </a:t>
            </a:r>
            <a:r>
              <a:rPr lang="en-US" b="1" dirty="0"/>
              <a:t>launch code </a:t>
            </a:r>
            <a:r>
              <a:rPr lang="en-US" dirty="0"/>
              <a:t>to the specified email address. Copy-paste the code in the designated field. </a:t>
            </a:r>
          </a:p>
          <a:p>
            <a:pPr marL="0" indent="0">
              <a:lnSpc>
                <a:spcPct val="150000"/>
              </a:lnSpc>
              <a:buNone/>
            </a:pPr>
            <a:r>
              <a:rPr lang="en-US" dirty="0"/>
              <a:t>7. Optionally, enter account personalization details when asked or </a:t>
            </a:r>
            <a:r>
              <a:rPr lang="en-US" b="1" dirty="0"/>
              <a:t>Skip</a:t>
            </a:r>
            <a:r>
              <a:rPr lang="en-US" dirty="0"/>
              <a:t>, and click </a:t>
            </a:r>
            <a:r>
              <a:rPr lang="en-US" b="1" dirty="0"/>
              <a:t>Continue</a:t>
            </a:r>
            <a:r>
              <a:rPr lang="en-US" dirty="0"/>
              <a:t>. </a:t>
            </a:r>
          </a:p>
          <a:p>
            <a:pPr marL="0" indent="0">
              <a:lnSpc>
                <a:spcPct val="150000"/>
              </a:lnSpc>
              <a:buNone/>
            </a:pPr>
            <a:r>
              <a:rPr lang="en-US" dirty="0"/>
              <a:t>You have now successfully created a GitHub account. 	</a:t>
            </a:r>
          </a:p>
          <a:p>
            <a:pPr marL="0" indent="0">
              <a:buNone/>
            </a:pPr>
            <a:endParaRPr lang="en-US" dirty="0"/>
          </a:p>
        </p:txBody>
      </p:sp>
    </p:spTree>
    <p:extLst>
      <p:ext uri="{BB962C8B-B14F-4D97-AF65-F5344CB8AC3E}">
        <p14:creationId xmlns:p14="http://schemas.microsoft.com/office/powerpoint/2010/main" val="3480241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12052-64B2-DD4E-AE9A-DD041FFEBBD4}"/>
              </a:ext>
            </a:extLst>
          </p:cNvPr>
          <p:cNvSpPr>
            <a:spLocks noGrp="1"/>
          </p:cNvSpPr>
          <p:nvPr>
            <p:ph idx="1"/>
          </p:nvPr>
        </p:nvSpPr>
        <p:spPr>
          <a:xfrm>
            <a:off x="720090" y="388620"/>
            <a:ext cx="11167110" cy="6240780"/>
          </a:xfrm>
        </p:spPr>
        <p:txBody>
          <a:bodyPr>
            <a:normAutofit/>
          </a:bodyPr>
          <a:lstStyle/>
          <a:p>
            <a:pPr marL="0" indent="0">
              <a:lnSpc>
                <a:spcPct val="150000"/>
              </a:lnSpc>
              <a:buNone/>
            </a:pPr>
            <a:r>
              <a:rPr lang="en-US" b="1" dirty="0"/>
              <a:t>2. Create a Local Git Repository </a:t>
            </a:r>
            <a:endParaRPr lang="en-US" dirty="0"/>
          </a:p>
          <a:p>
            <a:pPr marL="0" indent="0">
              <a:lnSpc>
                <a:spcPct val="150000"/>
              </a:lnSpc>
              <a:buNone/>
            </a:pPr>
            <a:r>
              <a:rPr lang="en-US" dirty="0"/>
              <a:t>After installing or updating Git, the next step is to </a:t>
            </a:r>
            <a:r>
              <a:rPr lang="en-US" b="1" dirty="0"/>
              <a:t>create a local Git repository</a:t>
            </a:r>
            <a:r>
              <a:rPr lang="en-US" dirty="0"/>
              <a:t>. </a:t>
            </a:r>
          </a:p>
          <a:p>
            <a:pPr marL="0" indent="0">
              <a:lnSpc>
                <a:spcPct val="150000"/>
              </a:lnSpc>
              <a:buNone/>
            </a:pPr>
            <a:r>
              <a:rPr lang="en-US" b="1" dirty="0"/>
              <a:t>To create a Git repository, follow the steps below: </a:t>
            </a:r>
            <a:endParaRPr lang="en-US" dirty="0"/>
          </a:p>
          <a:p>
            <a:pPr marL="514350" indent="-514350">
              <a:lnSpc>
                <a:spcPct val="150000"/>
              </a:lnSpc>
              <a:buAutoNum type="arabicPeriod"/>
            </a:pPr>
            <a:r>
              <a:rPr lang="en-US" dirty="0"/>
              <a:t>Open a Git Bash terminal and move to the directory where you want to keep the project on your local machine. For example: 	</a:t>
            </a:r>
          </a:p>
          <a:p>
            <a:pPr marL="0" indent="0">
              <a:buNone/>
            </a:pPr>
            <a:r>
              <a:rPr lang="en-US" dirty="0"/>
              <a:t>	</a:t>
            </a:r>
          </a:p>
          <a:p>
            <a:pPr marL="514350" indent="-514350">
              <a:lnSpc>
                <a:spcPct val="150000"/>
              </a:lnSpc>
              <a:buAutoNum type="arabicPeriod"/>
            </a:pPr>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682089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B3D2D-6A25-012B-F0D7-287239EBCF20}"/>
              </a:ext>
            </a:extLst>
          </p:cNvPr>
          <p:cNvSpPr>
            <a:spLocks noGrp="1"/>
          </p:cNvSpPr>
          <p:nvPr>
            <p:ph idx="1"/>
          </p:nvPr>
        </p:nvSpPr>
        <p:spPr>
          <a:xfrm>
            <a:off x="697230" y="491490"/>
            <a:ext cx="11224260" cy="6103620"/>
          </a:xfrm>
        </p:spPr>
        <p:txBody>
          <a:bodyPr/>
          <a:lstStyle/>
          <a:p>
            <a:pPr marL="0" indent="0">
              <a:lnSpc>
                <a:spcPct val="150000"/>
              </a:lnSpc>
              <a:buNone/>
            </a:pPr>
            <a:r>
              <a:rPr lang="en-US" dirty="0"/>
              <a:t>cd ~/Desktop </a:t>
            </a:r>
          </a:p>
          <a:p>
            <a:pPr marL="0" indent="0">
              <a:lnSpc>
                <a:spcPct val="150000"/>
              </a:lnSpc>
              <a:buNone/>
            </a:pPr>
            <a:r>
              <a:rPr lang="en-US" dirty="0" err="1"/>
              <a:t>mkdir</a:t>
            </a:r>
            <a:r>
              <a:rPr lang="en-US" dirty="0"/>
              <a:t> </a:t>
            </a:r>
            <a:r>
              <a:rPr lang="en-US" dirty="0" err="1"/>
              <a:t>myproject</a:t>
            </a:r>
            <a:r>
              <a:rPr lang="en-US" dirty="0"/>
              <a:t> </a:t>
            </a:r>
          </a:p>
          <a:p>
            <a:pPr marL="0" indent="0">
              <a:lnSpc>
                <a:spcPct val="150000"/>
              </a:lnSpc>
              <a:buNone/>
            </a:pPr>
            <a:r>
              <a:rPr lang="en-US" dirty="0"/>
              <a:t>cd </a:t>
            </a:r>
            <a:r>
              <a:rPr lang="en-US" dirty="0" err="1"/>
              <a:t>myproject</a:t>
            </a:r>
            <a:r>
              <a:rPr lang="en-US" dirty="0"/>
              <a:t>/</a:t>
            </a:r>
          </a:p>
          <a:p>
            <a:pPr marL="0" indent="0">
              <a:lnSpc>
                <a:spcPct val="150000"/>
              </a:lnSpc>
              <a:buNone/>
            </a:pPr>
            <a:r>
              <a:rPr lang="en-US" dirty="0"/>
              <a:t>In this example, we changed the directory to </a:t>
            </a:r>
            <a:r>
              <a:rPr lang="en-US" b="1" dirty="0"/>
              <a:t>Desktop </a:t>
            </a:r>
            <a:r>
              <a:rPr lang="en-US" dirty="0"/>
              <a:t>and created a subdirectory called </a:t>
            </a:r>
            <a:r>
              <a:rPr lang="en-US" i="1" dirty="0" err="1"/>
              <a:t>myproject</a:t>
            </a:r>
            <a:r>
              <a:rPr lang="en-US" dirty="0"/>
              <a:t>. </a:t>
            </a:r>
          </a:p>
          <a:p>
            <a:pPr marL="0" indent="0">
              <a:lnSpc>
                <a:spcPct val="150000"/>
              </a:lnSpc>
              <a:buNone/>
            </a:pPr>
            <a:r>
              <a:rPr lang="en-US" dirty="0"/>
              <a:t>2. Create a Git repository in the selected folder by running the git </a:t>
            </a:r>
            <a:r>
              <a:rPr lang="en-US" dirty="0" err="1"/>
              <a:t>init</a:t>
            </a:r>
            <a:r>
              <a:rPr lang="en-US" dirty="0"/>
              <a:t> command. The syntax is: 	</a:t>
            </a:r>
          </a:p>
          <a:p>
            <a:pPr marL="0" indent="0">
              <a:lnSpc>
                <a:spcPct val="150000"/>
              </a:lnSpc>
              <a:buNone/>
            </a:pPr>
            <a:endParaRPr lang="en-US" dirty="0"/>
          </a:p>
        </p:txBody>
      </p:sp>
    </p:spTree>
    <p:extLst>
      <p:ext uri="{BB962C8B-B14F-4D97-AF65-F5344CB8AC3E}">
        <p14:creationId xmlns:p14="http://schemas.microsoft.com/office/powerpoint/2010/main" val="30449809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60AE4-4B84-97AD-8C23-1EAF76474ADE}"/>
              </a:ext>
            </a:extLst>
          </p:cNvPr>
          <p:cNvSpPr>
            <a:spLocks noGrp="1"/>
          </p:cNvSpPr>
          <p:nvPr>
            <p:ph idx="1"/>
          </p:nvPr>
        </p:nvSpPr>
        <p:spPr>
          <a:xfrm>
            <a:off x="756284" y="586263"/>
            <a:ext cx="11062335" cy="6008847"/>
          </a:xfrm>
        </p:spPr>
        <p:txBody>
          <a:bodyPr>
            <a:normAutofit fontScale="92500" lnSpcReduction="20000"/>
          </a:bodyPr>
          <a:lstStyle/>
          <a:p>
            <a:pPr marL="0" indent="0">
              <a:buNone/>
            </a:pPr>
            <a:r>
              <a:rPr lang="en-US" sz="3000" dirty="0"/>
              <a:t>git </a:t>
            </a:r>
            <a:r>
              <a:rPr lang="en-US" sz="3000" dirty="0" err="1"/>
              <a:t>init</a:t>
            </a:r>
            <a:r>
              <a:rPr lang="en-US" sz="3000" dirty="0"/>
              <a:t> [repository-name] </a:t>
            </a:r>
          </a:p>
          <a:p>
            <a:pPr marL="0" indent="0">
              <a:buNone/>
            </a:pPr>
            <a:endParaRPr lang="en-US" sz="3000" dirty="0"/>
          </a:p>
          <a:p>
            <a:pPr marL="0" indent="0">
              <a:buNone/>
            </a:pPr>
            <a:endParaRPr lang="en-US" sz="3000" dirty="0"/>
          </a:p>
          <a:p>
            <a:pPr marL="0" indent="0">
              <a:buNone/>
            </a:pPr>
            <a:endParaRPr lang="en-US" sz="3000" dirty="0"/>
          </a:p>
          <a:p>
            <a:pPr marL="0" indent="0">
              <a:buNone/>
            </a:pPr>
            <a:endParaRPr lang="en-US" sz="3000" dirty="0"/>
          </a:p>
          <a:p>
            <a:pPr marL="0" indent="0">
              <a:buNone/>
            </a:pPr>
            <a:endParaRPr lang="en-US" sz="3000" dirty="0"/>
          </a:p>
          <a:p>
            <a:pPr marL="0" indent="0">
              <a:buNone/>
            </a:pPr>
            <a:endParaRPr lang="en-US" sz="3000" dirty="0"/>
          </a:p>
          <a:p>
            <a:pPr marL="0" indent="0">
              <a:buNone/>
            </a:pPr>
            <a:endParaRPr lang="en-US" sz="3000" dirty="0"/>
          </a:p>
          <a:p>
            <a:pPr marL="0" indent="0">
              <a:buNone/>
            </a:pPr>
            <a:endParaRPr lang="en-US" sz="3000" dirty="0"/>
          </a:p>
          <a:p>
            <a:pPr marL="0" indent="0">
              <a:buNone/>
            </a:pPr>
            <a:r>
              <a:rPr lang="en-US" sz="3000" dirty="0"/>
              <a:t>Now you have successfully created a local Git repository.</a:t>
            </a:r>
          </a:p>
          <a:p>
            <a:pPr marL="0" indent="0">
              <a:lnSpc>
                <a:spcPct val="160000"/>
              </a:lnSpc>
              <a:buNone/>
            </a:pPr>
            <a:r>
              <a:rPr lang="en-US" sz="3000" dirty="0"/>
              <a:t>	</a:t>
            </a:r>
          </a:p>
          <a:p>
            <a:pPr marL="0" indent="0">
              <a:buNone/>
            </a:pPr>
            <a:r>
              <a:rPr lang="en-US" dirty="0"/>
              <a:t> 	</a:t>
            </a:r>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0D05442A-9546-3050-FFB2-86F1C88C1B2D}"/>
              </a:ext>
            </a:extLst>
          </p:cNvPr>
          <p:cNvPicPr>
            <a:picLocks noChangeAspect="1"/>
          </p:cNvPicPr>
          <p:nvPr/>
        </p:nvPicPr>
        <p:blipFill>
          <a:blip r:embed="rId2"/>
          <a:stretch>
            <a:fillRect/>
          </a:stretch>
        </p:blipFill>
        <p:spPr>
          <a:xfrm>
            <a:off x="807908" y="1659864"/>
            <a:ext cx="10545892" cy="1769136"/>
          </a:xfrm>
          <a:prstGeom prst="rect">
            <a:avLst/>
          </a:prstGeom>
        </p:spPr>
      </p:pic>
    </p:spTree>
    <p:extLst>
      <p:ext uri="{BB962C8B-B14F-4D97-AF65-F5344CB8AC3E}">
        <p14:creationId xmlns:p14="http://schemas.microsoft.com/office/powerpoint/2010/main" val="1800855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3EC22-54B9-422C-9013-35ED8DD8903B}"/>
              </a:ext>
            </a:extLst>
          </p:cNvPr>
          <p:cNvSpPr>
            <a:spLocks noGrp="1"/>
          </p:cNvSpPr>
          <p:nvPr>
            <p:ph idx="1"/>
          </p:nvPr>
        </p:nvSpPr>
        <p:spPr>
          <a:xfrm>
            <a:off x="708660" y="571500"/>
            <a:ext cx="11121390" cy="5920740"/>
          </a:xfrm>
        </p:spPr>
        <p:txBody>
          <a:bodyPr/>
          <a:lstStyle/>
          <a:p>
            <a:pPr marL="0" indent="0">
              <a:lnSpc>
                <a:spcPct val="160000"/>
              </a:lnSpc>
              <a:buNone/>
            </a:pPr>
            <a:r>
              <a:rPr lang="en-US" b="1" dirty="0"/>
              <a:t>3. Create New Repository on GitHub </a:t>
            </a:r>
            <a:endParaRPr lang="en-US" dirty="0"/>
          </a:p>
          <a:p>
            <a:pPr marL="0" indent="0">
              <a:lnSpc>
                <a:spcPct val="160000"/>
              </a:lnSpc>
              <a:buNone/>
            </a:pPr>
            <a:r>
              <a:rPr lang="en-US" dirty="0"/>
              <a:t>GitHub allows you to keep track of your code when you're working with a team and need to modify the project's code collaboratively.</a:t>
            </a:r>
          </a:p>
          <a:p>
            <a:pPr marL="0" indent="0">
              <a:lnSpc>
                <a:spcPct val="150000"/>
              </a:lnSpc>
              <a:buNone/>
            </a:pPr>
            <a:r>
              <a:rPr lang="en-US" dirty="0"/>
              <a:t>Follow these steps to create a new repository on GitHub: </a:t>
            </a:r>
          </a:p>
          <a:p>
            <a:pPr marL="0" indent="0">
              <a:lnSpc>
                <a:spcPct val="150000"/>
              </a:lnSpc>
              <a:buNone/>
            </a:pPr>
            <a:r>
              <a:rPr lang="en-US" dirty="0"/>
              <a:t>1. Log in and browse to the GitHub home page. </a:t>
            </a:r>
          </a:p>
          <a:p>
            <a:pPr marL="0" indent="0">
              <a:lnSpc>
                <a:spcPct val="150000"/>
              </a:lnSpc>
              <a:buNone/>
            </a:pPr>
            <a:r>
              <a:rPr lang="en-US" dirty="0"/>
              <a:t>2. Find the </a:t>
            </a:r>
            <a:r>
              <a:rPr lang="en-US" b="1" dirty="0"/>
              <a:t>New repository </a:t>
            </a:r>
            <a:r>
              <a:rPr lang="en-US" dirty="0"/>
              <a:t>option under the </a:t>
            </a:r>
            <a:r>
              <a:rPr lang="en-US" b="1" dirty="0"/>
              <a:t>+ </a:t>
            </a:r>
            <a:r>
              <a:rPr lang="en-US" dirty="0"/>
              <a:t>sign next to your profile picture, in the top right corner. 	</a:t>
            </a:r>
          </a:p>
          <a:p>
            <a:pPr marL="0" indent="0">
              <a:lnSpc>
                <a:spcPct val="160000"/>
              </a:lnSpc>
              <a:buNone/>
            </a:pPr>
            <a:endParaRPr lang="en-US" dirty="0"/>
          </a:p>
        </p:txBody>
      </p:sp>
    </p:spTree>
    <p:extLst>
      <p:ext uri="{BB962C8B-B14F-4D97-AF65-F5344CB8AC3E}">
        <p14:creationId xmlns:p14="http://schemas.microsoft.com/office/powerpoint/2010/main" val="2964948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7225DDC-ECDD-4A89-D5C1-E1A43A567007}"/>
              </a:ext>
            </a:extLst>
          </p:cNvPr>
          <p:cNvSpPr>
            <a:spLocks noGrp="1"/>
          </p:cNvSpPr>
          <p:nvPr>
            <p:ph idx="1"/>
          </p:nvPr>
        </p:nvSpPr>
        <p:spPr>
          <a:xfrm>
            <a:off x="674370" y="434340"/>
            <a:ext cx="10679430" cy="5742623"/>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nSpc>
                <a:spcPct val="150000"/>
              </a:lnSpc>
              <a:buNone/>
            </a:pPr>
            <a:endParaRPr lang="en-US" dirty="0"/>
          </a:p>
          <a:p>
            <a:pPr marL="0" indent="0">
              <a:lnSpc>
                <a:spcPct val="150000"/>
              </a:lnSpc>
              <a:buNone/>
            </a:pPr>
            <a:r>
              <a:rPr lang="en-US" dirty="0"/>
              <a:t>3. Enter a name for your repository, provide a brief description, and choose a privacy setting. 	</a:t>
            </a:r>
          </a:p>
          <a:p>
            <a:pPr marL="0" indent="0">
              <a:buNone/>
            </a:pPr>
            <a:endParaRPr lang="en-US" dirty="0"/>
          </a:p>
        </p:txBody>
      </p:sp>
      <p:pic>
        <p:nvPicPr>
          <p:cNvPr id="9" name="Picture 8">
            <a:extLst>
              <a:ext uri="{FF2B5EF4-FFF2-40B4-BE49-F238E27FC236}">
                <a16:creationId xmlns:a16="http://schemas.microsoft.com/office/drawing/2014/main" id="{F9BD19EE-455C-3D73-7A2C-66B68CE5B962}"/>
              </a:ext>
            </a:extLst>
          </p:cNvPr>
          <p:cNvPicPr>
            <a:picLocks noChangeAspect="1"/>
          </p:cNvPicPr>
          <p:nvPr/>
        </p:nvPicPr>
        <p:blipFill>
          <a:blip r:embed="rId2"/>
          <a:stretch>
            <a:fillRect/>
          </a:stretch>
        </p:blipFill>
        <p:spPr>
          <a:xfrm>
            <a:off x="1530262" y="317537"/>
            <a:ext cx="4483823" cy="3821725"/>
          </a:xfrm>
          <a:prstGeom prst="rect">
            <a:avLst/>
          </a:prstGeom>
        </p:spPr>
      </p:pic>
    </p:spTree>
    <p:extLst>
      <p:ext uri="{BB962C8B-B14F-4D97-AF65-F5344CB8AC3E}">
        <p14:creationId xmlns:p14="http://schemas.microsoft.com/office/powerpoint/2010/main" val="29120848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54696DA-C259-2A2A-8B85-CACD990B95A0}"/>
              </a:ext>
            </a:extLst>
          </p:cNvPr>
          <p:cNvSpPr>
            <a:spLocks noGrp="1"/>
          </p:cNvSpPr>
          <p:nvPr>
            <p:ph idx="1"/>
          </p:nvPr>
        </p:nvSpPr>
        <p:spPr>
          <a:xfrm>
            <a:off x="838200" y="449212"/>
            <a:ext cx="11154878" cy="5181567"/>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4. Click the </a:t>
            </a:r>
            <a:r>
              <a:rPr lang="en-US" b="1" dirty="0"/>
              <a:t>Create repository </a:t>
            </a:r>
            <a:r>
              <a:rPr lang="en-US" dirty="0"/>
              <a:t>button. </a:t>
            </a:r>
          </a:p>
          <a:p>
            <a:pPr marL="0" indent="0">
              <a:buNone/>
            </a:pPr>
            <a:r>
              <a:rPr lang="en-US" dirty="0"/>
              <a:t>GitHub allows you to add an existing repo you have </a:t>
            </a:r>
            <a:r>
              <a:rPr lang="en-US" b="1" dirty="0"/>
              <a:t>created locally</a:t>
            </a:r>
            <a:r>
              <a:rPr lang="en-US" dirty="0"/>
              <a:t>. 	</a:t>
            </a:r>
          </a:p>
          <a:p>
            <a:pPr marL="0" indent="0">
              <a:buNone/>
            </a:pPr>
            <a:endParaRPr lang="en-US" dirty="0"/>
          </a:p>
        </p:txBody>
      </p:sp>
      <p:pic>
        <p:nvPicPr>
          <p:cNvPr id="9" name="Picture 8">
            <a:extLst>
              <a:ext uri="{FF2B5EF4-FFF2-40B4-BE49-F238E27FC236}">
                <a16:creationId xmlns:a16="http://schemas.microsoft.com/office/drawing/2014/main" id="{C96D37CC-695E-5341-6BBD-015ED39D6681}"/>
              </a:ext>
            </a:extLst>
          </p:cNvPr>
          <p:cNvPicPr>
            <a:picLocks noChangeAspect="1"/>
          </p:cNvPicPr>
          <p:nvPr/>
        </p:nvPicPr>
        <p:blipFill>
          <a:blip r:embed="rId2"/>
          <a:stretch>
            <a:fillRect/>
          </a:stretch>
        </p:blipFill>
        <p:spPr>
          <a:xfrm>
            <a:off x="1466823" y="449212"/>
            <a:ext cx="6618397" cy="3969690"/>
          </a:xfrm>
          <a:prstGeom prst="rect">
            <a:avLst/>
          </a:prstGeom>
        </p:spPr>
      </p:pic>
    </p:spTree>
    <p:extLst>
      <p:ext uri="{BB962C8B-B14F-4D97-AF65-F5344CB8AC3E}">
        <p14:creationId xmlns:p14="http://schemas.microsoft.com/office/powerpoint/2010/main" val="30050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82607B-7610-6604-75C5-F0C2415DA18B}"/>
              </a:ext>
            </a:extLst>
          </p:cNvPr>
          <p:cNvSpPr>
            <a:spLocks noGrp="1"/>
          </p:cNvSpPr>
          <p:nvPr>
            <p:ph idx="1"/>
          </p:nvPr>
        </p:nvSpPr>
        <p:spPr>
          <a:xfrm>
            <a:off x="721895" y="837398"/>
            <a:ext cx="10992050" cy="5361271"/>
          </a:xfrm>
        </p:spPr>
        <p:txBody>
          <a:bodyPr/>
          <a:lstStyle/>
          <a:p>
            <a:pPr marL="0" indent="0">
              <a:buNone/>
            </a:pPr>
            <a:r>
              <a:rPr lang="en-US" b="1" dirty="0"/>
              <a:t>4.Git commands related to repository </a:t>
            </a:r>
            <a:endParaRPr lang="en-US" dirty="0"/>
          </a:p>
          <a:p>
            <a:pPr marL="0" indent="0">
              <a:buNone/>
            </a:pPr>
            <a:r>
              <a:rPr lang="en-US" b="1" dirty="0"/>
              <a:t>1. git </a:t>
            </a:r>
            <a:r>
              <a:rPr lang="en-US" b="1" dirty="0" err="1"/>
              <a:t>init</a:t>
            </a:r>
            <a:r>
              <a:rPr lang="en-US" b="1" dirty="0"/>
              <a:t>: </a:t>
            </a:r>
            <a:r>
              <a:rPr lang="en-US" dirty="0"/>
              <a:t>Initializes a new Git repository in the current directory. </a:t>
            </a:r>
          </a:p>
          <a:p>
            <a:pPr marL="0" indent="0">
              <a:buNone/>
            </a:pPr>
            <a:r>
              <a:rPr lang="en-US" b="1" dirty="0"/>
              <a:t>Example: </a:t>
            </a:r>
            <a:endParaRPr lang="en-US" dirty="0"/>
          </a:p>
          <a:p>
            <a:pPr marL="0" indent="0">
              <a:buNone/>
            </a:pPr>
            <a:r>
              <a:rPr lang="en-US" b="1" dirty="0"/>
              <a:t>$ git </a:t>
            </a:r>
            <a:r>
              <a:rPr lang="en-US" b="1" dirty="0" err="1"/>
              <a:t>init</a:t>
            </a:r>
            <a:r>
              <a:rPr lang="en-US" b="1" dirty="0"/>
              <a:t> </a:t>
            </a:r>
            <a:endParaRPr lang="en-US" dirty="0"/>
          </a:p>
          <a:p>
            <a:pPr marL="0" indent="0">
              <a:buNone/>
            </a:pPr>
            <a:r>
              <a:rPr lang="en-US" b="1" dirty="0"/>
              <a:t>2. git clone &lt;repository&gt;: </a:t>
            </a:r>
            <a:r>
              <a:rPr lang="en-US" dirty="0"/>
              <a:t>Creates a copy of a remote repository on your local machine. </a:t>
            </a:r>
          </a:p>
          <a:p>
            <a:pPr marL="0" indent="0">
              <a:buNone/>
            </a:pPr>
            <a:r>
              <a:rPr lang="en-US" b="1" dirty="0"/>
              <a:t>Example: </a:t>
            </a:r>
            <a:endParaRPr lang="en-US" dirty="0"/>
          </a:p>
          <a:p>
            <a:pPr marL="0" indent="0">
              <a:buNone/>
            </a:pPr>
            <a:r>
              <a:rPr lang="en-US" b="1" dirty="0"/>
              <a:t>$ git clone https</a:t>
            </a:r>
            <a:r>
              <a:rPr lang="en-US" dirty="0"/>
              <a:t>://github.com/user/repository.git 	</a:t>
            </a:r>
          </a:p>
          <a:p>
            <a:pPr marL="0" indent="0">
              <a:buNone/>
            </a:pPr>
            <a:endParaRPr lang="en-US" dirty="0"/>
          </a:p>
        </p:txBody>
      </p:sp>
    </p:spTree>
    <p:extLst>
      <p:ext uri="{BB962C8B-B14F-4D97-AF65-F5344CB8AC3E}">
        <p14:creationId xmlns:p14="http://schemas.microsoft.com/office/powerpoint/2010/main" val="3963877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CC4E1B-F2A1-3706-879E-3009501823AC}"/>
              </a:ext>
            </a:extLst>
          </p:cNvPr>
          <p:cNvSpPr>
            <a:spLocks noGrp="1"/>
          </p:cNvSpPr>
          <p:nvPr>
            <p:ph idx="1"/>
          </p:nvPr>
        </p:nvSpPr>
        <p:spPr>
          <a:xfrm>
            <a:off x="635267" y="943276"/>
            <a:ext cx="10718533" cy="5233687"/>
          </a:xfrm>
        </p:spPr>
        <p:txBody>
          <a:bodyPr/>
          <a:lstStyle/>
          <a:p>
            <a:endParaRPr lang="en-US" dirty="0"/>
          </a:p>
          <a:p>
            <a:pPr marL="0" indent="0">
              <a:buNone/>
            </a:pPr>
            <a:r>
              <a:rPr lang="en-US" b="1" dirty="0"/>
              <a:t>3. git remote add &lt;name&gt; &lt;</a:t>
            </a:r>
            <a:r>
              <a:rPr lang="en-US" b="1" dirty="0" err="1"/>
              <a:t>url</a:t>
            </a:r>
            <a:r>
              <a:rPr lang="en-US" b="1" dirty="0"/>
              <a:t>&gt;: </a:t>
            </a:r>
            <a:r>
              <a:rPr lang="en-US" dirty="0"/>
              <a:t>Adds a remote repository to your local repository. </a:t>
            </a:r>
          </a:p>
          <a:p>
            <a:pPr marL="0" indent="0">
              <a:buNone/>
            </a:pPr>
            <a:r>
              <a:rPr lang="en-US" b="1" dirty="0"/>
              <a:t>Example: </a:t>
            </a:r>
            <a:endParaRPr lang="en-US" dirty="0"/>
          </a:p>
          <a:p>
            <a:pPr marL="0" indent="0">
              <a:buNone/>
            </a:pPr>
            <a:r>
              <a:rPr lang="en-US" dirty="0"/>
              <a:t>$ git remote add origin https://github.com/user/repository.git </a:t>
            </a:r>
          </a:p>
          <a:p>
            <a:pPr marL="0" indent="0">
              <a:buNone/>
            </a:pPr>
            <a:r>
              <a:rPr lang="en-US" b="1" dirty="0"/>
              <a:t>git remote remove &lt;name&gt;: </a:t>
            </a:r>
            <a:r>
              <a:rPr lang="en-US" dirty="0"/>
              <a:t>Removes a remote repository from your local repository. </a:t>
            </a:r>
          </a:p>
          <a:p>
            <a:pPr marL="0" indent="0">
              <a:buNone/>
            </a:pPr>
            <a:r>
              <a:rPr lang="en-US" b="1" dirty="0"/>
              <a:t>Example:</a:t>
            </a:r>
          </a:p>
          <a:p>
            <a:pPr marL="0" indent="0">
              <a:buNone/>
            </a:pPr>
            <a:r>
              <a:rPr lang="en-US" b="1" dirty="0"/>
              <a:t>$ git remote remove origin </a:t>
            </a:r>
            <a:r>
              <a:rPr lang="en-US" dirty="0"/>
              <a:t>	</a:t>
            </a:r>
          </a:p>
          <a:p>
            <a:pPr marL="0" indent="0">
              <a:buNone/>
            </a:pPr>
            <a:r>
              <a:rPr lang="en-US" b="1" dirty="0"/>
              <a:t> </a:t>
            </a:r>
            <a:r>
              <a:rPr lang="en-US" dirty="0"/>
              <a:t>	</a:t>
            </a:r>
          </a:p>
          <a:p>
            <a:pPr marL="0" indent="0">
              <a:buNone/>
            </a:pPr>
            <a:endParaRPr lang="en-US" dirty="0"/>
          </a:p>
        </p:txBody>
      </p:sp>
    </p:spTree>
    <p:extLst>
      <p:ext uri="{BB962C8B-B14F-4D97-AF65-F5344CB8AC3E}">
        <p14:creationId xmlns:p14="http://schemas.microsoft.com/office/powerpoint/2010/main" val="4039047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B5AACA-81B7-1558-8101-87ACAC830180}"/>
              </a:ext>
            </a:extLst>
          </p:cNvPr>
          <p:cNvSpPr>
            <a:spLocks noGrp="1"/>
          </p:cNvSpPr>
          <p:nvPr>
            <p:ph idx="1"/>
          </p:nvPr>
        </p:nvSpPr>
        <p:spPr>
          <a:xfrm>
            <a:off x="750771" y="712270"/>
            <a:ext cx="11040177" cy="5342021"/>
          </a:xfrm>
        </p:spPr>
        <p:txBody>
          <a:bodyPr>
            <a:normAutofit/>
          </a:bodyPr>
          <a:lstStyle/>
          <a:p>
            <a:endParaRPr lang="en-US" dirty="0"/>
          </a:p>
          <a:p>
            <a:pPr marL="0" indent="0">
              <a:buNone/>
            </a:pPr>
            <a:r>
              <a:rPr lang="en-US" b="1" dirty="0"/>
              <a:t>5. git remote -v: </a:t>
            </a:r>
            <a:r>
              <a:rPr lang="en-US" dirty="0"/>
              <a:t>Lists the remote repositories associated with your local repository. </a:t>
            </a:r>
          </a:p>
          <a:p>
            <a:pPr marL="0" indent="0">
              <a:buNone/>
            </a:pPr>
            <a:r>
              <a:rPr lang="en-US" b="1" dirty="0"/>
              <a:t>Example: </a:t>
            </a:r>
            <a:endParaRPr lang="en-US" dirty="0"/>
          </a:p>
          <a:p>
            <a:pPr marL="0" indent="0">
              <a:buNone/>
            </a:pPr>
            <a:r>
              <a:rPr lang="en-US" b="1" dirty="0"/>
              <a:t>$ git remote -v </a:t>
            </a:r>
            <a:endParaRPr lang="en-US" dirty="0"/>
          </a:p>
          <a:p>
            <a:pPr marL="0" indent="0">
              <a:buNone/>
            </a:pPr>
            <a:r>
              <a:rPr lang="en-US" b="1" dirty="0"/>
              <a:t>6. git fetch &lt;remote&gt;: </a:t>
            </a:r>
            <a:r>
              <a:rPr lang="en-US" dirty="0"/>
              <a:t>Fetches the latest changes from a remote repository without merging them. </a:t>
            </a:r>
          </a:p>
          <a:p>
            <a:pPr marL="0" indent="0">
              <a:buNone/>
            </a:pPr>
            <a:r>
              <a:rPr lang="en-US" b="1" dirty="0"/>
              <a:t>Example: </a:t>
            </a:r>
            <a:endParaRPr lang="en-US" dirty="0"/>
          </a:p>
          <a:p>
            <a:pPr marL="0" indent="0">
              <a:buNone/>
            </a:pPr>
            <a:r>
              <a:rPr lang="en-US" b="1" dirty="0"/>
              <a:t>$ git fetch origin </a:t>
            </a:r>
            <a:r>
              <a:rPr lang="en-US" dirty="0"/>
              <a:t>	</a:t>
            </a:r>
          </a:p>
          <a:p>
            <a:pPr marL="0" indent="0">
              <a:buNone/>
            </a:pPr>
            <a:endParaRPr lang="en-US" dirty="0"/>
          </a:p>
        </p:txBody>
      </p:sp>
    </p:spTree>
    <p:extLst>
      <p:ext uri="{BB962C8B-B14F-4D97-AF65-F5344CB8AC3E}">
        <p14:creationId xmlns:p14="http://schemas.microsoft.com/office/powerpoint/2010/main" val="430315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702E58-4D73-12CF-D0B7-5111D678AE10}"/>
              </a:ext>
            </a:extLst>
          </p:cNvPr>
          <p:cNvSpPr>
            <a:spLocks noGrp="1"/>
          </p:cNvSpPr>
          <p:nvPr>
            <p:ph idx="1"/>
          </p:nvPr>
        </p:nvSpPr>
        <p:spPr>
          <a:xfrm>
            <a:off x="808521" y="1155031"/>
            <a:ext cx="10915049" cy="5351647"/>
          </a:xfrm>
        </p:spPr>
        <p:txBody>
          <a:bodyPr>
            <a:normAutofit/>
          </a:bodyPr>
          <a:lstStyle/>
          <a:p>
            <a:pPr marL="0" indent="0">
              <a:buNone/>
            </a:pPr>
            <a:r>
              <a:rPr lang="en-US" dirty="0"/>
              <a:t>7. </a:t>
            </a:r>
            <a:r>
              <a:rPr lang="en-US" b="1" dirty="0"/>
              <a:t>git pull &lt;remote&gt; &lt;branch&gt;: </a:t>
            </a:r>
            <a:r>
              <a:rPr lang="en-US" dirty="0"/>
              <a:t>Fetches the latest changes from a remote repository and merges them into the current branch. </a:t>
            </a:r>
          </a:p>
          <a:p>
            <a:pPr marL="0" indent="0">
              <a:buNone/>
            </a:pPr>
            <a:r>
              <a:rPr lang="en-US" b="1" dirty="0"/>
              <a:t>Example: </a:t>
            </a:r>
            <a:endParaRPr lang="en-US" dirty="0"/>
          </a:p>
          <a:p>
            <a:pPr marL="0" indent="0">
              <a:buNone/>
            </a:pPr>
            <a:r>
              <a:rPr lang="en-US" b="1" dirty="0"/>
              <a:t>$ git pull origin main </a:t>
            </a:r>
            <a:endParaRPr lang="en-US" dirty="0"/>
          </a:p>
          <a:p>
            <a:pPr marL="0" indent="0">
              <a:buNone/>
            </a:pPr>
            <a:r>
              <a:rPr lang="en-US" b="1" dirty="0"/>
              <a:t>8. git push &lt;remote&gt; &lt;branch&gt;: </a:t>
            </a:r>
            <a:r>
              <a:rPr lang="en-US" dirty="0"/>
              <a:t>Pushes your local changes to a remote repository. </a:t>
            </a:r>
          </a:p>
          <a:p>
            <a:pPr marL="0" indent="0">
              <a:buNone/>
            </a:pPr>
            <a:r>
              <a:rPr lang="en-US" b="1" dirty="0"/>
              <a:t>Example: </a:t>
            </a:r>
            <a:endParaRPr lang="en-US" dirty="0"/>
          </a:p>
          <a:p>
            <a:pPr marL="0" indent="0">
              <a:buNone/>
            </a:pPr>
            <a:r>
              <a:rPr lang="en-US" b="1" dirty="0"/>
              <a:t>$ git push origin main </a:t>
            </a:r>
            <a:endParaRPr lang="en-US" dirty="0"/>
          </a:p>
          <a:p>
            <a:pPr marL="0" indent="0">
              <a:buNone/>
            </a:pPr>
            <a:endParaRPr lang="en-US" dirty="0"/>
          </a:p>
        </p:txBody>
      </p:sp>
    </p:spTree>
    <p:extLst>
      <p:ext uri="{BB962C8B-B14F-4D97-AF65-F5344CB8AC3E}">
        <p14:creationId xmlns:p14="http://schemas.microsoft.com/office/powerpoint/2010/main" val="758209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2AFA7-7CBD-F830-7314-E9CB53716088}"/>
              </a:ext>
            </a:extLst>
          </p:cNvPr>
          <p:cNvSpPr>
            <a:spLocks noGrp="1"/>
          </p:cNvSpPr>
          <p:nvPr>
            <p:ph idx="1"/>
          </p:nvPr>
        </p:nvSpPr>
        <p:spPr>
          <a:xfrm>
            <a:off x="837397" y="1135782"/>
            <a:ext cx="10963176" cy="5390146"/>
          </a:xfrm>
        </p:spPr>
        <p:txBody>
          <a:bodyPr>
            <a:normAutofit/>
          </a:bodyPr>
          <a:lstStyle/>
          <a:p>
            <a:pPr marL="0" indent="0">
              <a:buNone/>
            </a:pPr>
            <a:r>
              <a:rPr lang="en-US" b="1" dirty="0"/>
              <a:t>9. git branch: </a:t>
            </a:r>
            <a:r>
              <a:rPr lang="en-US" dirty="0"/>
              <a:t>Lists all the branches in your repository. </a:t>
            </a:r>
          </a:p>
          <a:p>
            <a:pPr marL="0" indent="0">
              <a:buNone/>
            </a:pPr>
            <a:r>
              <a:rPr lang="en-US" b="1" dirty="0"/>
              <a:t>Example: </a:t>
            </a:r>
            <a:endParaRPr lang="en-US" dirty="0"/>
          </a:p>
          <a:p>
            <a:pPr marL="0" indent="0">
              <a:buNone/>
            </a:pPr>
            <a:r>
              <a:rPr lang="en-US" b="1" dirty="0"/>
              <a:t>$ git branch </a:t>
            </a:r>
            <a:r>
              <a:rPr lang="en-US" dirty="0"/>
              <a:t>	</a:t>
            </a:r>
          </a:p>
          <a:p>
            <a:pPr marL="0" indent="0">
              <a:buNone/>
            </a:pPr>
            <a:r>
              <a:rPr lang="en-US" b="1" dirty="0"/>
              <a:t>10. git branch &lt;</a:t>
            </a:r>
            <a:r>
              <a:rPr lang="en-US" b="1" dirty="0" err="1"/>
              <a:t>branch_name</a:t>
            </a:r>
            <a:r>
              <a:rPr lang="en-US" b="1" dirty="0"/>
              <a:t>&gt;: </a:t>
            </a:r>
            <a:r>
              <a:rPr lang="en-US" dirty="0"/>
              <a:t>Creates a new branch in your repository. </a:t>
            </a:r>
          </a:p>
          <a:p>
            <a:pPr marL="0" indent="0">
              <a:buNone/>
            </a:pPr>
            <a:r>
              <a:rPr lang="en-US" b="1" dirty="0"/>
              <a:t>Example: </a:t>
            </a:r>
            <a:endParaRPr lang="en-US" dirty="0"/>
          </a:p>
          <a:p>
            <a:pPr marL="0" indent="0">
              <a:buNone/>
            </a:pPr>
            <a:r>
              <a:rPr lang="en-US" b="1" dirty="0"/>
              <a:t>$ git branch new-feature </a:t>
            </a:r>
            <a:endParaRPr lang="en-US" dirty="0"/>
          </a:p>
          <a:p>
            <a:pPr marL="0" indent="0">
              <a:buNone/>
            </a:pPr>
            <a:r>
              <a:rPr lang="en-US" b="1" dirty="0"/>
              <a:t>11. git checkout &lt;branch&gt;: </a:t>
            </a:r>
            <a:r>
              <a:rPr lang="en-US" dirty="0"/>
              <a:t>Switches to an existing branch in your repository. </a:t>
            </a:r>
          </a:p>
          <a:p>
            <a:pPr marL="0" indent="0">
              <a:buNone/>
            </a:pPr>
            <a:r>
              <a:rPr lang="en-US" b="1" dirty="0"/>
              <a:t>Example: </a:t>
            </a:r>
            <a:endParaRPr lang="en-US" dirty="0"/>
          </a:p>
          <a:p>
            <a:pPr marL="0" indent="0">
              <a:buNone/>
            </a:pPr>
            <a:r>
              <a:rPr lang="en-US" dirty="0"/>
              <a:t>$ git checkout main 	</a:t>
            </a:r>
          </a:p>
          <a:p>
            <a:pPr marL="0" indent="0">
              <a:buNone/>
            </a:pPr>
            <a:endParaRPr lang="en-US" dirty="0"/>
          </a:p>
        </p:txBody>
      </p:sp>
    </p:spTree>
    <p:extLst>
      <p:ext uri="{BB962C8B-B14F-4D97-AF65-F5344CB8AC3E}">
        <p14:creationId xmlns:p14="http://schemas.microsoft.com/office/powerpoint/2010/main" val="3297113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DE71E1-D87A-B5CF-1691-8E78AE06F51B}"/>
              </a:ext>
            </a:extLst>
          </p:cNvPr>
          <p:cNvSpPr>
            <a:spLocks noGrp="1"/>
          </p:cNvSpPr>
          <p:nvPr>
            <p:ph idx="1"/>
          </p:nvPr>
        </p:nvSpPr>
        <p:spPr>
          <a:xfrm>
            <a:off x="664143" y="1087655"/>
            <a:ext cx="11059428" cy="5216892"/>
          </a:xfrm>
        </p:spPr>
        <p:txBody>
          <a:bodyPr/>
          <a:lstStyle/>
          <a:p>
            <a:pPr marL="0" indent="0">
              <a:buNone/>
            </a:pPr>
            <a:r>
              <a:rPr lang="en-US" dirty="0"/>
              <a:t>12. </a:t>
            </a:r>
            <a:r>
              <a:rPr lang="en-US" b="1" dirty="0"/>
              <a:t>git checkout -b &lt;</a:t>
            </a:r>
            <a:r>
              <a:rPr lang="en-US" b="1" dirty="0" err="1"/>
              <a:t>branch_name</a:t>
            </a:r>
            <a:r>
              <a:rPr lang="en-US" b="1" dirty="0"/>
              <a:t>&gt;: </a:t>
            </a:r>
            <a:r>
              <a:rPr lang="en-US" dirty="0"/>
              <a:t>Creates and switches to a new branch in your repository. </a:t>
            </a:r>
          </a:p>
          <a:p>
            <a:pPr marL="0" indent="0">
              <a:buNone/>
            </a:pPr>
            <a:r>
              <a:rPr lang="en-US" b="1" dirty="0"/>
              <a:t>Example: </a:t>
            </a:r>
            <a:r>
              <a:rPr lang="en-US" dirty="0"/>
              <a:t>	</a:t>
            </a:r>
          </a:p>
          <a:p>
            <a:pPr marL="0" indent="0">
              <a:buNone/>
            </a:pPr>
            <a:r>
              <a:rPr lang="en-US" dirty="0"/>
              <a:t>$ git checkout -b new-feature </a:t>
            </a:r>
          </a:p>
          <a:p>
            <a:pPr marL="0" indent="0">
              <a:buNone/>
            </a:pPr>
            <a:r>
              <a:rPr lang="en-US" b="1" dirty="0"/>
              <a:t>13. git merge &lt;branch&gt;: </a:t>
            </a:r>
            <a:r>
              <a:rPr lang="en-US" dirty="0"/>
              <a:t>Merges a branch into the current branch. </a:t>
            </a:r>
          </a:p>
          <a:p>
            <a:pPr marL="0" indent="0">
              <a:buNone/>
            </a:pPr>
            <a:r>
              <a:rPr lang="en-US" b="1" dirty="0"/>
              <a:t>Example: </a:t>
            </a:r>
            <a:endParaRPr lang="en-US" dirty="0"/>
          </a:p>
          <a:p>
            <a:pPr marL="0" indent="0">
              <a:buNone/>
            </a:pPr>
            <a:r>
              <a:rPr lang="en-US" dirty="0"/>
              <a:t>$ git merge feature-branch 	</a:t>
            </a:r>
          </a:p>
          <a:p>
            <a:pPr marL="0" indent="0">
              <a:buNone/>
            </a:pPr>
            <a:endParaRPr lang="en-US" dirty="0"/>
          </a:p>
        </p:txBody>
      </p:sp>
    </p:spTree>
    <p:extLst>
      <p:ext uri="{BB962C8B-B14F-4D97-AF65-F5344CB8AC3E}">
        <p14:creationId xmlns:p14="http://schemas.microsoft.com/office/powerpoint/2010/main" val="2446118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341FF7-4A74-A762-3C15-0BF2E5548CB6}"/>
              </a:ext>
            </a:extLst>
          </p:cNvPr>
          <p:cNvSpPr>
            <a:spLocks noGrp="1"/>
          </p:cNvSpPr>
          <p:nvPr>
            <p:ph idx="1"/>
          </p:nvPr>
        </p:nvSpPr>
        <p:spPr>
          <a:xfrm>
            <a:off x="625642" y="1299410"/>
            <a:ext cx="10712918" cy="5043637"/>
          </a:xfrm>
        </p:spPr>
        <p:txBody>
          <a:bodyPr>
            <a:normAutofit/>
          </a:bodyPr>
          <a:lstStyle/>
          <a:p>
            <a:pPr marL="0" indent="0">
              <a:buNone/>
            </a:pPr>
            <a:r>
              <a:rPr lang="en-US" b="1" dirty="0"/>
              <a:t>14. git add &lt;file&gt;: </a:t>
            </a:r>
            <a:r>
              <a:rPr lang="en-US" dirty="0"/>
              <a:t>Adds a file to the staging area to be included in the next commit. </a:t>
            </a:r>
          </a:p>
          <a:p>
            <a:pPr marL="0" indent="0">
              <a:buNone/>
            </a:pPr>
            <a:r>
              <a:rPr lang="en-US" b="1" dirty="0"/>
              <a:t>Example: </a:t>
            </a:r>
            <a:endParaRPr lang="en-US" dirty="0"/>
          </a:p>
          <a:p>
            <a:pPr marL="0" indent="0">
              <a:buNone/>
            </a:pPr>
            <a:r>
              <a:rPr lang="en-US" dirty="0"/>
              <a:t>$ git add myfile.txt </a:t>
            </a:r>
          </a:p>
          <a:p>
            <a:pPr marL="0" indent="0">
              <a:buNone/>
            </a:pPr>
            <a:r>
              <a:rPr lang="en-US" b="1" dirty="0"/>
              <a:t>15. git commit -m "&lt;message&gt;": </a:t>
            </a:r>
            <a:r>
              <a:rPr lang="en-US" dirty="0"/>
              <a:t>Commits the changes in the staging area with a descriptive message. </a:t>
            </a:r>
          </a:p>
          <a:p>
            <a:pPr marL="0" indent="0">
              <a:buNone/>
            </a:pPr>
            <a:r>
              <a:rPr lang="en-US" b="1" dirty="0"/>
              <a:t>Example: </a:t>
            </a:r>
            <a:endParaRPr lang="en-US" dirty="0"/>
          </a:p>
          <a:p>
            <a:pPr marL="0" indent="0">
              <a:buNone/>
            </a:pPr>
            <a:r>
              <a:rPr lang="en-US" dirty="0"/>
              <a:t>$ git commit -m "Fix bug #123" 	</a:t>
            </a:r>
          </a:p>
          <a:p>
            <a:pPr marL="0" indent="0">
              <a:buNone/>
            </a:pPr>
            <a:endParaRPr lang="en-US" dirty="0"/>
          </a:p>
        </p:txBody>
      </p:sp>
    </p:spTree>
    <p:extLst>
      <p:ext uri="{BB962C8B-B14F-4D97-AF65-F5344CB8AC3E}">
        <p14:creationId xmlns:p14="http://schemas.microsoft.com/office/powerpoint/2010/main" val="334851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60A7B7-FABA-D0E9-1BEE-5C6754F4D6E7}"/>
              </a:ext>
            </a:extLst>
          </p:cNvPr>
          <p:cNvSpPr>
            <a:spLocks noGrp="1"/>
          </p:cNvSpPr>
          <p:nvPr>
            <p:ph idx="1"/>
          </p:nvPr>
        </p:nvSpPr>
        <p:spPr>
          <a:xfrm>
            <a:off x="683394" y="1193533"/>
            <a:ext cx="11146054" cy="5332395"/>
          </a:xfrm>
        </p:spPr>
        <p:txBody>
          <a:bodyPr>
            <a:normAutofit/>
          </a:bodyPr>
          <a:lstStyle/>
          <a:p>
            <a:pPr marL="0" indent="0">
              <a:buNone/>
            </a:pPr>
            <a:r>
              <a:rPr lang="en-US" dirty="0"/>
              <a:t>16. </a:t>
            </a:r>
            <a:r>
              <a:rPr lang="en-US" b="1" dirty="0"/>
              <a:t>git log: </a:t>
            </a:r>
            <a:r>
              <a:rPr lang="en-US" dirty="0"/>
              <a:t>Displays a log of commits in reverse chronological order. </a:t>
            </a:r>
          </a:p>
          <a:p>
            <a:pPr marL="0" indent="0">
              <a:buNone/>
            </a:pPr>
            <a:r>
              <a:rPr lang="en-US" b="1" dirty="0"/>
              <a:t>Example: </a:t>
            </a:r>
            <a:endParaRPr lang="en-US" dirty="0"/>
          </a:p>
          <a:p>
            <a:pPr marL="0" indent="0">
              <a:buNone/>
            </a:pPr>
            <a:r>
              <a:rPr lang="en-US" dirty="0"/>
              <a:t>$ git log </a:t>
            </a:r>
          </a:p>
          <a:p>
            <a:pPr marL="0" indent="0">
              <a:buNone/>
            </a:pPr>
            <a:r>
              <a:rPr lang="en-US" b="1" dirty="0"/>
              <a:t>17. git status: </a:t>
            </a:r>
            <a:r>
              <a:rPr lang="en-US" dirty="0"/>
              <a:t>Shows the current state of your repository, including any untracked, modified, or staged files. </a:t>
            </a:r>
          </a:p>
          <a:p>
            <a:pPr marL="0" indent="0">
              <a:buNone/>
            </a:pPr>
            <a:r>
              <a:rPr lang="en-US" b="1" dirty="0"/>
              <a:t>Example: </a:t>
            </a:r>
            <a:endParaRPr lang="en-US" dirty="0"/>
          </a:p>
          <a:p>
            <a:pPr marL="0" indent="0">
              <a:buNone/>
            </a:pPr>
            <a:r>
              <a:rPr lang="en-US" dirty="0"/>
              <a:t>$ git status 	</a:t>
            </a:r>
          </a:p>
          <a:p>
            <a:pPr marL="0" indent="0">
              <a:buNone/>
            </a:pPr>
            <a:r>
              <a:rPr lang="en-US" b="1" dirty="0"/>
              <a:t>18. git diff: </a:t>
            </a:r>
            <a:r>
              <a:rPr lang="en-US" dirty="0"/>
              <a:t>Shows the differences between the working directory and the staging area. </a:t>
            </a:r>
          </a:p>
          <a:p>
            <a:pPr marL="0" indent="0">
              <a:buNone/>
            </a:pPr>
            <a:r>
              <a:rPr lang="en-US" b="1" dirty="0"/>
              <a:t>Example: </a:t>
            </a:r>
            <a:endParaRPr lang="en-US" dirty="0"/>
          </a:p>
          <a:p>
            <a:pPr marL="0" indent="0">
              <a:buNone/>
            </a:pPr>
            <a:r>
              <a:rPr lang="en-US" dirty="0"/>
              <a:t>$ git diff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9192832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4A64AD-EF24-6FF2-5A95-46397347895E}"/>
              </a:ext>
            </a:extLst>
          </p:cNvPr>
          <p:cNvSpPr>
            <a:spLocks noGrp="1"/>
          </p:cNvSpPr>
          <p:nvPr>
            <p:ph idx="1"/>
          </p:nvPr>
        </p:nvSpPr>
        <p:spPr>
          <a:xfrm>
            <a:off x="693018" y="1289785"/>
            <a:ext cx="10953550" cy="5226517"/>
          </a:xfrm>
        </p:spPr>
        <p:txBody>
          <a:bodyPr>
            <a:normAutofit fontScale="85000" lnSpcReduction="20000"/>
          </a:bodyPr>
          <a:lstStyle/>
          <a:p>
            <a:pPr marL="0" indent="0">
              <a:lnSpc>
                <a:spcPct val="120000"/>
              </a:lnSpc>
              <a:buNone/>
            </a:pPr>
            <a:r>
              <a:rPr lang="en-US" sz="3300" b="1" dirty="0"/>
              <a:t>Steps to follow when performing the git-config command </a:t>
            </a:r>
            <a:endParaRPr lang="en-US" sz="3300" dirty="0"/>
          </a:p>
          <a:p>
            <a:pPr marL="0" indent="0">
              <a:lnSpc>
                <a:spcPct val="120000"/>
              </a:lnSpc>
              <a:buNone/>
            </a:pPr>
            <a:r>
              <a:rPr lang="en-US" sz="3300" b="1" dirty="0"/>
              <a:t>1. </a:t>
            </a:r>
            <a:r>
              <a:rPr lang="en-US" sz="3300" dirty="0"/>
              <a:t>Open a terminal or command prompt </a:t>
            </a:r>
          </a:p>
          <a:p>
            <a:pPr marL="0" indent="0">
              <a:lnSpc>
                <a:spcPct val="120000"/>
              </a:lnSpc>
              <a:buNone/>
            </a:pPr>
            <a:r>
              <a:rPr lang="en-US" sz="3300" b="1" dirty="0"/>
              <a:t>2. </a:t>
            </a:r>
            <a:r>
              <a:rPr lang="en-US" sz="3300" dirty="0"/>
              <a:t>Check existing configurations (optional)</a:t>
            </a:r>
          </a:p>
          <a:p>
            <a:pPr marL="0" indent="0">
              <a:lnSpc>
                <a:spcPct val="120000"/>
              </a:lnSpc>
              <a:buNone/>
            </a:pPr>
            <a:r>
              <a:rPr lang="en-US" sz="3300" b="1" dirty="0"/>
              <a:t>3. </a:t>
            </a:r>
            <a:r>
              <a:rPr lang="en-US" sz="3300" dirty="0"/>
              <a:t>Set global or local configurations </a:t>
            </a:r>
          </a:p>
          <a:p>
            <a:pPr marL="0" indent="0">
              <a:lnSpc>
                <a:spcPct val="120000"/>
              </a:lnSpc>
              <a:buNone/>
            </a:pPr>
            <a:r>
              <a:rPr lang="en-US" sz="3300" b="1" dirty="0"/>
              <a:t>4. </a:t>
            </a:r>
            <a:r>
              <a:rPr lang="en-US" sz="3300" dirty="0"/>
              <a:t>Modify existing configurations </a:t>
            </a:r>
          </a:p>
          <a:p>
            <a:pPr marL="0" indent="0">
              <a:lnSpc>
                <a:spcPct val="120000"/>
              </a:lnSpc>
              <a:buNone/>
            </a:pPr>
            <a:r>
              <a:rPr lang="en-US" sz="3300" b="1" dirty="0"/>
              <a:t>5. </a:t>
            </a:r>
            <a:r>
              <a:rPr lang="en-US" sz="3300" dirty="0"/>
              <a:t>Remove configurations </a:t>
            </a:r>
          </a:p>
          <a:p>
            <a:pPr marL="0" indent="0">
              <a:lnSpc>
                <a:spcPct val="120000"/>
              </a:lnSpc>
              <a:buNone/>
            </a:pPr>
            <a:r>
              <a:rPr lang="en-US" sz="3300" b="1" dirty="0"/>
              <a:t>6. </a:t>
            </a:r>
            <a:r>
              <a:rPr lang="en-US" sz="3300" dirty="0"/>
              <a:t>Confirm configurations </a:t>
            </a:r>
          </a:p>
          <a:p>
            <a:pPr marL="0" indent="0">
              <a:lnSpc>
                <a:spcPct val="120000"/>
              </a:lnSpc>
              <a:buNone/>
            </a:pPr>
            <a:r>
              <a:rPr lang="en-US" sz="3300" dirty="0"/>
              <a:t>	</a:t>
            </a:r>
          </a:p>
          <a:p>
            <a:pPr marL="0" indent="0">
              <a:buNone/>
            </a:pPr>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523396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3EA610-6BC7-00BB-232A-AA1074AE4275}"/>
              </a:ext>
            </a:extLst>
          </p:cNvPr>
          <p:cNvSpPr>
            <a:spLocks noGrp="1"/>
          </p:cNvSpPr>
          <p:nvPr>
            <p:ph idx="1"/>
          </p:nvPr>
        </p:nvSpPr>
        <p:spPr>
          <a:xfrm>
            <a:off x="838199" y="1222408"/>
            <a:ext cx="10981624" cy="5332396"/>
          </a:xfrm>
        </p:spPr>
        <p:txBody>
          <a:bodyPr/>
          <a:lstStyle/>
          <a:p>
            <a:pPr marL="0" indent="0">
              <a:lnSpc>
                <a:spcPct val="150000"/>
              </a:lnSpc>
              <a:buNone/>
            </a:pPr>
            <a:r>
              <a:rPr lang="en-US" b="1" dirty="0"/>
              <a:t>Learning Outcome 2: Manipulate Files</a:t>
            </a:r>
          </a:p>
          <a:p>
            <a:pPr marL="0" indent="0">
              <a:lnSpc>
                <a:spcPct val="150000"/>
              </a:lnSpc>
              <a:buNone/>
            </a:pPr>
            <a:r>
              <a:rPr lang="en-US" b="1" dirty="0"/>
              <a:t>Indicative content 2.1: Add file change to Git staging area</a:t>
            </a:r>
          </a:p>
          <a:p>
            <a:pPr marL="0" indent="0">
              <a:lnSpc>
                <a:spcPct val="150000"/>
              </a:lnSpc>
              <a:buNone/>
            </a:pPr>
            <a:r>
              <a:rPr lang="en-US" b="1" dirty="0"/>
              <a:t>2.1.1: Description of staging area </a:t>
            </a:r>
          </a:p>
          <a:p>
            <a:pPr marL="0" indent="0">
              <a:lnSpc>
                <a:spcPct val="150000"/>
              </a:lnSpc>
              <a:buNone/>
            </a:pPr>
            <a:r>
              <a:rPr lang="en-US" b="1" dirty="0"/>
              <a:t>1. The staging area </a:t>
            </a:r>
            <a:endParaRPr lang="en-US" dirty="0"/>
          </a:p>
          <a:p>
            <a:pPr marL="0" indent="0">
              <a:lnSpc>
                <a:spcPct val="150000"/>
              </a:lnSpc>
              <a:buNone/>
            </a:pPr>
            <a:r>
              <a:rPr lang="en-US" dirty="0"/>
              <a:t>In Git, the staging area, also known as the index, is a crucial intermediate step in the Git workflow that allows users to prepare and organize changes before committing them to the repository. 	</a:t>
            </a:r>
          </a:p>
          <a:p>
            <a:pPr marL="0" indent="0">
              <a:buNone/>
            </a:pPr>
            <a:endParaRPr lang="en-US" dirty="0"/>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22992916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B15690-4487-2DA2-E53B-D65D663B92D1}"/>
              </a:ext>
            </a:extLst>
          </p:cNvPr>
          <p:cNvSpPr>
            <a:spLocks noGrp="1"/>
          </p:cNvSpPr>
          <p:nvPr>
            <p:ph idx="1"/>
          </p:nvPr>
        </p:nvSpPr>
        <p:spPr>
          <a:xfrm>
            <a:off x="413886" y="695425"/>
            <a:ext cx="11656194" cy="5503244"/>
          </a:xfrm>
        </p:spPr>
        <p:txBody>
          <a:bodyPr>
            <a:normAutofit fontScale="92500"/>
          </a:bodyPr>
          <a:lstStyle/>
          <a:p>
            <a:pPr marL="0" indent="0">
              <a:lnSpc>
                <a:spcPct val="150000"/>
              </a:lnSpc>
              <a:buNone/>
            </a:pPr>
            <a:r>
              <a:rPr lang="en-US" dirty="0"/>
              <a:t>By using the `</a:t>
            </a:r>
            <a:r>
              <a:rPr lang="en-US" b="1" dirty="0"/>
              <a:t>git add</a:t>
            </a:r>
            <a:r>
              <a:rPr lang="en-US" dirty="0"/>
              <a:t>` command, users can move specific changes from the working directory to the staging area, effectively staging them for the next commit. 	</a:t>
            </a:r>
          </a:p>
          <a:p>
            <a:pPr marL="0" indent="0">
              <a:lnSpc>
                <a:spcPct val="150000"/>
              </a:lnSpc>
              <a:buNone/>
            </a:pPr>
            <a:r>
              <a:rPr lang="en-US" b="1" dirty="0"/>
              <a:t>2. Git status command </a:t>
            </a:r>
            <a:endParaRPr lang="en-US" dirty="0"/>
          </a:p>
          <a:p>
            <a:pPr marL="0" indent="0">
              <a:lnSpc>
                <a:spcPct val="150000"/>
              </a:lnSpc>
              <a:buNone/>
            </a:pPr>
            <a:r>
              <a:rPr lang="en-US" b="1" dirty="0"/>
              <a:t>2.1 Definition of the git status command </a:t>
            </a:r>
            <a:endParaRPr lang="en-US" dirty="0"/>
          </a:p>
          <a:p>
            <a:pPr marL="0" indent="0">
              <a:lnSpc>
                <a:spcPct val="150000"/>
              </a:lnSpc>
              <a:buNone/>
            </a:pPr>
            <a:r>
              <a:rPr lang="en-US" dirty="0"/>
              <a:t>The "</a:t>
            </a:r>
            <a:r>
              <a:rPr lang="en-US" b="1" dirty="0"/>
              <a:t>git status</a:t>
            </a:r>
            <a:r>
              <a:rPr lang="en-US" dirty="0"/>
              <a:t>" command is a command used in the Git version control system to display information about the current state of the repository, such as the status of tracked and untracked files, the branch being worked on, and any changes that have been made. 	</a:t>
            </a:r>
          </a:p>
          <a:p>
            <a:pPr marL="0" indent="0">
              <a:buNone/>
            </a:pPr>
            <a:endParaRPr lang="en-US" dirty="0"/>
          </a:p>
        </p:txBody>
      </p:sp>
    </p:spTree>
    <p:extLst>
      <p:ext uri="{BB962C8B-B14F-4D97-AF65-F5344CB8AC3E}">
        <p14:creationId xmlns:p14="http://schemas.microsoft.com/office/powerpoint/2010/main" val="931762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195F38-BCA2-C8A4-906E-FD021CB960C3}"/>
              </a:ext>
            </a:extLst>
          </p:cNvPr>
          <p:cNvSpPr>
            <a:spLocks noGrp="1"/>
          </p:cNvSpPr>
          <p:nvPr>
            <p:ph idx="1"/>
          </p:nvPr>
        </p:nvSpPr>
        <p:spPr>
          <a:xfrm>
            <a:off x="702644" y="770021"/>
            <a:ext cx="11232682" cy="5467150"/>
          </a:xfrm>
        </p:spPr>
        <p:txBody>
          <a:bodyPr/>
          <a:lstStyle/>
          <a:p>
            <a:pPr marL="0" indent="0">
              <a:lnSpc>
                <a:spcPct val="150000"/>
              </a:lnSpc>
              <a:buNone/>
            </a:pPr>
            <a:r>
              <a:rPr lang="en-US" b="1" dirty="0"/>
              <a:t>2.2 Operations on the git status command </a:t>
            </a:r>
            <a:endParaRPr lang="en-US" dirty="0"/>
          </a:p>
          <a:p>
            <a:pPr marL="0" indent="0">
              <a:lnSpc>
                <a:spcPct val="150000"/>
              </a:lnSpc>
              <a:buNone/>
            </a:pPr>
            <a:r>
              <a:rPr lang="en-US" b="1" dirty="0"/>
              <a:t>1. View new untracked files: </a:t>
            </a:r>
          </a:p>
          <a:p>
            <a:pPr marL="0" indent="0">
              <a:lnSpc>
                <a:spcPct val="150000"/>
              </a:lnSpc>
              <a:buNone/>
            </a:pPr>
            <a:r>
              <a:rPr lang="en-US" dirty="0"/>
              <a:t>When you run `</a:t>
            </a:r>
            <a:r>
              <a:rPr lang="en-US" b="1" dirty="0"/>
              <a:t>git status</a:t>
            </a:r>
            <a:r>
              <a:rPr lang="en-US" dirty="0"/>
              <a:t>`, it will display a section titled "</a:t>
            </a:r>
            <a:r>
              <a:rPr lang="en-US" b="1" dirty="0"/>
              <a:t>Untracked files</a:t>
            </a:r>
            <a:r>
              <a:rPr lang="en-US" dirty="0"/>
              <a:t>" that lists any new files in your working directory that Git is not currently tracking. These files have not been staged or included in any previous commits. It provides you with a list of files that you may want to consider adding to your repository. 	</a:t>
            </a:r>
          </a:p>
          <a:p>
            <a:pPr marL="0" indent="0">
              <a:buNone/>
            </a:pPr>
            <a:endParaRPr lang="en-US" dirty="0"/>
          </a:p>
        </p:txBody>
      </p:sp>
    </p:spTree>
    <p:extLst>
      <p:ext uri="{BB962C8B-B14F-4D97-AF65-F5344CB8AC3E}">
        <p14:creationId xmlns:p14="http://schemas.microsoft.com/office/powerpoint/2010/main" val="33982878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1F33D-4169-E243-7B4D-5199D389B932}"/>
              </a:ext>
            </a:extLst>
          </p:cNvPr>
          <p:cNvSpPr>
            <a:spLocks noGrp="1"/>
          </p:cNvSpPr>
          <p:nvPr>
            <p:ph idx="1"/>
          </p:nvPr>
        </p:nvSpPr>
        <p:spPr>
          <a:xfrm>
            <a:off x="635267" y="866274"/>
            <a:ext cx="11049802" cy="5361271"/>
          </a:xfrm>
        </p:spPr>
        <p:txBody>
          <a:bodyPr/>
          <a:lstStyle/>
          <a:p>
            <a:pPr marL="0" indent="0">
              <a:lnSpc>
                <a:spcPct val="150000"/>
              </a:lnSpc>
              <a:buNone/>
            </a:pPr>
            <a:r>
              <a:rPr lang="en-US" b="1" dirty="0"/>
              <a:t>2. View modified files: </a:t>
            </a:r>
          </a:p>
          <a:p>
            <a:pPr marL="0" indent="0">
              <a:lnSpc>
                <a:spcPct val="150000"/>
              </a:lnSpc>
              <a:buNone/>
            </a:pPr>
            <a:r>
              <a:rPr lang="en-US" dirty="0"/>
              <a:t>In the "Changes not staged for commit" section of the `</a:t>
            </a:r>
            <a:r>
              <a:rPr lang="en-US" b="1" dirty="0"/>
              <a:t>git status` </a:t>
            </a:r>
            <a:r>
              <a:rPr lang="en-US" dirty="0"/>
              <a:t>output, you will see a list of modified files in your working directory that have not been staged. These files have changes compared to the last commit. Git will show you the names of the modified files so that you can review the changes made to them. 	</a:t>
            </a:r>
          </a:p>
          <a:p>
            <a:endParaRPr lang="en-US" dirty="0"/>
          </a:p>
        </p:txBody>
      </p:sp>
    </p:spTree>
    <p:extLst>
      <p:ext uri="{BB962C8B-B14F-4D97-AF65-F5344CB8AC3E}">
        <p14:creationId xmlns:p14="http://schemas.microsoft.com/office/powerpoint/2010/main" val="18433088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144AD-697A-9AB6-1E94-F41EB5003EE6}"/>
              </a:ext>
            </a:extLst>
          </p:cNvPr>
          <p:cNvSpPr>
            <a:spLocks noGrp="1"/>
          </p:cNvSpPr>
          <p:nvPr>
            <p:ph idx="1"/>
          </p:nvPr>
        </p:nvSpPr>
        <p:spPr>
          <a:xfrm>
            <a:off x="693019" y="943276"/>
            <a:ext cx="10660781" cy="5233687"/>
          </a:xfrm>
        </p:spPr>
        <p:txBody>
          <a:bodyPr/>
          <a:lstStyle/>
          <a:p>
            <a:pPr marL="0" indent="0">
              <a:lnSpc>
                <a:spcPct val="150000"/>
              </a:lnSpc>
              <a:buNone/>
            </a:pPr>
            <a:r>
              <a:rPr lang="en-US" b="1" dirty="0"/>
              <a:t>3. View deleted files: </a:t>
            </a:r>
            <a:endParaRPr lang="en-US" dirty="0"/>
          </a:p>
          <a:p>
            <a:pPr marL="0" indent="0">
              <a:lnSpc>
                <a:spcPct val="150000"/>
              </a:lnSpc>
              <a:buNone/>
            </a:pPr>
            <a:r>
              <a:rPr lang="en-US" dirty="0"/>
              <a:t>Similarly, in the "Changes not staged for commit" section, `git status` will also display any deleted files that have not been staged. These are files that were present in the last commit but have been deleted in your working directory since then. Git will show you the names of the deleted files, allowing you to review the deletions. 	</a:t>
            </a:r>
          </a:p>
          <a:p>
            <a:pPr marL="0" indent="0">
              <a:buNone/>
            </a:pPr>
            <a:endParaRPr lang="en-US" dirty="0"/>
          </a:p>
        </p:txBody>
      </p:sp>
    </p:spTree>
    <p:extLst>
      <p:ext uri="{BB962C8B-B14F-4D97-AF65-F5344CB8AC3E}">
        <p14:creationId xmlns:p14="http://schemas.microsoft.com/office/powerpoint/2010/main" val="7371823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7D947B-8499-7E29-56D9-6B51FE9DA76D}"/>
              </a:ext>
            </a:extLst>
          </p:cNvPr>
          <p:cNvSpPr>
            <a:spLocks noGrp="1"/>
          </p:cNvSpPr>
          <p:nvPr>
            <p:ph idx="1"/>
          </p:nvPr>
        </p:nvSpPr>
        <p:spPr>
          <a:xfrm>
            <a:off x="693018" y="760397"/>
            <a:ext cx="11194181" cy="5505650"/>
          </a:xfrm>
        </p:spPr>
        <p:txBody>
          <a:bodyPr>
            <a:normAutofit fontScale="92500"/>
          </a:bodyPr>
          <a:lstStyle/>
          <a:p>
            <a:pPr marL="0" indent="0">
              <a:lnSpc>
                <a:spcPct val="150000"/>
              </a:lnSpc>
              <a:buNone/>
            </a:pPr>
            <a:r>
              <a:rPr lang="en-US" sz="3000" dirty="0"/>
              <a:t>The git add command is used to add changes or new files to the staging area in Git. It prepares the changes or files to be included in the next commit. </a:t>
            </a:r>
          </a:p>
          <a:p>
            <a:pPr marL="0" indent="0">
              <a:lnSpc>
                <a:spcPct val="150000"/>
              </a:lnSpc>
              <a:buNone/>
            </a:pPr>
            <a:r>
              <a:rPr lang="en-US" sz="3000" b="1" dirty="0"/>
              <a:t>3. Git add command </a:t>
            </a:r>
            <a:endParaRPr lang="en-US" sz="3000" dirty="0"/>
          </a:p>
          <a:p>
            <a:pPr marL="0" indent="0">
              <a:lnSpc>
                <a:spcPct val="150000"/>
              </a:lnSpc>
              <a:buNone/>
            </a:pPr>
            <a:r>
              <a:rPr lang="en-US" sz="3000" b="1" dirty="0"/>
              <a:t>3.1 Definition of the git add command </a:t>
            </a:r>
            <a:endParaRPr lang="en-US" sz="3000" dirty="0"/>
          </a:p>
          <a:p>
            <a:pPr marL="0" indent="0">
              <a:lnSpc>
                <a:spcPct val="150000"/>
              </a:lnSpc>
              <a:buNone/>
            </a:pPr>
            <a:r>
              <a:rPr lang="en-US" sz="3000" dirty="0"/>
              <a:t>The </a:t>
            </a:r>
            <a:r>
              <a:rPr lang="en-US" sz="3000" b="1" dirty="0"/>
              <a:t>"git add" </a:t>
            </a:r>
            <a:r>
              <a:rPr lang="en-US" sz="3000" dirty="0"/>
              <a:t>command is used in Git to add changes or new files to the staging area. The staging area is a temporary storage space where you can gather and prepare changes before committing them to the Git repository. </a:t>
            </a:r>
            <a:r>
              <a:rPr lang="en-US" dirty="0"/>
              <a:t>	</a:t>
            </a:r>
          </a:p>
          <a:p>
            <a:pPr marL="0" indent="0">
              <a:buNone/>
            </a:pPr>
            <a:endParaRPr lang="en-US" dirty="0"/>
          </a:p>
        </p:txBody>
      </p:sp>
    </p:spTree>
    <p:extLst>
      <p:ext uri="{BB962C8B-B14F-4D97-AF65-F5344CB8AC3E}">
        <p14:creationId xmlns:p14="http://schemas.microsoft.com/office/powerpoint/2010/main" val="20276661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9F2CF-A307-B0CD-C309-ECEF8CE16C77}"/>
              </a:ext>
            </a:extLst>
          </p:cNvPr>
          <p:cNvSpPr>
            <a:spLocks noGrp="1"/>
          </p:cNvSpPr>
          <p:nvPr>
            <p:ph idx="1"/>
          </p:nvPr>
        </p:nvSpPr>
        <p:spPr>
          <a:xfrm>
            <a:off x="838200" y="895148"/>
            <a:ext cx="10923270" cy="5425642"/>
          </a:xfrm>
        </p:spPr>
        <p:txBody>
          <a:bodyPr/>
          <a:lstStyle/>
          <a:p>
            <a:pPr marL="0" indent="0">
              <a:lnSpc>
                <a:spcPct val="150000"/>
              </a:lnSpc>
              <a:buNone/>
            </a:pPr>
            <a:r>
              <a:rPr lang="en-US" dirty="0"/>
              <a:t>After using the </a:t>
            </a:r>
            <a:r>
              <a:rPr lang="en-US" b="1" dirty="0"/>
              <a:t>"git add" </a:t>
            </a:r>
            <a:r>
              <a:rPr lang="en-US" dirty="0"/>
              <a:t>command, the changes or files you specified will be moved to the staging area. You can then review the changes using </a:t>
            </a:r>
            <a:r>
              <a:rPr lang="en-US" b="1" dirty="0"/>
              <a:t>"git status" </a:t>
            </a:r>
            <a:r>
              <a:rPr lang="en-US" dirty="0"/>
              <a:t>and proceed with committing them using the "</a:t>
            </a:r>
            <a:r>
              <a:rPr lang="en-US" b="1" dirty="0"/>
              <a:t>git commit" </a:t>
            </a:r>
            <a:r>
              <a:rPr lang="en-US" dirty="0"/>
              <a:t>command. </a:t>
            </a:r>
          </a:p>
          <a:p>
            <a:pPr marL="0" indent="0">
              <a:lnSpc>
                <a:spcPct val="150000"/>
              </a:lnSpc>
              <a:buNone/>
            </a:pPr>
            <a:r>
              <a:rPr lang="en-US" dirty="0"/>
              <a:t>The git add command is used to add file contents to the Index (</a:t>
            </a:r>
            <a:r>
              <a:rPr lang="en-US" b="1" dirty="0"/>
              <a:t>Staging Area</a:t>
            </a:r>
            <a:r>
              <a:rPr lang="en-US" dirty="0"/>
              <a:t>).	</a:t>
            </a:r>
          </a:p>
          <a:p>
            <a:pPr marL="0" indent="0">
              <a:buNone/>
            </a:pPr>
            <a:endParaRPr lang="en-US" dirty="0"/>
          </a:p>
        </p:txBody>
      </p:sp>
    </p:spTree>
    <p:extLst>
      <p:ext uri="{BB962C8B-B14F-4D97-AF65-F5344CB8AC3E}">
        <p14:creationId xmlns:p14="http://schemas.microsoft.com/office/powerpoint/2010/main" val="24413578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650CC6-E10B-91BC-4EEC-C2E434110CDE}"/>
              </a:ext>
            </a:extLst>
          </p:cNvPr>
          <p:cNvSpPr>
            <a:spLocks noGrp="1"/>
          </p:cNvSpPr>
          <p:nvPr>
            <p:ph idx="1"/>
          </p:nvPr>
        </p:nvSpPr>
        <p:spPr>
          <a:xfrm>
            <a:off x="640080" y="480060"/>
            <a:ext cx="10915650" cy="5920740"/>
          </a:xfrm>
        </p:spPr>
        <p:txBody>
          <a:bodyPr/>
          <a:lstStyle/>
          <a:p>
            <a:pPr marL="0" indent="0">
              <a:lnSpc>
                <a:spcPct val="150000"/>
              </a:lnSpc>
              <a:buNone/>
            </a:pPr>
            <a:r>
              <a:rPr lang="en-US" b="1" dirty="0"/>
              <a:t>3.2 Operations on git add command </a:t>
            </a:r>
            <a:endParaRPr lang="en-US" dirty="0"/>
          </a:p>
          <a:p>
            <a:pPr marL="0" indent="0">
              <a:lnSpc>
                <a:spcPct val="150000"/>
              </a:lnSpc>
              <a:buNone/>
            </a:pPr>
            <a:r>
              <a:rPr lang="en-US" b="1" dirty="0"/>
              <a:t>1. Stage all files: </a:t>
            </a:r>
            <a:endParaRPr lang="en-US" dirty="0"/>
          </a:p>
          <a:p>
            <a:pPr marL="0" indent="0">
              <a:lnSpc>
                <a:spcPct val="150000"/>
              </a:lnSpc>
              <a:buNone/>
            </a:pPr>
            <a:r>
              <a:rPr lang="en-US" dirty="0"/>
              <a:t>When you use the </a:t>
            </a:r>
            <a:r>
              <a:rPr lang="en-US" b="1" dirty="0"/>
              <a:t>`git add .` </a:t>
            </a:r>
            <a:r>
              <a:rPr lang="en-US" dirty="0"/>
              <a:t>command, Git scans the current directory and its subdirectories, identifying any modified and new files. It adds these files to the staging area, which is a space where you can prepare your changes for the next commit. 	</a:t>
            </a:r>
          </a:p>
          <a:p>
            <a:pPr marL="0" indent="0">
              <a:buNone/>
            </a:pPr>
            <a:endParaRPr lang="en-US" dirty="0"/>
          </a:p>
        </p:txBody>
      </p:sp>
    </p:spTree>
    <p:extLst>
      <p:ext uri="{BB962C8B-B14F-4D97-AF65-F5344CB8AC3E}">
        <p14:creationId xmlns:p14="http://schemas.microsoft.com/office/powerpoint/2010/main" val="41333202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246F56-7ED6-DC19-C071-26CAC37DC8BE}"/>
              </a:ext>
            </a:extLst>
          </p:cNvPr>
          <p:cNvSpPr>
            <a:spLocks noGrp="1"/>
          </p:cNvSpPr>
          <p:nvPr>
            <p:ph idx="1"/>
          </p:nvPr>
        </p:nvSpPr>
        <p:spPr>
          <a:xfrm>
            <a:off x="560070" y="91440"/>
            <a:ext cx="11475720" cy="6583680"/>
          </a:xfrm>
        </p:spPr>
        <p:txBody>
          <a:bodyPr>
            <a:normAutofit lnSpcReduction="10000"/>
          </a:bodyPr>
          <a:lstStyle/>
          <a:p>
            <a:pPr marL="0" indent="0">
              <a:lnSpc>
                <a:spcPct val="150000"/>
              </a:lnSpc>
              <a:buNone/>
            </a:pPr>
            <a:r>
              <a:rPr lang="en-US" b="1" dirty="0"/>
              <a:t>2. Stage a file: </a:t>
            </a:r>
            <a:endParaRPr lang="en-US" dirty="0"/>
          </a:p>
          <a:p>
            <a:pPr marL="0" indent="0">
              <a:lnSpc>
                <a:spcPct val="150000"/>
              </a:lnSpc>
              <a:buNone/>
            </a:pPr>
            <a:r>
              <a:rPr lang="en-US" dirty="0"/>
              <a:t>When you use the `</a:t>
            </a:r>
            <a:r>
              <a:rPr lang="en-US" b="1" dirty="0"/>
              <a:t>git add &lt;file&gt;` </a:t>
            </a:r>
            <a:r>
              <a:rPr lang="en-US" dirty="0"/>
              <a:t>command, Git adds the specified file to the staging area. This means that Git records the current state of the file, including any modifications you made to it since the last commit. </a:t>
            </a:r>
          </a:p>
          <a:p>
            <a:pPr marL="0" indent="0">
              <a:lnSpc>
                <a:spcPct val="150000"/>
              </a:lnSpc>
              <a:buNone/>
            </a:pPr>
            <a:r>
              <a:rPr lang="en-US" b="1" dirty="0"/>
              <a:t>3. Stage a folder: </a:t>
            </a:r>
            <a:endParaRPr lang="en-US" dirty="0"/>
          </a:p>
          <a:p>
            <a:pPr marL="0" indent="0">
              <a:lnSpc>
                <a:spcPct val="150000"/>
              </a:lnSpc>
              <a:buNone/>
            </a:pPr>
            <a:r>
              <a:rPr lang="en-US" dirty="0"/>
              <a:t>Git does not have a direct command to stage a folder. However, when you use the </a:t>
            </a:r>
            <a:r>
              <a:rPr lang="en-US" b="1" dirty="0"/>
              <a:t>`git add &lt;folder&gt;` </a:t>
            </a:r>
            <a:r>
              <a:rPr lang="en-US" dirty="0"/>
              <a:t>command, Git scans the specified folder and its subdirectories. It identifies any modified and new files within the folder and adds them to the staging area.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39872748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744491-1460-A81B-06B8-522D34F649BD}"/>
              </a:ext>
            </a:extLst>
          </p:cNvPr>
          <p:cNvSpPr>
            <a:spLocks noGrp="1"/>
          </p:cNvSpPr>
          <p:nvPr>
            <p:ph idx="1"/>
          </p:nvPr>
        </p:nvSpPr>
        <p:spPr>
          <a:xfrm>
            <a:off x="605790" y="605790"/>
            <a:ext cx="11304270" cy="5897880"/>
          </a:xfrm>
        </p:spPr>
        <p:txBody>
          <a:bodyPr/>
          <a:lstStyle/>
          <a:p>
            <a:pPr marL="0" indent="0">
              <a:buNone/>
            </a:pPr>
            <a:r>
              <a:rPr lang="en-US" b="1" dirty="0"/>
              <a:t>4. Git reset command </a:t>
            </a:r>
            <a:endParaRPr lang="en-US" dirty="0"/>
          </a:p>
          <a:p>
            <a:pPr marL="0" indent="0">
              <a:buNone/>
            </a:pPr>
            <a:r>
              <a:rPr lang="en-US" b="1" dirty="0"/>
              <a:t>4.1 Definition of git reset command </a:t>
            </a:r>
            <a:r>
              <a:rPr lang="en-US" dirty="0"/>
              <a:t>	</a:t>
            </a:r>
          </a:p>
          <a:p>
            <a:pPr marL="0" indent="0">
              <a:lnSpc>
                <a:spcPct val="150000"/>
              </a:lnSpc>
              <a:buNone/>
            </a:pPr>
            <a:r>
              <a:rPr lang="en-US" dirty="0"/>
              <a:t>The </a:t>
            </a:r>
            <a:r>
              <a:rPr lang="en-US" b="1" dirty="0"/>
              <a:t>"git reset" </a:t>
            </a:r>
            <a:r>
              <a:rPr lang="en-US" dirty="0"/>
              <a:t>command is used in Git to move the HEAD and branch pointer to a specific commit or to </a:t>
            </a:r>
            <a:r>
              <a:rPr lang="en-US" dirty="0" err="1"/>
              <a:t>unstage</a:t>
            </a:r>
            <a:r>
              <a:rPr lang="en-US" dirty="0"/>
              <a:t> changes. It allows you to manipulate the commit history and the staging area. The behavior of "git reset" varies depending on the options and arguments used.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38245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8417E-3D28-9829-1AE3-5FA53A6D0CE8}"/>
              </a:ext>
            </a:extLst>
          </p:cNvPr>
          <p:cNvSpPr>
            <a:spLocks noGrp="1"/>
          </p:cNvSpPr>
          <p:nvPr>
            <p:ph idx="1"/>
          </p:nvPr>
        </p:nvSpPr>
        <p:spPr>
          <a:xfrm>
            <a:off x="662940" y="365760"/>
            <a:ext cx="11098530" cy="6217920"/>
          </a:xfrm>
        </p:spPr>
        <p:txBody>
          <a:bodyPr/>
          <a:lstStyle/>
          <a:p>
            <a:pPr marL="0" indent="0">
              <a:lnSpc>
                <a:spcPct val="150000"/>
              </a:lnSpc>
              <a:buNone/>
            </a:pPr>
            <a:r>
              <a:rPr lang="en-US" b="1" dirty="0"/>
              <a:t>4.2 Operations on git reset command </a:t>
            </a:r>
            <a:endParaRPr lang="en-US" dirty="0"/>
          </a:p>
          <a:p>
            <a:pPr marL="0" indent="0">
              <a:lnSpc>
                <a:spcPct val="150000"/>
              </a:lnSpc>
              <a:buNone/>
            </a:pPr>
            <a:r>
              <a:rPr lang="en-US" b="1" dirty="0"/>
              <a:t>1. </a:t>
            </a:r>
            <a:r>
              <a:rPr lang="en-US" b="1" dirty="0" err="1"/>
              <a:t>Unstage</a:t>
            </a:r>
            <a:r>
              <a:rPr lang="en-US" b="1" dirty="0"/>
              <a:t> a file: </a:t>
            </a:r>
            <a:endParaRPr lang="en-US" dirty="0"/>
          </a:p>
          <a:p>
            <a:pPr marL="0" indent="0">
              <a:lnSpc>
                <a:spcPct val="150000"/>
              </a:lnSpc>
              <a:buNone/>
            </a:pPr>
            <a:r>
              <a:rPr lang="en-US" dirty="0"/>
              <a:t>When you want to remove a file from the staging area without discarding the changes made to that file, you can use the </a:t>
            </a:r>
            <a:r>
              <a:rPr lang="en-US" b="1" dirty="0"/>
              <a:t>`git reset` </a:t>
            </a:r>
            <a:r>
              <a:rPr lang="en-US" dirty="0"/>
              <a:t>command. Specifically, the </a:t>
            </a:r>
            <a:r>
              <a:rPr lang="en-US" b="1" dirty="0"/>
              <a:t>`git reset &lt;file&gt;` </a:t>
            </a:r>
            <a:r>
              <a:rPr lang="en-US" dirty="0"/>
              <a:t>command allows you to </a:t>
            </a:r>
            <a:r>
              <a:rPr lang="en-US" dirty="0" err="1"/>
              <a:t>unstage</a:t>
            </a:r>
            <a:r>
              <a:rPr lang="en-US" dirty="0"/>
              <a:t> a specific file. </a:t>
            </a:r>
          </a:p>
          <a:p>
            <a:pPr marL="0" indent="0">
              <a:lnSpc>
                <a:spcPct val="150000"/>
              </a:lnSpc>
              <a:buNone/>
            </a:pPr>
            <a:r>
              <a:rPr lang="en-US" dirty="0"/>
              <a:t>By running </a:t>
            </a:r>
            <a:r>
              <a:rPr lang="en-US" b="1" dirty="0"/>
              <a:t>`git reset &lt;file&gt;`, </a:t>
            </a:r>
            <a:r>
              <a:rPr lang="en-US" dirty="0"/>
              <a:t>Git moves the specified file from the staging area back to the working directory. 	</a:t>
            </a:r>
          </a:p>
          <a:p>
            <a:pPr marL="0" indent="0">
              <a:buNone/>
            </a:pPr>
            <a:endParaRPr lang="en-US" dirty="0"/>
          </a:p>
        </p:txBody>
      </p:sp>
    </p:spTree>
    <p:extLst>
      <p:ext uri="{BB962C8B-B14F-4D97-AF65-F5344CB8AC3E}">
        <p14:creationId xmlns:p14="http://schemas.microsoft.com/office/powerpoint/2010/main" val="735000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E58C10-5AB1-99A1-0479-556E672254D5}"/>
              </a:ext>
            </a:extLst>
          </p:cNvPr>
          <p:cNvSpPr>
            <a:spLocks noGrp="1"/>
          </p:cNvSpPr>
          <p:nvPr>
            <p:ph idx="1"/>
          </p:nvPr>
        </p:nvSpPr>
        <p:spPr>
          <a:xfrm>
            <a:off x="491490" y="434340"/>
            <a:ext cx="11155680" cy="6000750"/>
          </a:xfrm>
        </p:spPr>
        <p:txBody>
          <a:bodyPr/>
          <a:lstStyle/>
          <a:p>
            <a:pPr marL="0" indent="0">
              <a:lnSpc>
                <a:spcPct val="150000"/>
              </a:lnSpc>
              <a:buNone/>
            </a:pPr>
            <a:r>
              <a:rPr lang="en-US" dirty="0" err="1"/>
              <a:t>Unstaging</a:t>
            </a:r>
            <a:r>
              <a:rPr lang="en-US" dirty="0"/>
              <a:t> a file with `</a:t>
            </a:r>
            <a:r>
              <a:rPr lang="en-US" b="1" dirty="0"/>
              <a:t>git reset` </a:t>
            </a:r>
            <a:r>
              <a:rPr lang="en-US" dirty="0"/>
              <a:t>provides flexibility in managing your staged changes, allowing you to selectively remove files from the staging area while retaining the modifications made to them. 	</a:t>
            </a:r>
          </a:p>
          <a:p>
            <a:pPr marL="0" indent="0">
              <a:lnSpc>
                <a:spcPct val="150000"/>
              </a:lnSpc>
              <a:buNone/>
            </a:pPr>
            <a:r>
              <a:rPr lang="en-US" b="1" dirty="0"/>
              <a:t>2. Deleting and staging a folder: </a:t>
            </a:r>
            <a:endParaRPr lang="en-US" dirty="0"/>
          </a:p>
          <a:p>
            <a:pPr marL="0" indent="0">
              <a:lnSpc>
                <a:spcPct val="150000"/>
              </a:lnSpc>
              <a:buNone/>
            </a:pPr>
            <a:r>
              <a:rPr lang="en-US" dirty="0"/>
              <a:t>Git does not have a direct command to delete or stage a folder. However, you can achieve the desired effect by combining different Git commands, including </a:t>
            </a:r>
            <a:r>
              <a:rPr lang="en-US" b="1" dirty="0"/>
              <a:t>`git reset</a:t>
            </a:r>
            <a:r>
              <a:rPr lang="en-US" dirty="0"/>
              <a:t>`.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29551907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CD3450-A798-1F11-F776-29C8BF4D0E82}"/>
              </a:ext>
            </a:extLst>
          </p:cNvPr>
          <p:cNvSpPr>
            <a:spLocks noGrp="1"/>
          </p:cNvSpPr>
          <p:nvPr>
            <p:ph idx="1"/>
          </p:nvPr>
        </p:nvSpPr>
        <p:spPr>
          <a:xfrm>
            <a:off x="697230" y="560070"/>
            <a:ext cx="10915650" cy="5840730"/>
          </a:xfrm>
        </p:spPr>
        <p:txBody>
          <a:bodyPr/>
          <a:lstStyle/>
          <a:p>
            <a:pPr marL="0" indent="0">
              <a:lnSpc>
                <a:spcPct val="150000"/>
              </a:lnSpc>
              <a:buNone/>
            </a:pPr>
            <a:r>
              <a:rPr lang="en-US" dirty="0"/>
              <a:t>To delete a folder and stage the deletion, you can follow these steps: </a:t>
            </a:r>
          </a:p>
          <a:p>
            <a:pPr marL="0" indent="0">
              <a:lnSpc>
                <a:spcPct val="150000"/>
              </a:lnSpc>
              <a:buNone/>
            </a:pPr>
            <a:r>
              <a:rPr lang="en-US" b="1" dirty="0"/>
              <a:t>1. </a:t>
            </a:r>
            <a:r>
              <a:rPr lang="en-US" dirty="0"/>
              <a:t>Use the `</a:t>
            </a:r>
            <a:r>
              <a:rPr lang="en-US" b="1" dirty="0"/>
              <a:t>git rm -r &lt;folder&gt;` </a:t>
            </a:r>
            <a:r>
              <a:rPr lang="en-US" dirty="0"/>
              <a:t>command to recursively remove the folder and its contents from both the working directory and the Git repository. This permanently deletes the folder and its files. </a:t>
            </a:r>
          </a:p>
          <a:p>
            <a:pPr marL="0" indent="0">
              <a:lnSpc>
                <a:spcPct val="150000"/>
              </a:lnSpc>
              <a:buNone/>
            </a:pPr>
            <a:r>
              <a:rPr lang="en-US" b="1" dirty="0"/>
              <a:t>2. </a:t>
            </a:r>
            <a:r>
              <a:rPr lang="en-US" dirty="0"/>
              <a:t>Run </a:t>
            </a:r>
            <a:r>
              <a:rPr lang="en-US" b="1" dirty="0"/>
              <a:t>`git reset` </a:t>
            </a:r>
            <a:r>
              <a:rPr lang="en-US" dirty="0"/>
              <a:t>to </a:t>
            </a:r>
            <a:r>
              <a:rPr lang="en-US" dirty="0" err="1"/>
              <a:t>unstage</a:t>
            </a:r>
            <a:r>
              <a:rPr lang="en-US" dirty="0"/>
              <a:t> the deletion. For example, </a:t>
            </a:r>
            <a:r>
              <a:rPr lang="en-US" b="1" dirty="0"/>
              <a:t>`git reset &lt;folder&gt;` or `git reset </a:t>
            </a:r>
            <a:r>
              <a:rPr lang="en-US" dirty="0"/>
              <a:t>.` (to </a:t>
            </a:r>
            <a:r>
              <a:rPr lang="en-US" dirty="0" err="1"/>
              <a:t>unstage</a:t>
            </a:r>
            <a:r>
              <a:rPr lang="en-US" dirty="0"/>
              <a:t> all changes). 	</a:t>
            </a:r>
          </a:p>
          <a:p>
            <a:pPr marL="0" indent="0">
              <a:buNone/>
            </a:pPr>
            <a:endParaRPr lang="en-US" dirty="0"/>
          </a:p>
        </p:txBody>
      </p:sp>
    </p:spTree>
    <p:extLst>
      <p:ext uri="{BB962C8B-B14F-4D97-AF65-F5344CB8AC3E}">
        <p14:creationId xmlns:p14="http://schemas.microsoft.com/office/powerpoint/2010/main" val="40417262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51EA2B-33E3-2C10-7F7C-F9F817A6F1FE}"/>
              </a:ext>
            </a:extLst>
          </p:cNvPr>
          <p:cNvSpPr>
            <a:spLocks noGrp="1"/>
          </p:cNvSpPr>
          <p:nvPr>
            <p:ph idx="1"/>
          </p:nvPr>
        </p:nvSpPr>
        <p:spPr>
          <a:xfrm>
            <a:off x="457200" y="274320"/>
            <a:ext cx="11338560" cy="6012180"/>
          </a:xfrm>
        </p:spPr>
        <p:txBody>
          <a:bodyPr>
            <a:normAutofit fontScale="85000" lnSpcReduction="20000"/>
          </a:bodyPr>
          <a:lstStyle/>
          <a:p>
            <a:pPr marL="0" indent="0">
              <a:lnSpc>
                <a:spcPct val="150000"/>
              </a:lnSpc>
              <a:buNone/>
            </a:pPr>
            <a:r>
              <a:rPr lang="en-US" sz="3300" b="1" dirty="0"/>
              <a:t>5. Rm command </a:t>
            </a:r>
            <a:endParaRPr lang="en-US" sz="3300" dirty="0"/>
          </a:p>
          <a:p>
            <a:pPr marL="0" indent="0">
              <a:lnSpc>
                <a:spcPct val="150000"/>
              </a:lnSpc>
              <a:buNone/>
            </a:pPr>
            <a:r>
              <a:rPr lang="en-US" sz="3300" b="1" dirty="0"/>
              <a:t>5.1 Definition of rm command </a:t>
            </a:r>
            <a:endParaRPr lang="en-US" sz="3300" dirty="0"/>
          </a:p>
          <a:p>
            <a:pPr marL="0" indent="0">
              <a:lnSpc>
                <a:spcPct val="150000"/>
              </a:lnSpc>
              <a:buNone/>
            </a:pPr>
            <a:r>
              <a:rPr lang="en-US" sz="3300" dirty="0"/>
              <a:t>The "</a:t>
            </a:r>
            <a:r>
              <a:rPr lang="en-US" sz="3300" b="1" dirty="0"/>
              <a:t>git rm</a:t>
            </a:r>
            <a:r>
              <a:rPr lang="en-US" sz="3300" dirty="0"/>
              <a:t>" command is used in Git to remove files from the Git repository. It is primarily used to delete files that are tracked by Git and stage the deletion for the next commit. </a:t>
            </a:r>
          </a:p>
          <a:p>
            <a:pPr marL="0" indent="0">
              <a:lnSpc>
                <a:spcPct val="170000"/>
              </a:lnSpc>
              <a:buNone/>
            </a:pPr>
            <a:r>
              <a:rPr lang="en-US" sz="3300" dirty="0"/>
              <a:t>1. Removing a file from the repository: You can use the following command to remove a file from the Git repository and stage the deletion: </a:t>
            </a:r>
            <a:r>
              <a:rPr lang="en-US" sz="3300" b="1" dirty="0"/>
              <a:t>git rm &lt;file&gt; </a:t>
            </a:r>
            <a:endParaRPr lang="en-US" sz="3300" dirty="0"/>
          </a:p>
          <a:p>
            <a:pPr marL="0" indent="0">
              <a:buNone/>
            </a:pPr>
            <a:r>
              <a:rPr lang="en-US" dirty="0"/>
              <a:t>	</a:t>
            </a:r>
          </a:p>
          <a:p>
            <a:pPr marL="0" indent="0">
              <a:lnSpc>
                <a:spcPct val="150000"/>
              </a:lnSpc>
              <a:buNone/>
            </a:pPr>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2515406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6B3C04-8C7A-6AD1-783B-500E56E84A85}"/>
              </a:ext>
            </a:extLst>
          </p:cNvPr>
          <p:cNvSpPr>
            <a:spLocks noGrp="1"/>
          </p:cNvSpPr>
          <p:nvPr>
            <p:ph idx="1"/>
          </p:nvPr>
        </p:nvSpPr>
        <p:spPr>
          <a:xfrm>
            <a:off x="582930" y="582930"/>
            <a:ext cx="11327130" cy="5955030"/>
          </a:xfrm>
        </p:spPr>
        <p:txBody>
          <a:bodyPr>
            <a:normAutofit fontScale="92500" lnSpcReduction="10000"/>
          </a:bodyPr>
          <a:lstStyle/>
          <a:p>
            <a:pPr marL="0" indent="0">
              <a:lnSpc>
                <a:spcPct val="150000"/>
              </a:lnSpc>
              <a:buNone/>
            </a:pPr>
            <a:r>
              <a:rPr lang="en-US" sz="3000" dirty="0"/>
              <a:t>2. Removing a file from the repository without deleting it locally: If you want to remove a file from the Git repository but keep it in your local working directory, you can use the "--cached" option with "git rm". For example: </a:t>
            </a:r>
            <a:r>
              <a:rPr lang="en-US" sz="3000" b="1" dirty="0"/>
              <a:t>git rm --cached &lt;file&gt; </a:t>
            </a:r>
          </a:p>
          <a:p>
            <a:pPr marL="0" indent="0">
              <a:lnSpc>
                <a:spcPct val="150000"/>
              </a:lnSpc>
              <a:buNone/>
            </a:pPr>
            <a:r>
              <a:rPr lang="en-US" sz="3000" dirty="0"/>
              <a:t>Removing multiple files or using shell patterns: You can use shell patterns or specify multiple files to remove multiple files at once. For example: </a:t>
            </a:r>
          </a:p>
          <a:p>
            <a:pPr marL="0" indent="0">
              <a:lnSpc>
                <a:spcPct val="150000"/>
              </a:lnSpc>
              <a:buNone/>
            </a:pPr>
            <a:r>
              <a:rPr lang="en-US" sz="3000" b="1" dirty="0"/>
              <a:t>git rm *.txt </a:t>
            </a:r>
            <a:r>
              <a:rPr lang="en-US" sz="3000" dirty="0"/>
              <a:t>	</a:t>
            </a:r>
          </a:p>
          <a:p>
            <a:pPr marL="0" indent="0">
              <a:lnSpc>
                <a:spcPct val="150000"/>
              </a:lnSpc>
              <a:buNone/>
            </a:pPr>
            <a:endParaRPr lang="en-US" dirty="0"/>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454661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9A004D-CFE9-9D3A-1E36-174F5DF204ED}"/>
              </a:ext>
            </a:extLst>
          </p:cNvPr>
          <p:cNvSpPr>
            <a:spLocks noGrp="1"/>
          </p:cNvSpPr>
          <p:nvPr>
            <p:ph idx="1"/>
          </p:nvPr>
        </p:nvSpPr>
        <p:spPr>
          <a:xfrm>
            <a:off x="777240" y="228600"/>
            <a:ext cx="11087100" cy="6320790"/>
          </a:xfrm>
        </p:spPr>
        <p:txBody>
          <a:bodyPr>
            <a:normAutofit fontScale="92500" lnSpcReduction="10000"/>
          </a:bodyPr>
          <a:lstStyle/>
          <a:p>
            <a:pPr marL="0" indent="0">
              <a:lnSpc>
                <a:spcPct val="150000"/>
              </a:lnSpc>
              <a:buNone/>
            </a:pPr>
            <a:r>
              <a:rPr lang="en-US" b="1" dirty="0"/>
              <a:t>5.2 Operations on rm command </a:t>
            </a:r>
            <a:endParaRPr lang="en-US" dirty="0"/>
          </a:p>
          <a:p>
            <a:pPr marL="0" indent="0">
              <a:lnSpc>
                <a:spcPct val="150000"/>
              </a:lnSpc>
              <a:buNone/>
            </a:pPr>
            <a:r>
              <a:rPr lang="en-US" b="1" dirty="0"/>
              <a:t>1. Remove and stage a file: </a:t>
            </a:r>
            <a:endParaRPr lang="en-US" dirty="0"/>
          </a:p>
          <a:p>
            <a:pPr marL="0" indent="0">
              <a:lnSpc>
                <a:spcPct val="150000"/>
              </a:lnSpc>
              <a:buNone/>
            </a:pPr>
            <a:r>
              <a:rPr lang="en-US" dirty="0"/>
              <a:t>The `</a:t>
            </a:r>
            <a:r>
              <a:rPr lang="en-US" b="1" dirty="0"/>
              <a:t>git rm` </a:t>
            </a:r>
            <a:r>
              <a:rPr lang="en-US" dirty="0"/>
              <a:t>command allows you to remove a file from both your working directory and the Git repository, while also staging the removal. When you run the following command: </a:t>
            </a:r>
            <a:r>
              <a:rPr lang="en-US" b="1" dirty="0"/>
              <a:t>git rm &lt;file&gt; </a:t>
            </a:r>
          </a:p>
          <a:p>
            <a:pPr marL="0" indent="0">
              <a:buNone/>
            </a:pPr>
            <a:r>
              <a:rPr lang="en-US" b="1" dirty="0"/>
              <a:t>2. Remove and stage a folder: </a:t>
            </a:r>
          </a:p>
          <a:p>
            <a:pPr marL="0" indent="0">
              <a:lnSpc>
                <a:spcPct val="150000"/>
              </a:lnSpc>
              <a:buNone/>
            </a:pPr>
            <a:r>
              <a:rPr lang="en-US" dirty="0"/>
              <a:t>Git does not have a direct command to remove and stage a folder. However, you can achieve the desired effect by combining different Git commands, including the `</a:t>
            </a:r>
            <a:r>
              <a:rPr lang="en-US" b="1" dirty="0"/>
              <a:t>git rm` </a:t>
            </a:r>
            <a:r>
              <a:rPr lang="en-US" dirty="0"/>
              <a:t>command.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7737383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E1B64-62AE-377D-F132-3A9F986C6CCB}"/>
              </a:ext>
            </a:extLst>
          </p:cNvPr>
          <p:cNvSpPr>
            <a:spLocks noGrp="1"/>
          </p:cNvSpPr>
          <p:nvPr>
            <p:ph idx="1"/>
          </p:nvPr>
        </p:nvSpPr>
        <p:spPr>
          <a:xfrm>
            <a:off x="651510" y="480060"/>
            <a:ext cx="11098530" cy="6172200"/>
          </a:xfrm>
        </p:spPr>
        <p:txBody>
          <a:bodyPr>
            <a:normAutofit/>
          </a:bodyPr>
          <a:lstStyle/>
          <a:p>
            <a:pPr>
              <a:lnSpc>
                <a:spcPct val="150000"/>
              </a:lnSpc>
            </a:pPr>
            <a:r>
              <a:rPr lang="en-US" dirty="0"/>
              <a:t>Run </a:t>
            </a:r>
            <a:r>
              <a:rPr lang="en-US" b="1" dirty="0"/>
              <a:t>`git rm -r --cached &lt;folder&gt;` </a:t>
            </a:r>
            <a:r>
              <a:rPr lang="en-US" dirty="0"/>
              <a:t>to stage the removal of the folder: </a:t>
            </a:r>
          </a:p>
          <a:p>
            <a:pPr marL="0" indent="0">
              <a:lnSpc>
                <a:spcPct val="150000"/>
              </a:lnSpc>
              <a:buNone/>
            </a:pPr>
            <a:r>
              <a:rPr lang="en-US" b="1" dirty="0"/>
              <a:t>git rm -r --cached &lt;</a:t>
            </a:r>
            <a:r>
              <a:rPr lang="en-US" dirty="0"/>
              <a:t>folder</a:t>
            </a:r>
            <a:r>
              <a:rPr lang="en-US" b="1" dirty="0"/>
              <a:t>&gt; </a:t>
            </a:r>
          </a:p>
          <a:p>
            <a:pPr marL="0" indent="0">
              <a:lnSpc>
                <a:spcPct val="150000"/>
              </a:lnSpc>
              <a:buNone/>
            </a:pPr>
            <a:r>
              <a:rPr lang="en-US" b="1" dirty="0"/>
              <a:t>2.1.2: Applying Git commands to change files </a:t>
            </a:r>
            <a:endParaRPr lang="en-US" dirty="0"/>
          </a:p>
          <a:p>
            <a:pPr marL="0" indent="0">
              <a:lnSpc>
                <a:spcPct val="150000"/>
              </a:lnSpc>
              <a:buNone/>
            </a:pPr>
            <a:r>
              <a:rPr lang="en-US" b="1" dirty="0"/>
              <a:t>1. Adding file change to staging area. </a:t>
            </a:r>
            <a:endParaRPr lang="en-US" dirty="0"/>
          </a:p>
          <a:p>
            <a:pPr marL="0" indent="0">
              <a:lnSpc>
                <a:spcPct val="150000"/>
              </a:lnSpc>
              <a:buNone/>
            </a:pPr>
            <a:r>
              <a:rPr lang="en-US" dirty="0"/>
              <a:t>To add file changes to the Git staging area, follow these steps: </a:t>
            </a:r>
          </a:p>
          <a:p>
            <a:pPr marL="0" indent="0">
              <a:lnSpc>
                <a:spcPct val="150000"/>
              </a:lnSpc>
              <a:buNone/>
            </a:pPr>
            <a:r>
              <a:rPr lang="en-US" b="1" dirty="0"/>
              <a:t>1. Check the Status: </a:t>
            </a:r>
            <a:endParaRPr lang="en-US" dirty="0"/>
          </a:p>
          <a:p>
            <a:pPr marL="0" indent="0">
              <a:lnSpc>
                <a:spcPct val="150000"/>
              </a:lnSpc>
              <a:buNone/>
            </a:pPr>
            <a:r>
              <a:rPr lang="en-US" dirty="0"/>
              <a:t>Before adding file changes, check the status of your repository using `</a:t>
            </a:r>
            <a:r>
              <a:rPr lang="en-US" b="1" dirty="0"/>
              <a:t>git status` </a:t>
            </a:r>
            <a:r>
              <a:rPr lang="en-US" dirty="0"/>
              <a:t>to see which files have been modified. 	</a:t>
            </a:r>
          </a:p>
          <a:p>
            <a:pPr marL="0" indent="0">
              <a:buNone/>
            </a:pPr>
            <a:endParaRPr lang="en-US" dirty="0"/>
          </a:p>
        </p:txBody>
      </p:sp>
    </p:spTree>
    <p:extLst>
      <p:ext uri="{BB962C8B-B14F-4D97-AF65-F5344CB8AC3E}">
        <p14:creationId xmlns:p14="http://schemas.microsoft.com/office/powerpoint/2010/main" val="39657332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056AE8-88F4-030B-2E57-27EBB39C30F4}"/>
              </a:ext>
            </a:extLst>
          </p:cNvPr>
          <p:cNvSpPr>
            <a:spLocks noGrp="1"/>
          </p:cNvSpPr>
          <p:nvPr>
            <p:ph idx="1"/>
          </p:nvPr>
        </p:nvSpPr>
        <p:spPr>
          <a:xfrm>
            <a:off x="697230" y="480060"/>
            <a:ext cx="11201400" cy="5989320"/>
          </a:xfrm>
        </p:spPr>
        <p:txBody>
          <a:bodyPr/>
          <a:lstStyle/>
          <a:p>
            <a:pPr marL="0" indent="0">
              <a:lnSpc>
                <a:spcPct val="150000"/>
              </a:lnSpc>
              <a:buNone/>
            </a:pPr>
            <a:r>
              <a:rPr lang="en-US" b="1" dirty="0"/>
              <a:t>2. Add Changes: </a:t>
            </a:r>
            <a:endParaRPr lang="en-US" dirty="0"/>
          </a:p>
          <a:p>
            <a:pPr marL="0" indent="0">
              <a:lnSpc>
                <a:spcPct val="150000"/>
              </a:lnSpc>
              <a:buNone/>
            </a:pPr>
            <a:r>
              <a:rPr lang="en-US" dirty="0"/>
              <a:t> Use the `</a:t>
            </a:r>
            <a:r>
              <a:rPr lang="en-US" b="1" dirty="0"/>
              <a:t>git add` </a:t>
            </a:r>
            <a:r>
              <a:rPr lang="en-US" dirty="0"/>
              <a:t>command followed by the filename to stage specific changes. For example, to stage a single file, use `git add &lt;filename&gt;`. </a:t>
            </a:r>
          </a:p>
          <a:p>
            <a:pPr marL="0" indent="0">
              <a:lnSpc>
                <a:spcPct val="150000"/>
              </a:lnSpc>
              <a:buNone/>
            </a:pPr>
            <a:r>
              <a:rPr lang="en-US" b="1" dirty="0"/>
              <a:t>3. Stage All Changes: </a:t>
            </a:r>
            <a:endParaRPr lang="en-US" dirty="0"/>
          </a:p>
          <a:p>
            <a:pPr marL="0" indent="0">
              <a:lnSpc>
                <a:spcPct val="150000"/>
              </a:lnSpc>
              <a:buNone/>
            </a:pPr>
            <a:r>
              <a:rPr lang="en-US" dirty="0"/>
              <a:t>To stage all changes in the working directory, you can use `git add ` to add all modified files or `git add --all` to include all changes, including deleted files. 	</a:t>
            </a:r>
          </a:p>
          <a:p>
            <a:pPr marL="0" indent="0">
              <a:buNone/>
            </a:pPr>
            <a:endParaRPr lang="en-US" dirty="0"/>
          </a:p>
        </p:txBody>
      </p:sp>
    </p:spTree>
    <p:extLst>
      <p:ext uri="{BB962C8B-B14F-4D97-AF65-F5344CB8AC3E}">
        <p14:creationId xmlns:p14="http://schemas.microsoft.com/office/powerpoint/2010/main" val="9017400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D3EA04-4F43-8B65-458E-991E448AB5B8}"/>
              </a:ext>
            </a:extLst>
          </p:cNvPr>
          <p:cNvSpPr>
            <a:spLocks noGrp="1"/>
          </p:cNvSpPr>
          <p:nvPr>
            <p:ph idx="1"/>
          </p:nvPr>
        </p:nvSpPr>
        <p:spPr>
          <a:xfrm>
            <a:off x="731520" y="480060"/>
            <a:ext cx="10869930" cy="5863590"/>
          </a:xfrm>
        </p:spPr>
        <p:txBody>
          <a:bodyPr/>
          <a:lstStyle/>
          <a:p>
            <a:pPr marL="0" indent="0">
              <a:lnSpc>
                <a:spcPct val="150000"/>
              </a:lnSpc>
              <a:buNone/>
            </a:pPr>
            <a:r>
              <a:rPr lang="en-US" b="1" dirty="0"/>
              <a:t>4. Review Staged Changes: </a:t>
            </a:r>
            <a:endParaRPr lang="en-US" dirty="0"/>
          </a:p>
          <a:p>
            <a:pPr marL="0" indent="0">
              <a:lnSpc>
                <a:spcPct val="150000"/>
              </a:lnSpc>
              <a:buNone/>
            </a:pPr>
            <a:r>
              <a:rPr lang="en-US" dirty="0"/>
              <a:t>Verify the changes staged for commit by running `git status` again. The staged changes will be listed under "Changes to be committed." </a:t>
            </a:r>
          </a:p>
          <a:p>
            <a:pPr marL="0" indent="0">
              <a:lnSpc>
                <a:spcPct val="150000"/>
              </a:lnSpc>
              <a:buNone/>
            </a:pPr>
            <a:r>
              <a:rPr lang="en-US" b="1" dirty="0"/>
              <a:t>5. Commit Staged Changes: </a:t>
            </a:r>
            <a:endParaRPr lang="en-US" dirty="0"/>
          </a:p>
          <a:p>
            <a:pPr marL="0" indent="0">
              <a:lnSpc>
                <a:spcPct val="150000"/>
              </a:lnSpc>
              <a:buNone/>
            </a:pPr>
            <a:r>
              <a:rPr lang="en-US" dirty="0"/>
              <a:t> Once the desired changes are staged, commit them to the repository using </a:t>
            </a:r>
            <a:r>
              <a:rPr lang="en-US" b="1" dirty="0"/>
              <a:t>`git commit -m "</a:t>
            </a:r>
            <a:r>
              <a:rPr lang="en-US" dirty="0"/>
              <a:t>Your commit message"` to create a new commit with the staged modifications. 	</a:t>
            </a:r>
          </a:p>
          <a:p>
            <a:pPr marL="0" indent="0">
              <a:buNone/>
            </a:pPr>
            <a:endParaRPr lang="en-US" dirty="0"/>
          </a:p>
        </p:txBody>
      </p:sp>
    </p:spTree>
    <p:extLst>
      <p:ext uri="{BB962C8B-B14F-4D97-AF65-F5344CB8AC3E}">
        <p14:creationId xmlns:p14="http://schemas.microsoft.com/office/powerpoint/2010/main" val="12019009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62C9DD-A8AF-0E24-6105-832047C91B8F}"/>
              </a:ext>
            </a:extLst>
          </p:cNvPr>
          <p:cNvSpPr>
            <a:spLocks noGrp="1"/>
          </p:cNvSpPr>
          <p:nvPr>
            <p:ph idx="1"/>
          </p:nvPr>
        </p:nvSpPr>
        <p:spPr>
          <a:xfrm>
            <a:off x="697230" y="228600"/>
            <a:ext cx="11201400" cy="6229350"/>
          </a:xfrm>
        </p:spPr>
        <p:txBody>
          <a:bodyPr/>
          <a:lstStyle/>
          <a:p>
            <a:pPr marL="0" indent="0">
              <a:buNone/>
            </a:pPr>
            <a:r>
              <a:rPr lang="en-US" b="1" dirty="0"/>
              <a:t>2. Operations on git status command </a:t>
            </a:r>
            <a:endParaRPr lang="en-US" dirty="0"/>
          </a:p>
          <a:p>
            <a:pPr marL="0" indent="0">
              <a:buNone/>
            </a:pPr>
            <a:r>
              <a:rPr lang="en-US" b="1" dirty="0"/>
              <a:t>2.1 View new untracked file </a:t>
            </a:r>
            <a:endParaRPr lang="en-US" dirty="0"/>
          </a:p>
          <a:p>
            <a:pPr marL="0" indent="0">
              <a:buNone/>
            </a:pPr>
            <a:r>
              <a:rPr lang="en-US" dirty="0"/>
              <a:t>To view new untracked files in Git, you can use the `git status` command. Here are the steps to do it practically: </a:t>
            </a:r>
          </a:p>
          <a:p>
            <a:pPr marL="0" indent="0">
              <a:buNone/>
            </a:pPr>
            <a:r>
              <a:rPr lang="en-US" dirty="0"/>
              <a:t>1. Open your </a:t>
            </a:r>
            <a:r>
              <a:rPr lang="en-US" b="1" dirty="0"/>
              <a:t>terminal </a:t>
            </a:r>
            <a:r>
              <a:rPr lang="en-US" dirty="0"/>
              <a:t>or </a:t>
            </a:r>
            <a:r>
              <a:rPr lang="en-US" b="1" dirty="0"/>
              <a:t>command prompt</a:t>
            </a:r>
            <a:r>
              <a:rPr lang="en-US" dirty="0"/>
              <a:t>.</a:t>
            </a:r>
          </a:p>
          <a:p>
            <a:pPr marL="0" indent="0">
              <a:buNone/>
            </a:pPr>
            <a:r>
              <a:rPr lang="en-US" b="1" dirty="0"/>
              <a:t>2. </a:t>
            </a:r>
            <a:r>
              <a:rPr lang="en-US" dirty="0"/>
              <a:t>Navigate to the root directory of your Git repository using the </a:t>
            </a:r>
            <a:r>
              <a:rPr lang="en-US" b="1" dirty="0"/>
              <a:t>`cd` command</a:t>
            </a:r>
            <a:r>
              <a:rPr lang="en-US" dirty="0"/>
              <a:t>. For </a:t>
            </a:r>
            <a:r>
              <a:rPr lang="en-US" b="1" dirty="0"/>
              <a:t>example: </a:t>
            </a:r>
            <a:endParaRPr lang="en-US" dirty="0"/>
          </a:p>
          <a:p>
            <a:pPr marL="0" indent="0">
              <a:buNone/>
            </a:pPr>
            <a:r>
              <a:rPr lang="en-US" dirty="0"/>
              <a:t>cd /path/to/your/repository 	 	</a:t>
            </a:r>
          </a:p>
          <a:p>
            <a:pPr marL="0" indent="0">
              <a:buNone/>
            </a:pPr>
            <a:r>
              <a:rPr lang="en-US" b="1" dirty="0"/>
              <a:t>3. </a:t>
            </a:r>
            <a:r>
              <a:rPr lang="en-US" dirty="0"/>
              <a:t>Run the `</a:t>
            </a:r>
            <a:r>
              <a:rPr lang="en-US" b="1" dirty="0"/>
              <a:t>git status` </a:t>
            </a:r>
            <a:r>
              <a:rPr lang="en-US" dirty="0"/>
              <a:t>command: </a:t>
            </a:r>
          </a:p>
          <a:p>
            <a:r>
              <a:rPr lang="en-US" b="1" dirty="0"/>
              <a:t>git status </a:t>
            </a:r>
            <a:endParaRPr lang="en-US" dirty="0"/>
          </a:p>
          <a:p>
            <a:pPr marL="0" indent="0">
              <a:buNone/>
            </a:pPr>
            <a:r>
              <a:rPr lang="en-US" dirty="0"/>
              <a:t>This command will display the current status of your repository, including any untracked files. 	</a:t>
            </a:r>
          </a:p>
          <a:p>
            <a:pPr marL="0" indent="0">
              <a:buNone/>
            </a:pPr>
            <a:endParaRPr lang="en-US" dirty="0"/>
          </a:p>
        </p:txBody>
      </p:sp>
    </p:spTree>
    <p:extLst>
      <p:ext uri="{BB962C8B-B14F-4D97-AF65-F5344CB8AC3E}">
        <p14:creationId xmlns:p14="http://schemas.microsoft.com/office/powerpoint/2010/main" val="5609613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4566B-0A75-64F2-200A-F585181905BB}"/>
              </a:ext>
            </a:extLst>
          </p:cNvPr>
          <p:cNvSpPr>
            <a:spLocks noGrp="1"/>
          </p:cNvSpPr>
          <p:nvPr>
            <p:ph idx="1"/>
          </p:nvPr>
        </p:nvSpPr>
        <p:spPr>
          <a:xfrm>
            <a:off x="491490" y="422910"/>
            <a:ext cx="11247120" cy="6046470"/>
          </a:xfrm>
        </p:spPr>
        <p:txBody>
          <a:bodyPr/>
          <a:lstStyle/>
          <a:p>
            <a:pPr marL="0" indent="0">
              <a:buNone/>
            </a:pPr>
            <a:r>
              <a:rPr lang="en-US" b="1" dirty="0"/>
              <a:t>4. </a:t>
            </a:r>
            <a:r>
              <a:rPr lang="en-US" dirty="0"/>
              <a:t>Look for the section labeled "Untracked files". It will list all the files in your working directory that are not tracked by Git. </a:t>
            </a:r>
          </a:p>
          <a:p>
            <a:pPr marL="0" indent="0">
              <a:buNone/>
            </a:pPr>
            <a:r>
              <a:rPr lang="en-US" b="1" dirty="0"/>
              <a:t>For example: </a:t>
            </a:r>
            <a:endParaRPr lang="en-US" dirty="0"/>
          </a:p>
          <a:p>
            <a:pPr marL="0" indent="0">
              <a:buNone/>
            </a:pPr>
            <a:r>
              <a:rPr lang="en-US" b="1" dirty="0"/>
              <a:t>Untracked files: </a:t>
            </a:r>
          </a:p>
          <a:p>
            <a:pPr marL="0" indent="0">
              <a:buNone/>
            </a:pPr>
            <a:r>
              <a:rPr lang="en-US" dirty="0"/>
              <a:t>(use "git add &lt;file&gt;..." to include in what will be committed) </a:t>
            </a:r>
          </a:p>
          <a:p>
            <a:pPr marL="0" indent="0">
              <a:buNone/>
            </a:pPr>
            <a:r>
              <a:rPr lang="en-US" dirty="0"/>
              <a:t>new_file.txt </a:t>
            </a:r>
          </a:p>
          <a:p>
            <a:pPr marL="0" indent="0">
              <a:buNone/>
            </a:pPr>
            <a:r>
              <a:rPr lang="en-US" dirty="0"/>
              <a:t>In this example</a:t>
            </a:r>
            <a:r>
              <a:rPr lang="en-US" b="1" dirty="0"/>
              <a:t>, `new_file.txt</a:t>
            </a:r>
            <a:r>
              <a:rPr lang="en-US" dirty="0"/>
              <a:t>` is an untracked file. 	</a:t>
            </a:r>
          </a:p>
          <a:p>
            <a:pPr marL="0" indent="0">
              <a:buNone/>
            </a:pPr>
            <a:r>
              <a:rPr lang="en-US" dirty="0"/>
              <a:t>Running </a:t>
            </a:r>
            <a:r>
              <a:rPr lang="en-US" b="1" dirty="0"/>
              <a:t>`git status` </a:t>
            </a:r>
            <a:r>
              <a:rPr lang="en-US" dirty="0"/>
              <a:t>shows the list of untracked files in your repository. This helps you identify any new files that Git is not currently tracking. If you want to include these untracked files in your Git repository, you can use the </a:t>
            </a:r>
            <a:r>
              <a:rPr lang="en-US" b="1" dirty="0"/>
              <a:t>`git add` </a:t>
            </a:r>
            <a:r>
              <a:rPr lang="en-US" dirty="0"/>
              <a:t>command to stage them for the next commit. 	</a:t>
            </a:r>
          </a:p>
          <a:p>
            <a:pPr marL="0" indent="0">
              <a:buNone/>
            </a:pPr>
            <a:endParaRPr lang="en-US" dirty="0"/>
          </a:p>
        </p:txBody>
      </p:sp>
    </p:spTree>
    <p:extLst>
      <p:ext uri="{BB962C8B-B14F-4D97-AF65-F5344CB8AC3E}">
        <p14:creationId xmlns:p14="http://schemas.microsoft.com/office/powerpoint/2010/main" val="5370475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753D3C-987D-08A3-E84A-E3FB93F645B9}"/>
              </a:ext>
            </a:extLst>
          </p:cNvPr>
          <p:cNvSpPr>
            <a:spLocks noGrp="1"/>
          </p:cNvSpPr>
          <p:nvPr>
            <p:ph idx="1"/>
          </p:nvPr>
        </p:nvSpPr>
        <p:spPr>
          <a:xfrm>
            <a:off x="548640" y="285750"/>
            <a:ext cx="10805160" cy="5891213"/>
          </a:xfrm>
        </p:spPr>
        <p:txBody>
          <a:bodyPr>
            <a:normAutofit fontScale="92500" lnSpcReduction="20000"/>
          </a:bodyPr>
          <a:lstStyle/>
          <a:p>
            <a:pPr marL="0" indent="0">
              <a:buNone/>
            </a:pPr>
            <a:r>
              <a:rPr lang="en-US" b="1" dirty="0"/>
              <a:t>An example that shows the case</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From that image before, there are no untracked files 	</a:t>
            </a:r>
          </a:p>
          <a:p>
            <a:pPr marL="0" indent="0">
              <a:buNone/>
            </a:pPr>
            <a:r>
              <a:rPr lang="en-US" b="1" dirty="0"/>
              <a:t> </a:t>
            </a:r>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98014CDB-06A6-F4EE-42A8-C8829255480D}"/>
              </a:ext>
            </a:extLst>
          </p:cNvPr>
          <p:cNvPicPr>
            <a:picLocks noChangeAspect="1"/>
          </p:cNvPicPr>
          <p:nvPr/>
        </p:nvPicPr>
        <p:blipFill>
          <a:blip r:embed="rId2"/>
          <a:stretch>
            <a:fillRect/>
          </a:stretch>
        </p:blipFill>
        <p:spPr>
          <a:xfrm>
            <a:off x="671091" y="825461"/>
            <a:ext cx="10329397" cy="3735109"/>
          </a:xfrm>
          <a:prstGeom prst="rect">
            <a:avLst/>
          </a:prstGeom>
        </p:spPr>
      </p:pic>
    </p:spTree>
    <p:extLst>
      <p:ext uri="{BB962C8B-B14F-4D97-AF65-F5344CB8AC3E}">
        <p14:creationId xmlns:p14="http://schemas.microsoft.com/office/powerpoint/2010/main" val="39870141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2C612C-94EA-4892-E43F-96F6474FD483}"/>
              </a:ext>
            </a:extLst>
          </p:cNvPr>
          <p:cNvSpPr>
            <a:spLocks noGrp="1"/>
          </p:cNvSpPr>
          <p:nvPr>
            <p:ph idx="1"/>
          </p:nvPr>
        </p:nvSpPr>
        <p:spPr>
          <a:xfrm>
            <a:off x="440055" y="377212"/>
            <a:ext cx="11098530" cy="6103576"/>
          </a:xfrm>
        </p:spPr>
        <p:txBody>
          <a:bodyPr/>
          <a:lstStyle/>
          <a:p>
            <a:pPr marL="0" indent="0">
              <a:buNone/>
            </a:pPr>
            <a:r>
              <a:rPr lang="en-US" dirty="0"/>
              <a:t>Let us create a file called </a:t>
            </a:r>
            <a:r>
              <a:rPr lang="en-US" b="1" dirty="0"/>
              <a:t>“studentregistration.html” </a:t>
            </a:r>
            <a:r>
              <a:rPr lang="en-US" dirty="0"/>
              <a:t>inside our repository by using </a:t>
            </a:r>
            <a:r>
              <a:rPr lang="en-US" b="1" dirty="0"/>
              <a:t>touch File name </a:t>
            </a:r>
            <a:endParaRPr lang="en-US" dirty="0"/>
          </a:p>
          <a:p>
            <a:pPr marL="0" indent="0">
              <a:buNone/>
            </a:pPr>
            <a:r>
              <a:rPr lang="en-US" dirty="0"/>
              <a:t>Then, after running git status and seeing what happens 	</a:t>
            </a:r>
          </a:p>
          <a:p>
            <a:pPr marL="0" indent="0">
              <a:buNone/>
            </a:pPr>
            <a:endParaRPr lang="en-US" dirty="0"/>
          </a:p>
        </p:txBody>
      </p:sp>
      <p:pic>
        <p:nvPicPr>
          <p:cNvPr id="5" name="Picture 4">
            <a:extLst>
              <a:ext uri="{FF2B5EF4-FFF2-40B4-BE49-F238E27FC236}">
                <a16:creationId xmlns:a16="http://schemas.microsoft.com/office/drawing/2014/main" id="{8E687360-B4F2-C49E-1213-F1EFD7ED9B16}"/>
              </a:ext>
            </a:extLst>
          </p:cNvPr>
          <p:cNvPicPr>
            <a:picLocks noChangeAspect="1"/>
          </p:cNvPicPr>
          <p:nvPr/>
        </p:nvPicPr>
        <p:blipFill>
          <a:blip r:embed="rId2"/>
          <a:stretch>
            <a:fillRect/>
          </a:stretch>
        </p:blipFill>
        <p:spPr>
          <a:xfrm>
            <a:off x="527685" y="1777471"/>
            <a:ext cx="10572750" cy="4703317"/>
          </a:xfrm>
          <a:prstGeom prst="rect">
            <a:avLst/>
          </a:prstGeom>
        </p:spPr>
      </p:pic>
    </p:spTree>
    <p:extLst>
      <p:ext uri="{BB962C8B-B14F-4D97-AF65-F5344CB8AC3E}">
        <p14:creationId xmlns:p14="http://schemas.microsoft.com/office/powerpoint/2010/main" val="28238335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DDFB3-A808-B32D-E346-0577AF61E1A0}"/>
              </a:ext>
            </a:extLst>
          </p:cNvPr>
          <p:cNvSpPr>
            <a:spLocks noGrp="1"/>
          </p:cNvSpPr>
          <p:nvPr>
            <p:ph idx="1"/>
          </p:nvPr>
        </p:nvSpPr>
        <p:spPr>
          <a:xfrm>
            <a:off x="697230" y="548640"/>
            <a:ext cx="11372850" cy="5749290"/>
          </a:xfrm>
        </p:spPr>
        <p:txBody>
          <a:bodyPr>
            <a:normAutofit/>
          </a:bodyPr>
          <a:lstStyle/>
          <a:p>
            <a:pPr marL="0" indent="0">
              <a:buNone/>
            </a:pPr>
            <a:r>
              <a:rPr lang="en-US" dirty="0"/>
              <a:t>In that case, it displays studentregistration.html as untracked because it has been created but not staged, which means that it is under the working stage. 	</a:t>
            </a:r>
          </a:p>
          <a:p>
            <a:pPr marL="0" indent="0">
              <a:buNone/>
            </a:pPr>
            <a:r>
              <a:rPr lang="en-US" b="1" dirty="0"/>
              <a:t>2.2 View modified file </a:t>
            </a:r>
            <a:endParaRPr lang="en-US" dirty="0"/>
          </a:p>
          <a:p>
            <a:pPr marL="0" indent="0">
              <a:buNone/>
            </a:pPr>
            <a:r>
              <a:rPr lang="en-US" dirty="0"/>
              <a:t>Let's assume you have a Git repository with some files, and you have made changes to one of the files. Follow these steps to view the modified file: </a:t>
            </a:r>
          </a:p>
          <a:p>
            <a:pPr marL="0" indent="0">
              <a:buNone/>
            </a:pPr>
            <a:r>
              <a:rPr lang="en-US" b="1" dirty="0"/>
              <a:t>1. </a:t>
            </a:r>
            <a:r>
              <a:rPr lang="en-US" dirty="0"/>
              <a:t>Open your terminal or command prompt. </a:t>
            </a:r>
          </a:p>
          <a:p>
            <a:pPr marL="0" indent="0">
              <a:buNone/>
            </a:pPr>
            <a:r>
              <a:rPr lang="en-US" b="1" dirty="0"/>
              <a:t>2. </a:t>
            </a:r>
            <a:r>
              <a:rPr lang="en-US" dirty="0"/>
              <a:t>Navigate to the root directory of your Git repository using the `cd` command. For example: cd /path/to/your/repository </a:t>
            </a:r>
          </a:p>
          <a:p>
            <a:pPr marL="0" indent="0">
              <a:buNone/>
            </a:pPr>
            <a:r>
              <a:rPr lang="en-US" b="1" dirty="0"/>
              <a:t>3. Run the `git status` command: </a:t>
            </a:r>
            <a:endParaRPr lang="en-US" dirty="0"/>
          </a:p>
          <a:p>
            <a:pPr marL="0" indent="0">
              <a:buNone/>
            </a:pPr>
            <a:r>
              <a:rPr lang="en-US" dirty="0"/>
              <a:t>This command will display the current status of your repository, including any modified files. 	</a:t>
            </a:r>
          </a:p>
          <a:p>
            <a:pPr marL="0" indent="0">
              <a:buNone/>
            </a:pPr>
            <a:endParaRPr lang="en-US" dirty="0"/>
          </a:p>
        </p:txBody>
      </p:sp>
    </p:spTree>
    <p:extLst>
      <p:ext uri="{BB962C8B-B14F-4D97-AF65-F5344CB8AC3E}">
        <p14:creationId xmlns:p14="http://schemas.microsoft.com/office/powerpoint/2010/main" val="10185635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352E41-BA4C-C34B-8A63-36431283D2CE}"/>
              </a:ext>
            </a:extLst>
          </p:cNvPr>
          <p:cNvSpPr>
            <a:spLocks noGrp="1"/>
          </p:cNvSpPr>
          <p:nvPr>
            <p:ph idx="1"/>
          </p:nvPr>
        </p:nvSpPr>
        <p:spPr>
          <a:xfrm>
            <a:off x="548640" y="548640"/>
            <a:ext cx="10805160" cy="5628323"/>
          </a:xfrm>
        </p:spPr>
        <p:txBody>
          <a:bodyPr/>
          <a:lstStyle/>
          <a:p>
            <a:pPr marL="0" indent="0">
              <a:buNone/>
            </a:pPr>
            <a:r>
              <a:rPr lang="en-US" b="1" dirty="0"/>
              <a:t>4. </a:t>
            </a:r>
            <a:r>
              <a:rPr lang="en-US" dirty="0"/>
              <a:t>Look for the section labeled "Changes not staged for commit". It will list all the modified files in your working directory. </a:t>
            </a:r>
          </a:p>
          <a:p>
            <a:pPr marL="0" indent="0">
              <a:buNone/>
            </a:pPr>
            <a:r>
              <a:rPr lang="en-US" b="1" dirty="0"/>
              <a:t>For example: </a:t>
            </a:r>
            <a:r>
              <a:rPr lang="en-US" dirty="0"/>
              <a:t>Changes not staged for commit: </a:t>
            </a:r>
          </a:p>
          <a:p>
            <a:pPr marL="0" indent="0">
              <a:buNone/>
            </a:pPr>
            <a:r>
              <a:rPr lang="en-US" dirty="0"/>
              <a:t>(use </a:t>
            </a:r>
            <a:r>
              <a:rPr lang="en-US" b="1" dirty="0"/>
              <a:t>"git add &lt;file&gt;..." </a:t>
            </a:r>
            <a:r>
              <a:rPr lang="en-US" dirty="0"/>
              <a:t>to update what will be committed) </a:t>
            </a:r>
          </a:p>
          <a:p>
            <a:pPr marL="0" indent="0">
              <a:buNone/>
            </a:pPr>
            <a:r>
              <a:rPr lang="en-US" dirty="0"/>
              <a:t>(use </a:t>
            </a:r>
            <a:r>
              <a:rPr lang="en-US" b="1" dirty="0"/>
              <a:t>"git restore &lt;file&gt;..." </a:t>
            </a:r>
            <a:r>
              <a:rPr lang="en-US" dirty="0"/>
              <a:t>to discard changes in working directory) </a:t>
            </a:r>
          </a:p>
          <a:p>
            <a:pPr marL="0" indent="0">
              <a:buNone/>
            </a:pPr>
            <a:r>
              <a:rPr lang="en-US" dirty="0"/>
              <a:t>modified: file.txt </a:t>
            </a:r>
          </a:p>
          <a:p>
            <a:pPr marL="0" indent="0">
              <a:buNone/>
            </a:pPr>
            <a:r>
              <a:rPr lang="en-US" dirty="0"/>
              <a:t>In this example, `file.txt` is the modified file. 	</a:t>
            </a:r>
          </a:p>
          <a:p>
            <a:pPr marL="0" indent="0">
              <a:buNone/>
            </a:pPr>
            <a:endParaRPr lang="en-US" dirty="0"/>
          </a:p>
        </p:txBody>
      </p:sp>
    </p:spTree>
    <p:extLst>
      <p:ext uri="{BB962C8B-B14F-4D97-AF65-F5344CB8AC3E}">
        <p14:creationId xmlns:p14="http://schemas.microsoft.com/office/powerpoint/2010/main" val="6659500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2FC0D94-3364-A644-D46B-4AB76664C75C}"/>
              </a:ext>
            </a:extLst>
          </p:cNvPr>
          <p:cNvSpPr>
            <a:spLocks noGrp="1"/>
          </p:cNvSpPr>
          <p:nvPr>
            <p:ph idx="1"/>
          </p:nvPr>
        </p:nvSpPr>
        <p:spPr>
          <a:xfrm>
            <a:off x="708660" y="502920"/>
            <a:ext cx="10645140" cy="5674043"/>
          </a:xfrm>
        </p:spPr>
        <p:txBody>
          <a:bodyPr/>
          <a:lstStyle/>
          <a:p>
            <a:pPr marL="0" indent="0">
              <a:buNone/>
            </a:pPr>
            <a:r>
              <a:rPr lang="en-US" dirty="0"/>
              <a:t>All modified files or changed files are viewed by using </a:t>
            </a:r>
            <a:r>
              <a:rPr lang="en-US" b="1" dirty="0"/>
              <a:t>Git status </a:t>
            </a:r>
            <a:r>
              <a:rPr lang="en-US" dirty="0"/>
              <a:t>	</a:t>
            </a:r>
          </a:p>
          <a:p>
            <a:pPr marL="0" indent="0">
              <a:buNone/>
            </a:pPr>
            <a:endParaRPr lang="en-US" dirty="0"/>
          </a:p>
        </p:txBody>
      </p:sp>
      <p:pic>
        <p:nvPicPr>
          <p:cNvPr id="9" name="Picture 8">
            <a:extLst>
              <a:ext uri="{FF2B5EF4-FFF2-40B4-BE49-F238E27FC236}">
                <a16:creationId xmlns:a16="http://schemas.microsoft.com/office/drawing/2014/main" id="{DC46D2A9-71F4-5A70-F7BE-98AB3A742BA1}"/>
              </a:ext>
            </a:extLst>
          </p:cNvPr>
          <p:cNvPicPr>
            <a:picLocks noChangeAspect="1"/>
          </p:cNvPicPr>
          <p:nvPr/>
        </p:nvPicPr>
        <p:blipFill>
          <a:blip r:embed="rId2"/>
          <a:stretch>
            <a:fillRect/>
          </a:stretch>
        </p:blipFill>
        <p:spPr>
          <a:xfrm>
            <a:off x="1092057" y="1288939"/>
            <a:ext cx="7606173" cy="2932815"/>
          </a:xfrm>
          <a:prstGeom prst="rect">
            <a:avLst/>
          </a:prstGeom>
        </p:spPr>
      </p:pic>
    </p:spTree>
    <p:extLst>
      <p:ext uri="{BB962C8B-B14F-4D97-AF65-F5344CB8AC3E}">
        <p14:creationId xmlns:p14="http://schemas.microsoft.com/office/powerpoint/2010/main" val="27841551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332860-648F-E535-3D13-505B330E4CED}"/>
              </a:ext>
            </a:extLst>
          </p:cNvPr>
          <p:cNvSpPr>
            <a:spLocks noGrp="1"/>
          </p:cNvSpPr>
          <p:nvPr>
            <p:ph idx="1"/>
          </p:nvPr>
        </p:nvSpPr>
        <p:spPr>
          <a:xfrm>
            <a:off x="571500" y="651510"/>
            <a:ext cx="11452860" cy="5863590"/>
          </a:xfrm>
        </p:spPr>
        <p:txBody>
          <a:bodyPr/>
          <a:lstStyle/>
          <a:p>
            <a:pPr marL="0" indent="0">
              <a:buNone/>
            </a:pPr>
            <a:r>
              <a:rPr lang="en-US" b="1" dirty="0"/>
              <a:t>2.3 View deleted file </a:t>
            </a:r>
            <a:endParaRPr lang="en-US" dirty="0"/>
          </a:p>
          <a:p>
            <a:pPr marL="0" indent="0">
              <a:buNone/>
            </a:pPr>
            <a:r>
              <a:rPr lang="en-US" dirty="0"/>
              <a:t>To view deleted files in Git, you can use the `git status` command. </a:t>
            </a:r>
          </a:p>
          <a:p>
            <a:pPr marL="0" indent="0">
              <a:buNone/>
            </a:pPr>
            <a:r>
              <a:rPr lang="en-US" dirty="0"/>
              <a:t>Here's a clear example of how to do it practically: </a:t>
            </a:r>
          </a:p>
          <a:p>
            <a:pPr marL="0" indent="0">
              <a:buNone/>
            </a:pPr>
            <a:r>
              <a:rPr lang="en-US" dirty="0"/>
              <a:t>Assuming you have a Git repository and you have deleted a file. Follow these steps to view the deleted file: </a:t>
            </a:r>
          </a:p>
          <a:p>
            <a:pPr marL="0" indent="0">
              <a:buNone/>
            </a:pPr>
            <a:r>
              <a:rPr lang="en-US" b="1" dirty="0"/>
              <a:t>1. Open your terminal or command prompt. </a:t>
            </a:r>
            <a:endParaRPr lang="en-US" dirty="0"/>
          </a:p>
          <a:p>
            <a:pPr marL="0" indent="0">
              <a:buNone/>
            </a:pPr>
            <a:r>
              <a:rPr lang="en-US" b="1" dirty="0"/>
              <a:t>2. </a:t>
            </a:r>
            <a:r>
              <a:rPr lang="en-US" dirty="0"/>
              <a:t>Navigate to the root directory of your Git repository using the `cd` command. For example: 	</a:t>
            </a:r>
          </a:p>
          <a:p>
            <a:pPr marL="0" indent="0">
              <a:buNone/>
            </a:pPr>
            <a:r>
              <a:rPr lang="en-US" dirty="0"/>
              <a:t>cd /path/to/your/repository </a:t>
            </a:r>
          </a:p>
          <a:p>
            <a:pPr marL="0" indent="0">
              <a:buNone/>
            </a:pPr>
            <a:r>
              <a:rPr lang="en-US" b="1" dirty="0"/>
              <a:t>3. </a:t>
            </a:r>
            <a:r>
              <a:rPr lang="en-US" dirty="0"/>
              <a:t>Run the `</a:t>
            </a:r>
            <a:r>
              <a:rPr lang="en-US" b="1" dirty="0"/>
              <a:t>git status</a:t>
            </a:r>
            <a:r>
              <a:rPr lang="en-US" dirty="0"/>
              <a:t>` command: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5924132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6EF13-625B-4181-1B13-F421817B451E}"/>
              </a:ext>
            </a:extLst>
          </p:cNvPr>
          <p:cNvSpPr>
            <a:spLocks noGrp="1"/>
          </p:cNvSpPr>
          <p:nvPr>
            <p:ph idx="1"/>
          </p:nvPr>
        </p:nvSpPr>
        <p:spPr>
          <a:xfrm>
            <a:off x="674370" y="788670"/>
            <a:ext cx="10679430" cy="5388293"/>
          </a:xfrm>
        </p:spPr>
        <p:txBody>
          <a:bodyPr/>
          <a:lstStyle/>
          <a:p>
            <a:pPr marL="0" indent="0">
              <a:buNone/>
            </a:pPr>
            <a:r>
              <a:rPr lang="en-US" b="1" dirty="0"/>
              <a:t>git status </a:t>
            </a:r>
            <a:endParaRPr lang="en-US" dirty="0"/>
          </a:p>
          <a:p>
            <a:pPr marL="0" indent="0">
              <a:buNone/>
            </a:pPr>
            <a:r>
              <a:rPr lang="en-US" dirty="0"/>
              <a:t>This command will display the current status of your repository, including any deleted files. </a:t>
            </a:r>
          </a:p>
          <a:p>
            <a:pPr marL="0" indent="0">
              <a:buNone/>
            </a:pPr>
            <a:r>
              <a:rPr lang="en-US" b="1" dirty="0"/>
              <a:t>4. </a:t>
            </a:r>
            <a:r>
              <a:rPr lang="en-US" dirty="0"/>
              <a:t>Look for the section labeled "Changes not staged for commit". It will list all the deleted files in your working directory. 	</a:t>
            </a:r>
          </a:p>
          <a:p>
            <a:pPr marL="0" indent="0">
              <a:buNone/>
            </a:pPr>
            <a:endParaRPr lang="en-US" dirty="0"/>
          </a:p>
        </p:txBody>
      </p:sp>
    </p:spTree>
    <p:extLst>
      <p:ext uri="{BB962C8B-B14F-4D97-AF65-F5344CB8AC3E}">
        <p14:creationId xmlns:p14="http://schemas.microsoft.com/office/powerpoint/2010/main" val="27263324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B0337A-AD1B-5820-F5D7-29AF9834E582}"/>
              </a:ext>
            </a:extLst>
          </p:cNvPr>
          <p:cNvSpPr>
            <a:spLocks noGrp="1"/>
          </p:cNvSpPr>
          <p:nvPr>
            <p:ph idx="1"/>
          </p:nvPr>
        </p:nvSpPr>
        <p:spPr>
          <a:xfrm>
            <a:off x="685800" y="0"/>
            <a:ext cx="11327130" cy="6663690"/>
          </a:xfrm>
        </p:spPr>
        <p:txBody>
          <a:bodyPr>
            <a:normAutofit/>
          </a:bodyPr>
          <a:lstStyle/>
          <a:p>
            <a:pPr marL="0" indent="0">
              <a:lnSpc>
                <a:spcPct val="150000"/>
              </a:lnSpc>
              <a:buNone/>
            </a:pPr>
            <a:r>
              <a:rPr lang="en-US" b="1" dirty="0"/>
              <a:t>For example: </a:t>
            </a:r>
            <a:endParaRPr lang="en-US" dirty="0"/>
          </a:p>
          <a:p>
            <a:pPr marL="0" indent="0">
              <a:lnSpc>
                <a:spcPct val="150000"/>
              </a:lnSpc>
              <a:buNone/>
            </a:pPr>
            <a:r>
              <a:rPr lang="en-US" dirty="0"/>
              <a:t>Changes not staged for commit: </a:t>
            </a:r>
          </a:p>
          <a:p>
            <a:pPr marL="0" indent="0">
              <a:lnSpc>
                <a:spcPct val="150000"/>
              </a:lnSpc>
              <a:buNone/>
            </a:pPr>
            <a:r>
              <a:rPr lang="en-US" dirty="0"/>
              <a:t>(use </a:t>
            </a:r>
            <a:r>
              <a:rPr lang="en-US" b="1" dirty="0"/>
              <a:t>"git add &lt;file&gt;..." </a:t>
            </a:r>
            <a:r>
              <a:rPr lang="en-US" dirty="0"/>
              <a:t>to update what will be committed) </a:t>
            </a:r>
          </a:p>
          <a:p>
            <a:pPr marL="0" indent="0">
              <a:lnSpc>
                <a:spcPct val="150000"/>
              </a:lnSpc>
              <a:buNone/>
            </a:pPr>
            <a:r>
              <a:rPr lang="en-US" dirty="0"/>
              <a:t>(use "</a:t>
            </a:r>
            <a:r>
              <a:rPr lang="en-US" b="1" dirty="0"/>
              <a:t>git restore &lt;file&gt;..." </a:t>
            </a:r>
            <a:r>
              <a:rPr lang="en-US" dirty="0"/>
              <a:t>to discard changes in working directory) </a:t>
            </a:r>
          </a:p>
          <a:p>
            <a:pPr marL="0" indent="0">
              <a:lnSpc>
                <a:spcPct val="150000"/>
              </a:lnSpc>
              <a:buNone/>
            </a:pPr>
            <a:r>
              <a:rPr lang="en-US" dirty="0"/>
              <a:t>deleted: deleted_file.txt </a:t>
            </a:r>
          </a:p>
          <a:p>
            <a:pPr marL="0" indent="0">
              <a:lnSpc>
                <a:spcPct val="150000"/>
              </a:lnSpc>
              <a:buNone/>
            </a:pPr>
            <a:r>
              <a:rPr lang="en-US" dirty="0"/>
              <a:t>In this example, `</a:t>
            </a:r>
            <a:r>
              <a:rPr lang="en-US" b="1" dirty="0"/>
              <a:t>deleted_file.txt</a:t>
            </a:r>
            <a:r>
              <a:rPr lang="en-US" dirty="0"/>
              <a:t>` is the deleted file. </a:t>
            </a:r>
          </a:p>
          <a:p>
            <a:pPr marL="0" indent="0">
              <a:lnSpc>
                <a:spcPct val="150000"/>
              </a:lnSpc>
              <a:buNone/>
            </a:pPr>
            <a:r>
              <a:rPr lang="en-US" dirty="0"/>
              <a:t>By running `git status`, you can easily identify the deleted file in your repository. Git will display the file name and indicate that it has been deleted. 	</a:t>
            </a:r>
          </a:p>
          <a:p>
            <a:pPr marL="0" indent="0">
              <a:buNone/>
            </a:pPr>
            <a:endParaRPr lang="en-US" dirty="0"/>
          </a:p>
        </p:txBody>
      </p:sp>
    </p:spTree>
    <p:extLst>
      <p:ext uri="{BB962C8B-B14F-4D97-AF65-F5344CB8AC3E}">
        <p14:creationId xmlns:p14="http://schemas.microsoft.com/office/powerpoint/2010/main" val="42714774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51965A-C986-BE99-2097-D791B6EF67A6}"/>
              </a:ext>
            </a:extLst>
          </p:cNvPr>
          <p:cNvSpPr>
            <a:spLocks noGrp="1"/>
          </p:cNvSpPr>
          <p:nvPr>
            <p:ph idx="1"/>
          </p:nvPr>
        </p:nvSpPr>
        <p:spPr>
          <a:xfrm>
            <a:off x="548640" y="514350"/>
            <a:ext cx="10805160" cy="5662613"/>
          </a:xfrm>
        </p:spPr>
        <p:txBody>
          <a:bodyPr/>
          <a:lstStyle/>
          <a:p>
            <a:pPr marL="0" indent="0">
              <a:buNone/>
            </a:pPr>
            <a:r>
              <a:rPr lang="en-US" dirty="0"/>
              <a:t>Remember that to delete a file you use </a:t>
            </a:r>
            <a:r>
              <a:rPr lang="en-US" b="1" dirty="0"/>
              <a:t>git rm &lt;filename&gt; </a:t>
            </a:r>
            <a:r>
              <a:rPr lang="en-US" dirty="0"/>
              <a:t>once you have deleted a file in git you can view them by using </a:t>
            </a:r>
            <a:r>
              <a:rPr lang="en-US" b="1" dirty="0"/>
              <a:t>Git status. </a:t>
            </a:r>
            <a:r>
              <a:rPr lang="en-US" dirty="0"/>
              <a:t>	</a:t>
            </a:r>
          </a:p>
          <a:p>
            <a:pPr marL="0" indent="0">
              <a:buNone/>
            </a:pPr>
            <a:endParaRPr lang="en-US" dirty="0"/>
          </a:p>
        </p:txBody>
      </p:sp>
      <p:pic>
        <p:nvPicPr>
          <p:cNvPr id="5" name="Picture 4">
            <a:extLst>
              <a:ext uri="{FF2B5EF4-FFF2-40B4-BE49-F238E27FC236}">
                <a16:creationId xmlns:a16="http://schemas.microsoft.com/office/drawing/2014/main" id="{271AC17A-724A-F7ED-2B6B-A0C2033E0B72}"/>
              </a:ext>
            </a:extLst>
          </p:cNvPr>
          <p:cNvPicPr>
            <a:picLocks noChangeAspect="1"/>
          </p:cNvPicPr>
          <p:nvPr/>
        </p:nvPicPr>
        <p:blipFill>
          <a:blip r:embed="rId2"/>
          <a:stretch>
            <a:fillRect/>
          </a:stretch>
        </p:blipFill>
        <p:spPr>
          <a:xfrm>
            <a:off x="838199" y="1688412"/>
            <a:ext cx="10169987" cy="4152318"/>
          </a:xfrm>
          <a:prstGeom prst="rect">
            <a:avLst/>
          </a:prstGeom>
        </p:spPr>
      </p:pic>
    </p:spTree>
    <p:extLst>
      <p:ext uri="{BB962C8B-B14F-4D97-AF65-F5344CB8AC3E}">
        <p14:creationId xmlns:p14="http://schemas.microsoft.com/office/powerpoint/2010/main" val="29339122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CBA36-DB3B-D0C7-7311-59F173659F0E}"/>
              </a:ext>
            </a:extLst>
          </p:cNvPr>
          <p:cNvSpPr>
            <a:spLocks noGrp="1"/>
          </p:cNvSpPr>
          <p:nvPr>
            <p:ph idx="1"/>
          </p:nvPr>
        </p:nvSpPr>
        <p:spPr>
          <a:xfrm>
            <a:off x="491490" y="560070"/>
            <a:ext cx="11452860" cy="6069330"/>
          </a:xfrm>
        </p:spPr>
        <p:txBody>
          <a:bodyPr/>
          <a:lstStyle/>
          <a:p>
            <a:pPr marL="0" indent="0">
              <a:buNone/>
            </a:pPr>
            <a:r>
              <a:rPr lang="en-US" b="1" dirty="0"/>
              <a:t>3. Operation on the git add command </a:t>
            </a:r>
            <a:endParaRPr lang="en-US" dirty="0"/>
          </a:p>
          <a:p>
            <a:pPr marL="0" indent="0">
              <a:buNone/>
            </a:pPr>
            <a:r>
              <a:rPr lang="en-US" b="1" dirty="0"/>
              <a:t>3.1 Stage all files </a:t>
            </a:r>
            <a:endParaRPr lang="en-US" dirty="0"/>
          </a:p>
          <a:p>
            <a:pPr marL="0" indent="0">
              <a:buNone/>
            </a:pPr>
            <a:r>
              <a:rPr lang="en-US" b="1" dirty="0"/>
              <a:t>Git add files </a:t>
            </a:r>
          </a:p>
          <a:p>
            <a:pPr marL="0" indent="0">
              <a:buNone/>
            </a:pPr>
            <a:r>
              <a:rPr lang="en-US" dirty="0"/>
              <a:t> The Git add command is a straightforward command. It adds files to the staging area. We can add single or multiple files at once in the staging area.</a:t>
            </a:r>
          </a:p>
          <a:p>
            <a:pPr marL="0" indent="0">
              <a:buNone/>
            </a:pPr>
            <a:r>
              <a:rPr lang="en-US" b="1" dirty="0"/>
              <a:t>$ git add &lt;File name&gt; </a:t>
            </a:r>
            <a:endParaRPr lang="en-US" dirty="0"/>
          </a:p>
          <a:p>
            <a:pPr marL="0" indent="0">
              <a:buNone/>
            </a:pPr>
            <a:r>
              <a:rPr lang="en-US" dirty="0"/>
              <a:t>The above command is added to the git staging area, but it cannot be shared on the version control system. A commit operation is needed to share it. Let's understand the scenario.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6774462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B77A9-F2C4-C534-23D3-CC26B93FE0AC}"/>
              </a:ext>
            </a:extLst>
          </p:cNvPr>
          <p:cNvSpPr>
            <a:spLocks noGrp="1"/>
          </p:cNvSpPr>
          <p:nvPr>
            <p:ph idx="1"/>
          </p:nvPr>
        </p:nvSpPr>
        <p:spPr>
          <a:xfrm>
            <a:off x="422910" y="320040"/>
            <a:ext cx="11521440" cy="6103620"/>
          </a:xfrm>
        </p:spPr>
        <p:txBody>
          <a:bodyPr>
            <a:normAutofit fontScale="92500" lnSpcReduction="20000"/>
          </a:bodyPr>
          <a:lstStyle/>
          <a:p>
            <a:pPr marL="0" indent="0">
              <a:lnSpc>
                <a:spcPct val="150000"/>
              </a:lnSpc>
              <a:buNone/>
            </a:pPr>
            <a:r>
              <a:rPr lang="en-US" dirty="0"/>
              <a:t>We have created a file for our newly created repository in </a:t>
            </a:r>
            <a:r>
              <a:rPr lang="en-US" b="1" dirty="0" err="1"/>
              <a:t>NewDirectory</a:t>
            </a:r>
            <a:r>
              <a:rPr lang="en-US" dirty="0"/>
              <a:t>. To create a file, use the touch command as follows: </a:t>
            </a:r>
          </a:p>
          <a:p>
            <a:pPr marL="0" indent="0">
              <a:lnSpc>
                <a:spcPct val="150000"/>
              </a:lnSpc>
              <a:buNone/>
            </a:pPr>
            <a:r>
              <a:rPr lang="en-US" b="1" dirty="0"/>
              <a:t>$ touch newfile.txt </a:t>
            </a:r>
          </a:p>
          <a:p>
            <a:pPr marL="0" indent="0">
              <a:lnSpc>
                <a:spcPct val="150000"/>
              </a:lnSpc>
              <a:buNone/>
            </a:pPr>
            <a:r>
              <a:rPr lang="en-US" dirty="0"/>
              <a:t>And check the status whether it is untracked or not by git status command as follows: </a:t>
            </a:r>
          </a:p>
          <a:p>
            <a:pPr marL="0" indent="0">
              <a:lnSpc>
                <a:spcPct val="150000"/>
              </a:lnSpc>
              <a:buNone/>
            </a:pPr>
            <a:r>
              <a:rPr lang="en-US" b="1" dirty="0"/>
              <a:t>$ git status </a:t>
            </a:r>
            <a:endParaRPr lang="en-US" dirty="0"/>
          </a:p>
          <a:p>
            <a:pPr marL="0" indent="0">
              <a:lnSpc>
                <a:spcPct val="150000"/>
              </a:lnSpc>
              <a:buNone/>
            </a:pPr>
            <a:r>
              <a:rPr lang="en-US" dirty="0"/>
              <a:t>The above command will display the untracked files from the repository. These files can be added to our repository. As we know we have created a newfile.txt, so to add this file, run the below command: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38935431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22ECB7-66C0-56D8-2FDB-FE2BE1B89969}"/>
              </a:ext>
            </a:extLst>
          </p:cNvPr>
          <p:cNvSpPr>
            <a:spLocks noGrp="1"/>
          </p:cNvSpPr>
          <p:nvPr>
            <p:ph idx="1"/>
          </p:nvPr>
        </p:nvSpPr>
        <p:spPr>
          <a:xfrm>
            <a:off x="708659" y="662940"/>
            <a:ext cx="10774681" cy="5772150"/>
          </a:xfrm>
        </p:spPr>
        <p:txBody>
          <a:bodyPr/>
          <a:lstStyle/>
          <a:p>
            <a:pPr marL="0" indent="0">
              <a:buNone/>
            </a:pPr>
            <a:r>
              <a:rPr lang="en-US" b="1" dirty="0"/>
              <a:t>$ git add newfile.txt </a:t>
            </a:r>
            <a:endParaRPr lang="en-US" dirty="0"/>
          </a:p>
          <a:p>
            <a:pPr marL="0" indent="0">
              <a:buNone/>
            </a:pPr>
            <a:r>
              <a:rPr lang="en-US" dirty="0"/>
              <a:t>Consider the below output: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3950B98F-99FC-D369-3DDD-318979CA7D27}"/>
              </a:ext>
            </a:extLst>
          </p:cNvPr>
          <p:cNvPicPr>
            <a:picLocks noChangeAspect="1"/>
          </p:cNvPicPr>
          <p:nvPr/>
        </p:nvPicPr>
        <p:blipFill>
          <a:blip r:embed="rId2"/>
          <a:stretch>
            <a:fillRect/>
          </a:stretch>
        </p:blipFill>
        <p:spPr>
          <a:xfrm>
            <a:off x="708659" y="1611630"/>
            <a:ext cx="9909811" cy="4843218"/>
          </a:xfrm>
          <a:prstGeom prst="rect">
            <a:avLst/>
          </a:prstGeom>
        </p:spPr>
      </p:pic>
    </p:spTree>
    <p:extLst>
      <p:ext uri="{BB962C8B-B14F-4D97-AF65-F5344CB8AC3E}">
        <p14:creationId xmlns:p14="http://schemas.microsoft.com/office/powerpoint/2010/main" val="22256950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8271DC-2DDC-B7C2-8349-D483E6480A38}"/>
              </a:ext>
            </a:extLst>
          </p:cNvPr>
          <p:cNvSpPr>
            <a:spLocks noGrp="1"/>
          </p:cNvSpPr>
          <p:nvPr>
            <p:ph idx="1"/>
          </p:nvPr>
        </p:nvSpPr>
        <p:spPr>
          <a:xfrm>
            <a:off x="838200" y="525780"/>
            <a:ext cx="11117580" cy="6035040"/>
          </a:xfrm>
        </p:spPr>
        <p:txBody>
          <a:bodyPr/>
          <a:lstStyle/>
          <a:p>
            <a:pPr marL="0" indent="0">
              <a:lnSpc>
                <a:spcPct val="150000"/>
              </a:lnSpc>
              <a:buNone/>
            </a:pPr>
            <a:r>
              <a:rPr lang="en-US" sz="2600" dirty="0"/>
              <a:t>From the above output, we can see </a:t>
            </a:r>
            <a:r>
              <a:rPr lang="en-US" sz="2600" b="1" dirty="0"/>
              <a:t>newfile.txt </a:t>
            </a:r>
            <a:r>
              <a:rPr lang="en-US" sz="2600" dirty="0"/>
              <a:t>has been added to our repository. Now, we have to commit it to share on Git. 	</a:t>
            </a:r>
          </a:p>
          <a:p>
            <a:pPr marL="0" indent="0">
              <a:lnSpc>
                <a:spcPct val="150000"/>
              </a:lnSpc>
              <a:buNone/>
            </a:pPr>
            <a:r>
              <a:rPr lang="en-US" sz="2600" b="1" dirty="0"/>
              <a:t>3.2 Git Add All </a:t>
            </a:r>
            <a:endParaRPr lang="en-US" sz="2600" dirty="0"/>
          </a:p>
          <a:p>
            <a:pPr marL="0" indent="0">
              <a:lnSpc>
                <a:spcPct val="150000"/>
              </a:lnSpc>
              <a:buNone/>
            </a:pPr>
            <a:r>
              <a:rPr lang="en-US" sz="2600" dirty="0"/>
              <a:t>We can add more than one file in Git, but we have to run the add command repeatedly. Git facilitates us with a unique option of the add command by which we can add all the available files at once. To add all the files from the repository, run the add command with </a:t>
            </a:r>
            <a:r>
              <a:rPr lang="en-US" sz="2600" b="1" dirty="0"/>
              <a:t>-A </a:t>
            </a:r>
            <a:r>
              <a:rPr lang="en-US" sz="2600" dirty="0"/>
              <a:t>option. We can use '.' Instead of </a:t>
            </a:r>
            <a:r>
              <a:rPr lang="en-US" sz="2600" b="1" dirty="0"/>
              <a:t>-A </a:t>
            </a:r>
            <a:r>
              <a:rPr lang="en-US" sz="2600" dirty="0"/>
              <a:t>option. This command will stage all the files at a time. It will run as follows: 	</a:t>
            </a:r>
          </a:p>
          <a:p>
            <a:pPr marL="0" indent="0">
              <a:buNone/>
            </a:pPr>
            <a:endParaRPr lang="en-US" dirty="0"/>
          </a:p>
        </p:txBody>
      </p:sp>
    </p:spTree>
    <p:extLst>
      <p:ext uri="{BB962C8B-B14F-4D97-AF65-F5344CB8AC3E}">
        <p14:creationId xmlns:p14="http://schemas.microsoft.com/office/powerpoint/2010/main" val="12105649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E4A2A-29D1-FC08-17AD-D1511475FC9C}"/>
              </a:ext>
            </a:extLst>
          </p:cNvPr>
          <p:cNvSpPr>
            <a:spLocks noGrp="1"/>
          </p:cNvSpPr>
          <p:nvPr>
            <p:ph idx="1"/>
          </p:nvPr>
        </p:nvSpPr>
        <p:spPr>
          <a:xfrm>
            <a:off x="651510" y="640080"/>
            <a:ext cx="11212830" cy="5920740"/>
          </a:xfrm>
        </p:spPr>
        <p:txBody>
          <a:bodyPr/>
          <a:lstStyle/>
          <a:p>
            <a:pPr marL="0" indent="0">
              <a:buNone/>
            </a:pPr>
            <a:r>
              <a:rPr lang="en-US" b="1" dirty="0"/>
              <a:t>$ git add -A </a:t>
            </a:r>
            <a:endParaRPr lang="en-US" dirty="0"/>
          </a:p>
          <a:p>
            <a:pPr marL="0" indent="0">
              <a:buNone/>
            </a:pPr>
            <a:r>
              <a:rPr lang="en-US" dirty="0"/>
              <a:t>Or </a:t>
            </a:r>
          </a:p>
          <a:p>
            <a:pPr marL="0" indent="0">
              <a:buNone/>
            </a:pPr>
            <a:r>
              <a:rPr lang="en-US" b="1" dirty="0"/>
              <a:t>$ git add. </a:t>
            </a:r>
            <a:endParaRPr lang="en-US" dirty="0"/>
          </a:p>
          <a:p>
            <a:pPr marL="0" indent="0">
              <a:buNone/>
            </a:pPr>
            <a:r>
              <a:rPr lang="en-US" dirty="0"/>
              <a:t>The above command will add all the files available in the repository. Consider the scenario below: </a:t>
            </a:r>
          </a:p>
          <a:p>
            <a:pPr marL="0" indent="0">
              <a:buNone/>
            </a:pPr>
            <a:r>
              <a:rPr lang="en-US" dirty="0"/>
              <a:t>We can either create four new files or we can copy them, and then we can add all these files at once. Consider the output: 	</a:t>
            </a:r>
          </a:p>
          <a:p>
            <a:endParaRPr lang="en-US" dirty="0"/>
          </a:p>
        </p:txBody>
      </p:sp>
    </p:spTree>
    <p:extLst>
      <p:ext uri="{BB962C8B-B14F-4D97-AF65-F5344CB8AC3E}">
        <p14:creationId xmlns:p14="http://schemas.microsoft.com/office/powerpoint/2010/main" val="2760589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E2B1A4-D819-5FD1-B7CD-CBBD48FB8A3A}"/>
              </a:ext>
            </a:extLst>
          </p:cNvPr>
          <p:cNvPicPr>
            <a:picLocks noGrp="1" noChangeAspect="1"/>
          </p:cNvPicPr>
          <p:nvPr>
            <p:ph idx="1"/>
          </p:nvPr>
        </p:nvPicPr>
        <p:blipFill>
          <a:blip r:embed="rId2"/>
          <a:stretch>
            <a:fillRect/>
          </a:stretch>
        </p:blipFill>
        <p:spPr>
          <a:xfrm>
            <a:off x="1085850" y="213655"/>
            <a:ext cx="9326880" cy="6446837"/>
          </a:xfrm>
          <a:prstGeom prst="rect">
            <a:avLst/>
          </a:prstGeom>
        </p:spPr>
      </p:pic>
    </p:spTree>
    <p:extLst>
      <p:ext uri="{BB962C8B-B14F-4D97-AF65-F5344CB8AC3E}">
        <p14:creationId xmlns:p14="http://schemas.microsoft.com/office/powerpoint/2010/main" val="27096012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2FFA98-65F5-3717-B8BB-43EE833FCE40}"/>
              </a:ext>
            </a:extLst>
          </p:cNvPr>
          <p:cNvSpPr>
            <a:spLocks noGrp="1"/>
          </p:cNvSpPr>
          <p:nvPr>
            <p:ph idx="1"/>
          </p:nvPr>
        </p:nvSpPr>
        <p:spPr>
          <a:xfrm>
            <a:off x="708660" y="651510"/>
            <a:ext cx="11189970" cy="5920740"/>
          </a:xfrm>
        </p:spPr>
        <p:txBody>
          <a:bodyPr/>
          <a:lstStyle/>
          <a:p>
            <a:pPr marL="0" indent="0">
              <a:buNone/>
            </a:pPr>
            <a:r>
              <a:rPr lang="en-US" dirty="0"/>
              <a:t>In the above output, all the files are displayed as untracked files by Git. To track all of these files at once, run the command: 	</a:t>
            </a:r>
          </a:p>
          <a:p>
            <a:pPr marL="0" indent="0">
              <a:buNone/>
            </a:pPr>
            <a:r>
              <a:rPr lang="en-US" b="1" dirty="0"/>
              <a:t>$ git add -A </a:t>
            </a:r>
            <a:endParaRPr lang="en-US" dirty="0"/>
          </a:p>
          <a:p>
            <a:pPr marL="0" indent="0">
              <a:buNone/>
            </a:pPr>
            <a:r>
              <a:rPr lang="en-US" dirty="0"/>
              <a:t>The above command will add all the files to the staging area. Remember, the </a:t>
            </a:r>
            <a:r>
              <a:rPr lang="en-US" b="1" dirty="0"/>
              <a:t>-A </a:t>
            </a:r>
            <a:r>
              <a:rPr lang="en-US" dirty="0"/>
              <a:t>option is case sensitive. Consider the below output: 	</a:t>
            </a:r>
          </a:p>
        </p:txBody>
      </p:sp>
      <p:pic>
        <p:nvPicPr>
          <p:cNvPr id="4" name="Picture 3">
            <a:extLst>
              <a:ext uri="{FF2B5EF4-FFF2-40B4-BE49-F238E27FC236}">
                <a16:creationId xmlns:a16="http://schemas.microsoft.com/office/drawing/2014/main" id="{E69ADE1D-F0E8-9090-EEC3-E07DE61765D1}"/>
              </a:ext>
            </a:extLst>
          </p:cNvPr>
          <p:cNvPicPr>
            <a:picLocks noChangeAspect="1"/>
          </p:cNvPicPr>
          <p:nvPr/>
        </p:nvPicPr>
        <p:blipFill>
          <a:blip r:embed="rId2"/>
          <a:stretch>
            <a:fillRect/>
          </a:stretch>
        </p:blipFill>
        <p:spPr>
          <a:xfrm>
            <a:off x="1219676" y="2896726"/>
            <a:ext cx="7810023" cy="3569834"/>
          </a:xfrm>
          <a:prstGeom prst="rect">
            <a:avLst/>
          </a:prstGeom>
        </p:spPr>
      </p:pic>
    </p:spTree>
    <p:extLst>
      <p:ext uri="{BB962C8B-B14F-4D97-AF65-F5344CB8AC3E}">
        <p14:creationId xmlns:p14="http://schemas.microsoft.com/office/powerpoint/2010/main" val="25634057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36F8B9-BDA4-764A-7E10-D19973DEFF8B}"/>
              </a:ext>
            </a:extLst>
          </p:cNvPr>
          <p:cNvSpPr>
            <a:spLocks noGrp="1"/>
          </p:cNvSpPr>
          <p:nvPr>
            <p:ph idx="1"/>
          </p:nvPr>
        </p:nvSpPr>
        <p:spPr>
          <a:xfrm>
            <a:off x="592454" y="285750"/>
            <a:ext cx="11169015" cy="6069330"/>
          </a:xfrm>
        </p:spPr>
        <p:txBody>
          <a:bodyPr>
            <a:normAutofit fontScale="92500" lnSpcReduction="10000"/>
          </a:bodyPr>
          <a:lstStyle/>
          <a:p>
            <a:pPr marL="0" indent="0">
              <a:lnSpc>
                <a:spcPct val="150000"/>
              </a:lnSpc>
              <a:buNone/>
            </a:pPr>
            <a:r>
              <a:rPr lang="en-US" dirty="0"/>
              <a:t>In the above output, all the files have been added. The status of all files is displaying as staged. </a:t>
            </a:r>
          </a:p>
          <a:p>
            <a:pPr marL="0" indent="0">
              <a:lnSpc>
                <a:spcPct val="150000"/>
              </a:lnSpc>
              <a:buNone/>
            </a:pPr>
            <a:r>
              <a:rPr lang="en-US" b="1" dirty="0"/>
              <a:t>3.3 Adding all files by extension </a:t>
            </a:r>
            <a:r>
              <a:rPr lang="en-US" dirty="0"/>
              <a:t>	</a:t>
            </a:r>
          </a:p>
          <a:p>
            <a:pPr marL="0" indent="0">
              <a:lnSpc>
                <a:spcPct val="150000"/>
              </a:lnSpc>
              <a:buNone/>
            </a:pPr>
            <a:r>
              <a:rPr lang="en-US" dirty="0"/>
              <a:t>In some cases, you may be interested in adding all files that have a specific extension: </a:t>
            </a:r>
            <a:r>
              <a:rPr lang="en-US" b="1" dirty="0"/>
              <a:t>*.txt </a:t>
            </a:r>
            <a:r>
              <a:rPr lang="en-US" dirty="0"/>
              <a:t>or </a:t>
            </a:r>
            <a:r>
              <a:rPr lang="en-US" b="1" dirty="0"/>
              <a:t>*.</a:t>
            </a:r>
            <a:r>
              <a:rPr lang="en-US" b="1" dirty="0" err="1"/>
              <a:t>js</a:t>
            </a:r>
            <a:r>
              <a:rPr lang="en-US" b="1" dirty="0"/>
              <a:t>, </a:t>
            </a:r>
            <a:r>
              <a:rPr lang="en-US" dirty="0"/>
              <a:t>for example. </a:t>
            </a:r>
          </a:p>
          <a:p>
            <a:pPr marL="0" indent="0">
              <a:lnSpc>
                <a:spcPct val="150000"/>
              </a:lnSpc>
              <a:buNone/>
            </a:pPr>
            <a:r>
              <a:rPr lang="en-US" dirty="0"/>
              <a:t>To add all files having a specific extension, you have to use the </a:t>
            </a:r>
            <a:r>
              <a:rPr lang="en-US" b="1" dirty="0"/>
              <a:t>“git add” </a:t>
            </a:r>
            <a:r>
              <a:rPr lang="en-US" dirty="0"/>
              <a:t>command followed by a wildcard and the extension to add. </a:t>
            </a:r>
          </a:p>
          <a:p>
            <a:pPr marL="0" indent="0">
              <a:lnSpc>
                <a:spcPct val="150000"/>
              </a:lnSpc>
              <a:buNone/>
            </a:pPr>
            <a:r>
              <a:rPr lang="en-US" b="1" dirty="0"/>
              <a:t>$ git add *.txt </a:t>
            </a:r>
          </a:p>
          <a:p>
            <a:pPr marL="0" indent="0">
              <a:lnSpc>
                <a:spcPct val="150000"/>
              </a:lnSpc>
              <a:buNone/>
            </a:pPr>
            <a:r>
              <a:rPr lang="en-US" b="1" dirty="0"/>
              <a:t>$ git add *.</a:t>
            </a:r>
            <a:r>
              <a:rPr lang="en-US" b="1" dirty="0" err="1"/>
              <a:t>js</a:t>
            </a:r>
            <a:r>
              <a:rPr lang="en-US" b="1" dirty="0"/>
              <a:t> </a:t>
            </a:r>
            <a:r>
              <a:rPr lang="en-US" dirty="0"/>
              <a:t>	</a:t>
            </a:r>
          </a:p>
          <a:p>
            <a:pPr marL="0" indent="0">
              <a:lnSpc>
                <a:spcPct val="150000"/>
              </a:lnSpc>
              <a:buNone/>
            </a:pPr>
            <a:endParaRPr lang="en-US" dirty="0"/>
          </a:p>
          <a:p>
            <a:endParaRPr lang="en-US" dirty="0"/>
          </a:p>
        </p:txBody>
      </p:sp>
    </p:spTree>
    <p:extLst>
      <p:ext uri="{BB962C8B-B14F-4D97-AF65-F5344CB8AC3E}">
        <p14:creationId xmlns:p14="http://schemas.microsoft.com/office/powerpoint/2010/main" val="2117612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198B7-92AE-0870-F7A8-5A648C0CB7FE}"/>
              </a:ext>
            </a:extLst>
          </p:cNvPr>
          <p:cNvSpPr>
            <a:spLocks noGrp="1"/>
          </p:cNvSpPr>
          <p:nvPr>
            <p:ph idx="1"/>
          </p:nvPr>
        </p:nvSpPr>
        <p:spPr>
          <a:xfrm>
            <a:off x="308610" y="514350"/>
            <a:ext cx="11738610" cy="5726429"/>
          </a:xfrm>
        </p:spPr>
        <p:txBody>
          <a:bodyPr/>
          <a:lstStyle/>
          <a:p>
            <a:pPr marL="0" indent="0">
              <a:lnSpc>
                <a:spcPct val="150000"/>
              </a:lnSpc>
              <a:buNone/>
            </a:pPr>
            <a:r>
              <a:rPr lang="en-US" dirty="0"/>
              <a:t>As an example, let’s say that you have created two JavaScript files and one text file. 	</a:t>
            </a:r>
          </a:p>
          <a:p>
            <a:pPr marL="0" indent="0">
              <a:buNone/>
            </a:pPr>
            <a:endParaRPr lang="en-US" b="1" dirty="0"/>
          </a:p>
        </p:txBody>
      </p:sp>
      <p:pic>
        <p:nvPicPr>
          <p:cNvPr id="5" name="Picture 4">
            <a:extLst>
              <a:ext uri="{FF2B5EF4-FFF2-40B4-BE49-F238E27FC236}">
                <a16:creationId xmlns:a16="http://schemas.microsoft.com/office/drawing/2014/main" id="{01A28A6E-1842-33B4-0A0E-17CC4B0C3D69}"/>
              </a:ext>
            </a:extLst>
          </p:cNvPr>
          <p:cNvPicPr>
            <a:picLocks noChangeAspect="1"/>
          </p:cNvPicPr>
          <p:nvPr/>
        </p:nvPicPr>
        <p:blipFill>
          <a:blip r:embed="rId2"/>
          <a:stretch>
            <a:fillRect/>
          </a:stretch>
        </p:blipFill>
        <p:spPr>
          <a:xfrm>
            <a:off x="308610" y="1755433"/>
            <a:ext cx="11624310" cy="4147210"/>
          </a:xfrm>
          <a:prstGeom prst="rect">
            <a:avLst/>
          </a:prstGeom>
        </p:spPr>
      </p:pic>
    </p:spTree>
    <p:extLst>
      <p:ext uri="{BB962C8B-B14F-4D97-AF65-F5344CB8AC3E}">
        <p14:creationId xmlns:p14="http://schemas.microsoft.com/office/powerpoint/2010/main" val="12215403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3B63DB-9FBE-A0EB-2F78-9730BD58651D}"/>
              </a:ext>
            </a:extLst>
          </p:cNvPr>
          <p:cNvSpPr>
            <a:spLocks noGrp="1"/>
          </p:cNvSpPr>
          <p:nvPr>
            <p:ph idx="1"/>
          </p:nvPr>
        </p:nvSpPr>
        <p:spPr>
          <a:xfrm>
            <a:off x="594360" y="468630"/>
            <a:ext cx="11315700" cy="5886450"/>
          </a:xfrm>
        </p:spPr>
        <p:txBody>
          <a:bodyPr/>
          <a:lstStyle/>
          <a:p>
            <a:pPr marL="0" indent="0">
              <a:lnSpc>
                <a:spcPct val="150000"/>
              </a:lnSpc>
              <a:buNone/>
            </a:pPr>
            <a:r>
              <a:rPr lang="en-US" b="1" dirty="0"/>
              <a:t>3.4 Stage a file </a:t>
            </a:r>
            <a:endParaRPr lang="en-US" dirty="0"/>
          </a:p>
          <a:p>
            <a:pPr marL="0" indent="0">
              <a:lnSpc>
                <a:spcPct val="150000"/>
              </a:lnSpc>
              <a:buNone/>
            </a:pPr>
            <a:r>
              <a:rPr lang="en-US" dirty="0"/>
              <a:t>The operation of staging a file using the </a:t>
            </a:r>
            <a:r>
              <a:rPr lang="en-US" b="1" dirty="0"/>
              <a:t>"git add" </a:t>
            </a:r>
            <a:r>
              <a:rPr lang="en-US" dirty="0"/>
              <a:t>command allows you to selectively include changes made to a specific file in the staging area. To stage a file, you specify the path to that file as an argument to the </a:t>
            </a:r>
            <a:r>
              <a:rPr lang="en-US" b="1" dirty="0"/>
              <a:t>"git add" </a:t>
            </a:r>
            <a:r>
              <a:rPr lang="en-US" dirty="0"/>
              <a:t>command. 	</a:t>
            </a:r>
          </a:p>
          <a:p>
            <a:pPr marL="0" indent="0">
              <a:buNone/>
            </a:pPr>
            <a:r>
              <a:rPr lang="en-US" dirty="0"/>
              <a:t>For example:  </a:t>
            </a:r>
            <a:r>
              <a:rPr lang="en-US" b="1" dirty="0"/>
              <a:t>git add path/to/file.txt </a:t>
            </a:r>
            <a:r>
              <a:rPr lang="en-US" dirty="0"/>
              <a:t>	</a:t>
            </a:r>
          </a:p>
          <a:p>
            <a:pPr marL="0" indent="0">
              <a:buNone/>
            </a:pPr>
            <a:endParaRPr lang="en-US" dirty="0"/>
          </a:p>
        </p:txBody>
      </p:sp>
    </p:spTree>
    <p:extLst>
      <p:ext uri="{BB962C8B-B14F-4D97-AF65-F5344CB8AC3E}">
        <p14:creationId xmlns:p14="http://schemas.microsoft.com/office/powerpoint/2010/main" val="33403776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DC7147-16EF-7F2D-DD44-5063FAF6F3C4}"/>
              </a:ext>
            </a:extLst>
          </p:cNvPr>
          <p:cNvSpPr>
            <a:spLocks noGrp="1"/>
          </p:cNvSpPr>
          <p:nvPr>
            <p:ph idx="1"/>
          </p:nvPr>
        </p:nvSpPr>
        <p:spPr>
          <a:xfrm>
            <a:off x="674370" y="605790"/>
            <a:ext cx="11327130" cy="5886450"/>
          </a:xfrm>
        </p:spPr>
        <p:txBody>
          <a:bodyPr/>
          <a:lstStyle/>
          <a:p>
            <a:pPr marL="0" indent="0">
              <a:lnSpc>
                <a:spcPct val="150000"/>
              </a:lnSpc>
              <a:buNone/>
            </a:pPr>
            <a:r>
              <a:rPr lang="en-US" dirty="0"/>
              <a:t>Before staging a file, you have to check all existing files and </a:t>
            </a:r>
            <a:r>
              <a:rPr lang="en-US" dirty="0" err="1"/>
              <a:t>unstaged</a:t>
            </a:r>
            <a:r>
              <a:rPr lang="en-US" dirty="0"/>
              <a:t> files. For this, you use the </a:t>
            </a:r>
            <a:r>
              <a:rPr lang="en-US" b="1" dirty="0"/>
              <a:t>ls command</a:t>
            </a:r>
            <a:r>
              <a:rPr lang="en-US" dirty="0"/>
              <a:t>. </a:t>
            </a:r>
          </a:p>
          <a:p>
            <a:pPr marL="0" indent="0">
              <a:lnSpc>
                <a:spcPct val="150000"/>
              </a:lnSpc>
              <a:buNone/>
            </a:pPr>
            <a:r>
              <a:rPr lang="en-US" dirty="0"/>
              <a:t>Remember that </a:t>
            </a:r>
            <a:r>
              <a:rPr lang="en-US" b="1" dirty="0"/>
              <a:t>git add </a:t>
            </a:r>
            <a:r>
              <a:rPr lang="en-US" dirty="0"/>
              <a:t>is used once, moving a file from the workspace to stagging area. </a:t>
            </a:r>
          </a:p>
          <a:p>
            <a:pPr marL="0" indent="0">
              <a:lnSpc>
                <a:spcPct val="150000"/>
              </a:lnSpc>
              <a:buNone/>
            </a:pPr>
            <a:r>
              <a:rPr lang="en-US" dirty="0"/>
              <a:t>For staging a single file, use </a:t>
            </a:r>
            <a:r>
              <a:rPr lang="en-US" b="1" dirty="0"/>
              <a:t>git add </a:t>
            </a:r>
            <a:r>
              <a:rPr lang="en-US" b="1" dirty="0" err="1"/>
              <a:t>filename.extension</a:t>
            </a:r>
            <a:r>
              <a:rPr lang="en-US" b="1" dirty="0"/>
              <a:t> </a:t>
            </a:r>
            <a:endParaRPr lang="en-US" dirty="0"/>
          </a:p>
          <a:p>
            <a:pPr marL="0" indent="0">
              <a:lnSpc>
                <a:spcPct val="150000"/>
              </a:lnSpc>
              <a:buNone/>
            </a:pPr>
            <a:r>
              <a:rPr lang="en-US" dirty="0"/>
              <a:t>For file extension use .html, .doc, .</a:t>
            </a:r>
            <a:r>
              <a:rPr lang="en-US" dirty="0" err="1"/>
              <a:t>js</a:t>
            </a:r>
            <a:r>
              <a:rPr lang="en-US" dirty="0"/>
              <a:t>, and others. 	</a:t>
            </a:r>
          </a:p>
          <a:p>
            <a:pPr marL="0" indent="0">
              <a:lnSpc>
                <a:spcPct val="150000"/>
              </a:lnSpc>
              <a:buNone/>
            </a:pPr>
            <a:r>
              <a:rPr lang="en-US" b="1" dirty="0"/>
              <a:t>Example: </a:t>
            </a:r>
            <a:r>
              <a:rPr lang="en-US" dirty="0"/>
              <a:t>git add index.html. That command will add the index file to stagging area, as shown in that image.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18868511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C24727B-303C-1BB8-72FB-4ACEC844065B}"/>
              </a:ext>
            </a:extLst>
          </p:cNvPr>
          <p:cNvSpPr>
            <a:spLocks noGrp="1"/>
          </p:cNvSpPr>
          <p:nvPr>
            <p:ph idx="1"/>
          </p:nvPr>
        </p:nvSpPr>
        <p:spPr>
          <a:xfrm>
            <a:off x="560070" y="537210"/>
            <a:ext cx="10793730" cy="5639753"/>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Once you want to stage all </a:t>
            </a:r>
            <a:r>
              <a:rPr lang="en-US" dirty="0" err="1"/>
              <a:t>unstaged</a:t>
            </a:r>
            <a:r>
              <a:rPr lang="en-US" dirty="0"/>
              <a:t> files at the </a:t>
            </a:r>
            <a:r>
              <a:rPr lang="en-US" dirty="0" err="1"/>
              <a:t>sametime</a:t>
            </a:r>
            <a:r>
              <a:rPr lang="en-US" dirty="0"/>
              <a:t> you write </a:t>
            </a:r>
            <a:r>
              <a:rPr lang="en-US" b="1" dirty="0"/>
              <a:t>git add . or git add A </a:t>
            </a:r>
            <a:r>
              <a:rPr lang="en-US" dirty="0"/>
              <a:t>	</a:t>
            </a:r>
          </a:p>
          <a:p>
            <a:pPr marL="0" indent="0">
              <a:buNone/>
            </a:pPr>
            <a:endParaRPr lang="en-US" dirty="0"/>
          </a:p>
        </p:txBody>
      </p:sp>
      <p:pic>
        <p:nvPicPr>
          <p:cNvPr id="9" name="Picture 8">
            <a:extLst>
              <a:ext uri="{FF2B5EF4-FFF2-40B4-BE49-F238E27FC236}">
                <a16:creationId xmlns:a16="http://schemas.microsoft.com/office/drawing/2014/main" id="{CBDAE9A7-49C0-6C20-CE3E-074A733CF1E6}"/>
              </a:ext>
            </a:extLst>
          </p:cNvPr>
          <p:cNvPicPr>
            <a:picLocks noChangeAspect="1"/>
          </p:cNvPicPr>
          <p:nvPr/>
        </p:nvPicPr>
        <p:blipFill>
          <a:blip r:embed="rId2"/>
          <a:stretch>
            <a:fillRect/>
          </a:stretch>
        </p:blipFill>
        <p:spPr>
          <a:xfrm>
            <a:off x="560070" y="537210"/>
            <a:ext cx="10793730" cy="3794760"/>
          </a:xfrm>
          <a:prstGeom prst="rect">
            <a:avLst/>
          </a:prstGeom>
        </p:spPr>
      </p:pic>
    </p:spTree>
    <p:extLst>
      <p:ext uri="{BB962C8B-B14F-4D97-AF65-F5344CB8AC3E}">
        <p14:creationId xmlns:p14="http://schemas.microsoft.com/office/powerpoint/2010/main" val="143795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848F4-DF5E-3529-8078-F731EF725572}"/>
              </a:ext>
            </a:extLst>
          </p:cNvPr>
          <p:cNvSpPr>
            <a:spLocks noGrp="1"/>
          </p:cNvSpPr>
          <p:nvPr>
            <p:ph idx="1"/>
          </p:nvPr>
        </p:nvSpPr>
        <p:spPr>
          <a:xfrm>
            <a:off x="685800" y="582930"/>
            <a:ext cx="10881360" cy="5920740"/>
          </a:xfrm>
        </p:spPr>
        <p:txBody>
          <a:bodyPr/>
          <a:lstStyle/>
          <a:p>
            <a:pPr marL="0" indent="0">
              <a:buNone/>
            </a:pPr>
            <a:r>
              <a:rPr lang="en-US" b="1" dirty="0"/>
              <a:t>3.5 Stage folder </a:t>
            </a:r>
            <a:endParaRPr lang="en-US" dirty="0"/>
          </a:p>
          <a:p>
            <a:pPr marL="0" indent="0">
              <a:lnSpc>
                <a:spcPct val="150000"/>
              </a:lnSpc>
              <a:buNone/>
            </a:pPr>
            <a:r>
              <a:rPr lang="en-US" dirty="0"/>
              <a:t>The operation of staging a folder using the </a:t>
            </a:r>
            <a:r>
              <a:rPr lang="en-US" b="1" dirty="0"/>
              <a:t>"git add" </a:t>
            </a:r>
            <a:r>
              <a:rPr lang="en-US" dirty="0"/>
              <a:t>command enables you to include changes made to multiple files within a directory and its subdirectories in the staging area. By executing the command: </a:t>
            </a:r>
          </a:p>
          <a:p>
            <a:pPr marL="0" indent="0">
              <a:lnSpc>
                <a:spcPct val="150000"/>
              </a:lnSpc>
              <a:buNone/>
            </a:pPr>
            <a:r>
              <a:rPr lang="en-US" b="1" dirty="0"/>
              <a:t>git add path/to/folder/ </a:t>
            </a:r>
            <a:r>
              <a:rPr lang="en-US" dirty="0"/>
              <a:t>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36493540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322533-F5EE-94A4-E8FB-A64E7A00C82A}"/>
              </a:ext>
            </a:extLst>
          </p:cNvPr>
          <p:cNvSpPr>
            <a:spLocks noGrp="1"/>
          </p:cNvSpPr>
          <p:nvPr>
            <p:ph idx="1"/>
          </p:nvPr>
        </p:nvSpPr>
        <p:spPr>
          <a:xfrm>
            <a:off x="400050" y="354330"/>
            <a:ext cx="11544300" cy="6183630"/>
          </a:xfrm>
        </p:spPr>
        <p:txBody>
          <a:bodyPr>
            <a:normAutofit fontScale="92500" lnSpcReduction="20000"/>
          </a:bodyPr>
          <a:lstStyle/>
          <a:p>
            <a:pPr marL="0" indent="0">
              <a:lnSpc>
                <a:spcPct val="150000"/>
              </a:lnSpc>
              <a:buNone/>
            </a:pPr>
            <a:r>
              <a:rPr lang="en-US" sz="3000" dirty="0"/>
              <a:t>To stage a folder in Git, you can use the </a:t>
            </a:r>
            <a:r>
              <a:rPr lang="en-US" sz="3000" b="1" dirty="0"/>
              <a:t>`git add` </a:t>
            </a:r>
            <a:r>
              <a:rPr lang="en-US" sz="3000" dirty="0"/>
              <a:t>command with the folder's path. Here's how you can do it practically: </a:t>
            </a:r>
          </a:p>
          <a:p>
            <a:pPr marL="0" indent="0">
              <a:lnSpc>
                <a:spcPct val="150000"/>
              </a:lnSpc>
              <a:buNone/>
            </a:pPr>
            <a:r>
              <a:rPr lang="en-US" sz="3000" b="1" dirty="0"/>
              <a:t>1. Open your terminal or command prompt. </a:t>
            </a:r>
            <a:endParaRPr lang="en-US" sz="3000" dirty="0"/>
          </a:p>
          <a:p>
            <a:pPr marL="0" indent="0">
              <a:lnSpc>
                <a:spcPct val="150000"/>
              </a:lnSpc>
              <a:buNone/>
            </a:pPr>
            <a:r>
              <a:rPr lang="en-US" sz="3000" b="1" dirty="0"/>
              <a:t>2. </a:t>
            </a:r>
            <a:r>
              <a:rPr lang="en-US" sz="3000" dirty="0"/>
              <a:t>Navigate to the root directory of your Git repository using the </a:t>
            </a:r>
            <a:r>
              <a:rPr lang="en-US" sz="3000" b="1" dirty="0"/>
              <a:t>`cd` </a:t>
            </a:r>
            <a:r>
              <a:rPr lang="en-US" sz="3000" dirty="0"/>
              <a:t>command. </a:t>
            </a:r>
          </a:p>
          <a:p>
            <a:pPr marL="0" indent="0">
              <a:lnSpc>
                <a:spcPct val="150000"/>
              </a:lnSpc>
              <a:buNone/>
            </a:pPr>
            <a:r>
              <a:rPr lang="en-US" sz="3000" b="1" dirty="0"/>
              <a:t>For example: </a:t>
            </a:r>
            <a:r>
              <a:rPr lang="en-US" sz="3000" dirty="0"/>
              <a:t>cd /path/to/your/repository </a:t>
            </a:r>
          </a:p>
          <a:p>
            <a:pPr marL="0" indent="0">
              <a:lnSpc>
                <a:spcPct val="160000"/>
              </a:lnSpc>
              <a:buNone/>
            </a:pPr>
            <a:r>
              <a:rPr lang="en-US" sz="3000" b="1" dirty="0"/>
              <a:t>3. Run the following command to stage a folder: </a:t>
            </a:r>
            <a:endParaRPr lang="en-US" sz="3000" dirty="0"/>
          </a:p>
          <a:p>
            <a:pPr marL="0" indent="0">
              <a:lnSpc>
                <a:spcPct val="160000"/>
              </a:lnSpc>
              <a:buNone/>
            </a:pPr>
            <a:r>
              <a:rPr lang="en-US" sz="3000" dirty="0"/>
              <a:t>git add &lt;folder&gt;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6368143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17A103-1F62-9832-A5E1-88EC132CFECE}"/>
              </a:ext>
            </a:extLst>
          </p:cNvPr>
          <p:cNvSpPr>
            <a:spLocks noGrp="1"/>
          </p:cNvSpPr>
          <p:nvPr>
            <p:ph idx="1"/>
          </p:nvPr>
        </p:nvSpPr>
        <p:spPr>
          <a:xfrm>
            <a:off x="457200" y="217171"/>
            <a:ext cx="11475720" cy="6297930"/>
          </a:xfrm>
        </p:spPr>
        <p:txBody>
          <a:bodyPr>
            <a:normAutofit lnSpcReduction="10000"/>
          </a:bodyPr>
          <a:lstStyle/>
          <a:p>
            <a:pPr marL="0" indent="0">
              <a:lnSpc>
                <a:spcPct val="150000"/>
              </a:lnSpc>
              <a:buNone/>
            </a:pPr>
            <a:r>
              <a:rPr lang="en-US" dirty="0"/>
              <a:t>Replace `&lt;folder&gt;` with the name or path of the folder you want to stage. </a:t>
            </a:r>
          </a:p>
          <a:p>
            <a:pPr marL="0" indent="0">
              <a:lnSpc>
                <a:spcPct val="150000"/>
              </a:lnSpc>
              <a:buNone/>
            </a:pPr>
            <a:r>
              <a:rPr lang="en-US" dirty="0"/>
              <a:t>For example, if you want to stage a folder named "</a:t>
            </a:r>
            <a:r>
              <a:rPr lang="en-US" dirty="0" err="1"/>
              <a:t>myfolder</a:t>
            </a:r>
            <a:r>
              <a:rPr lang="en-US" dirty="0"/>
              <a:t>", the command would be:  </a:t>
            </a:r>
            <a:r>
              <a:rPr lang="en-US" b="1" dirty="0"/>
              <a:t>git add </a:t>
            </a:r>
            <a:r>
              <a:rPr lang="en-US" b="1" dirty="0" err="1"/>
              <a:t>myfolder</a:t>
            </a:r>
            <a:r>
              <a:rPr lang="en-US" b="1" dirty="0"/>
              <a:t> </a:t>
            </a:r>
          </a:p>
          <a:p>
            <a:pPr marL="0" indent="0">
              <a:lnSpc>
                <a:spcPct val="150000"/>
              </a:lnSpc>
              <a:buNone/>
            </a:pPr>
            <a:r>
              <a:rPr lang="en-US" dirty="0"/>
              <a:t>This command stages the specified folder and all its contents for the next commit. </a:t>
            </a:r>
          </a:p>
          <a:p>
            <a:pPr marL="0" indent="0">
              <a:lnSpc>
                <a:spcPct val="150000"/>
              </a:lnSpc>
              <a:buNone/>
            </a:pPr>
            <a:r>
              <a:rPr lang="en-US" b="1" dirty="0"/>
              <a:t>4. Verify the staged changes by running the `git status` command: </a:t>
            </a:r>
            <a:endParaRPr lang="en-US" dirty="0"/>
          </a:p>
          <a:p>
            <a:pPr marL="0" indent="0">
              <a:lnSpc>
                <a:spcPct val="150000"/>
              </a:lnSpc>
              <a:buNone/>
            </a:pPr>
            <a:r>
              <a:rPr lang="en-US" b="1" dirty="0"/>
              <a:t>git status </a:t>
            </a:r>
          </a:p>
          <a:p>
            <a:pPr marL="0" indent="0">
              <a:lnSpc>
                <a:spcPct val="150000"/>
              </a:lnSpc>
              <a:buNone/>
            </a:pPr>
            <a:r>
              <a:rPr lang="en-US" dirty="0"/>
              <a:t>You will see that the folder and its contents are now staged for the next commit. 	</a:t>
            </a:r>
          </a:p>
          <a:p>
            <a:pPr marL="0" indent="0">
              <a:buNone/>
            </a:pPr>
            <a:endParaRPr lang="en-US" dirty="0"/>
          </a:p>
        </p:txBody>
      </p:sp>
    </p:spTree>
    <p:extLst>
      <p:ext uri="{BB962C8B-B14F-4D97-AF65-F5344CB8AC3E}">
        <p14:creationId xmlns:p14="http://schemas.microsoft.com/office/powerpoint/2010/main" val="24151250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1ABFDC-21A9-C03B-2853-323DFBE57578}"/>
              </a:ext>
            </a:extLst>
          </p:cNvPr>
          <p:cNvSpPr>
            <a:spLocks noGrp="1"/>
          </p:cNvSpPr>
          <p:nvPr>
            <p:ph idx="1"/>
          </p:nvPr>
        </p:nvSpPr>
        <p:spPr>
          <a:xfrm>
            <a:off x="552450" y="217170"/>
            <a:ext cx="11231880" cy="6286500"/>
          </a:xfrm>
        </p:spPr>
        <p:txBody>
          <a:bodyPr>
            <a:normAutofit lnSpcReduction="10000"/>
          </a:bodyPr>
          <a:lstStyle/>
          <a:p>
            <a:pPr marL="0" indent="0">
              <a:lnSpc>
                <a:spcPct val="150000"/>
              </a:lnSpc>
              <a:buNone/>
            </a:pPr>
            <a:r>
              <a:rPr lang="en-US" b="1" dirty="0"/>
              <a:t>For example: </a:t>
            </a:r>
          </a:p>
          <a:p>
            <a:pPr marL="0" indent="0">
              <a:lnSpc>
                <a:spcPct val="150000"/>
              </a:lnSpc>
              <a:buNone/>
            </a:pPr>
            <a:r>
              <a:rPr lang="en-US" dirty="0"/>
              <a:t>Changes to be committed: </a:t>
            </a:r>
          </a:p>
          <a:p>
            <a:pPr marL="0" indent="0">
              <a:lnSpc>
                <a:spcPct val="150000"/>
              </a:lnSpc>
              <a:buNone/>
            </a:pPr>
            <a:r>
              <a:rPr lang="en-US" dirty="0"/>
              <a:t>(use "git restore --staged &lt;file&gt;..." to </a:t>
            </a:r>
            <a:r>
              <a:rPr lang="en-US" dirty="0" err="1"/>
              <a:t>unstage</a:t>
            </a:r>
            <a:r>
              <a:rPr lang="en-US" dirty="0"/>
              <a:t>) </a:t>
            </a:r>
          </a:p>
          <a:p>
            <a:pPr marL="0" indent="0">
              <a:lnSpc>
                <a:spcPct val="150000"/>
              </a:lnSpc>
              <a:buNone/>
            </a:pPr>
            <a:r>
              <a:rPr lang="en-US" dirty="0"/>
              <a:t>new file: </a:t>
            </a:r>
            <a:r>
              <a:rPr lang="en-US" dirty="0" err="1"/>
              <a:t>myfolder</a:t>
            </a:r>
            <a:r>
              <a:rPr lang="en-US" dirty="0"/>
              <a:t>/file1.txt </a:t>
            </a:r>
          </a:p>
          <a:p>
            <a:pPr marL="0" indent="0">
              <a:lnSpc>
                <a:spcPct val="150000"/>
              </a:lnSpc>
              <a:buNone/>
            </a:pPr>
            <a:r>
              <a:rPr lang="en-US" dirty="0"/>
              <a:t>modified: </a:t>
            </a:r>
            <a:r>
              <a:rPr lang="en-US" dirty="0" err="1"/>
              <a:t>myfolder</a:t>
            </a:r>
            <a:r>
              <a:rPr lang="en-US" dirty="0"/>
              <a:t>/file2.js </a:t>
            </a:r>
          </a:p>
          <a:p>
            <a:pPr marL="0" indent="0">
              <a:lnSpc>
                <a:spcPct val="150000"/>
              </a:lnSpc>
              <a:buNone/>
            </a:pPr>
            <a:r>
              <a:rPr lang="en-US" dirty="0"/>
              <a:t>deleted: </a:t>
            </a:r>
            <a:r>
              <a:rPr lang="en-US" dirty="0" err="1"/>
              <a:t>myfolder</a:t>
            </a:r>
            <a:r>
              <a:rPr lang="en-US" dirty="0"/>
              <a:t>/file3.html </a:t>
            </a:r>
          </a:p>
          <a:p>
            <a:pPr marL="0" indent="0">
              <a:lnSpc>
                <a:spcPct val="150000"/>
              </a:lnSpc>
              <a:buNone/>
            </a:pPr>
            <a:r>
              <a:rPr lang="en-US" dirty="0"/>
              <a:t>By using `</a:t>
            </a:r>
            <a:r>
              <a:rPr lang="en-US" b="1" dirty="0"/>
              <a:t>git add &lt;folder&gt;`, </a:t>
            </a:r>
            <a:r>
              <a:rPr lang="en-US" dirty="0"/>
              <a:t>you can stage a specific folder and its contents in your repository. This allows you to include all changes within that folder in a single commit. 	</a:t>
            </a:r>
          </a:p>
          <a:p>
            <a:pPr marL="0" indent="0">
              <a:buNone/>
            </a:pPr>
            <a:endParaRPr lang="en-US" dirty="0"/>
          </a:p>
        </p:txBody>
      </p:sp>
    </p:spTree>
    <p:extLst>
      <p:ext uri="{BB962C8B-B14F-4D97-AF65-F5344CB8AC3E}">
        <p14:creationId xmlns:p14="http://schemas.microsoft.com/office/powerpoint/2010/main" val="28415936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DAC555-E400-0AB8-3162-BBE4017E6A84}"/>
              </a:ext>
            </a:extLst>
          </p:cNvPr>
          <p:cNvSpPr>
            <a:spLocks noGrp="1"/>
          </p:cNvSpPr>
          <p:nvPr>
            <p:ph idx="1"/>
          </p:nvPr>
        </p:nvSpPr>
        <p:spPr>
          <a:xfrm>
            <a:off x="651510" y="480060"/>
            <a:ext cx="11007090" cy="5989320"/>
          </a:xfrm>
        </p:spPr>
        <p:txBody>
          <a:bodyPr/>
          <a:lstStyle/>
          <a:p>
            <a:pPr marL="0" indent="0">
              <a:lnSpc>
                <a:spcPct val="150000"/>
              </a:lnSpc>
              <a:buNone/>
            </a:pPr>
            <a:r>
              <a:rPr lang="en-US" b="1" dirty="0"/>
              <a:t>4. Operations on git reset command </a:t>
            </a:r>
            <a:r>
              <a:rPr lang="en-US" dirty="0"/>
              <a:t>	</a:t>
            </a:r>
          </a:p>
          <a:p>
            <a:pPr marL="0" indent="0">
              <a:lnSpc>
                <a:spcPct val="150000"/>
              </a:lnSpc>
              <a:buNone/>
            </a:pPr>
            <a:r>
              <a:rPr lang="en-US" dirty="0"/>
              <a:t>The </a:t>
            </a:r>
            <a:r>
              <a:rPr lang="en-US" b="1" dirty="0"/>
              <a:t>git reset </a:t>
            </a:r>
            <a:r>
              <a:rPr lang="en-US" dirty="0"/>
              <a:t>command is used to undo the changes in your working directory and get back to a specific commit while discarding all the commits made after that one. 	</a:t>
            </a:r>
          </a:p>
          <a:p>
            <a:pPr marL="0" indent="0">
              <a:buNone/>
            </a:pPr>
            <a:r>
              <a:rPr lang="en-US" b="1" dirty="0"/>
              <a:t>4.1 </a:t>
            </a:r>
            <a:r>
              <a:rPr lang="en-US" b="1" dirty="0" err="1"/>
              <a:t>Unstage</a:t>
            </a:r>
            <a:r>
              <a:rPr lang="en-US" b="1" dirty="0"/>
              <a:t> a file </a:t>
            </a:r>
            <a:endParaRPr lang="en-US" dirty="0"/>
          </a:p>
          <a:p>
            <a:pPr marL="0" indent="0">
              <a:buNone/>
            </a:pPr>
            <a:r>
              <a:rPr lang="en-US" dirty="0"/>
              <a:t>In Git, to </a:t>
            </a:r>
            <a:r>
              <a:rPr lang="en-US" dirty="0" err="1"/>
              <a:t>unstage</a:t>
            </a:r>
            <a:r>
              <a:rPr lang="en-US" dirty="0"/>
              <a:t> a file that you've previously added to the staging area, you can use the "git reset" command. Here's how you can do it: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31445792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FE0A64-E168-4E2B-6EDA-1E493D3B4D4A}"/>
              </a:ext>
            </a:extLst>
          </p:cNvPr>
          <p:cNvSpPr>
            <a:spLocks noGrp="1"/>
          </p:cNvSpPr>
          <p:nvPr>
            <p:ph idx="1"/>
          </p:nvPr>
        </p:nvSpPr>
        <p:spPr>
          <a:xfrm>
            <a:off x="626744" y="354330"/>
            <a:ext cx="11008995" cy="5955030"/>
          </a:xfrm>
        </p:spPr>
        <p:txBody>
          <a:bodyPr>
            <a:normAutofit fontScale="92500" lnSpcReduction="10000"/>
          </a:bodyPr>
          <a:lstStyle/>
          <a:p>
            <a:pPr marL="0" indent="0">
              <a:lnSpc>
                <a:spcPct val="150000"/>
              </a:lnSpc>
              <a:buNone/>
            </a:pPr>
            <a:r>
              <a:rPr lang="en-US" dirty="0"/>
              <a:t>1. First, ensure you are in the root directory of your Git repository. </a:t>
            </a:r>
          </a:p>
          <a:p>
            <a:pPr marL="0" indent="0">
              <a:lnSpc>
                <a:spcPct val="150000"/>
              </a:lnSpc>
              <a:buNone/>
            </a:pPr>
            <a:r>
              <a:rPr lang="en-US" dirty="0"/>
              <a:t>2.To check the status of your repository and see which files are staged and </a:t>
            </a:r>
            <a:r>
              <a:rPr lang="en-US" dirty="0" err="1"/>
              <a:t>unstaged</a:t>
            </a:r>
            <a:r>
              <a:rPr lang="en-US" dirty="0"/>
              <a:t>, use the following command: </a:t>
            </a:r>
          </a:p>
          <a:p>
            <a:pPr marL="0" indent="0">
              <a:lnSpc>
                <a:spcPct val="150000"/>
              </a:lnSpc>
              <a:buNone/>
            </a:pPr>
            <a:r>
              <a:rPr lang="en-US" dirty="0"/>
              <a:t>If you see the file you want to </a:t>
            </a:r>
            <a:r>
              <a:rPr lang="en-US" dirty="0" err="1"/>
              <a:t>unstage</a:t>
            </a:r>
            <a:r>
              <a:rPr lang="en-US" dirty="0"/>
              <a:t> under the "Changes to be committed" section (staged changes), you can </a:t>
            </a:r>
            <a:r>
              <a:rPr lang="en-US" dirty="0" err="1"/>
              <a:t>unstage</a:t>
            </a:r>
            <a:r>
              <a:rPr lang="en-US" dirty="0"/>
              <a:t> it using the following command: </a:t>
            </a:r>
          </a:p>
          <a:p>
            <a:pPr marL="0" indent="0">
              <a:lnSpc>
                <a:spcPct val="150000"/>
              </a:lnSpc>
              <a:buNone/>
            </a:pPr>
            <a:r>
              <a:rPr lang="en-US" b="1" dirty="0"/>
              <a:t>git reset HEAD &lt;file&gt; </a:t>
            </a:r>
          </a:p>
          <a:p>
            <a:pPr marL="0" indent="0">
              <a:lnSpc>
                <a:spcPct val="150000"/>
              </a:lnSpc>
              <a:buNone/>
            </a:pPr>
            <a:r>
              <a:rPr lang="en-US" dirty="0"/>
              <a:t>For example, if you want to </a:t>
            </a:r>
            <a:r>
              <a:rPr lang="en-US" dirty="0" err="1"/>
              <a:t>unstage</a:t>
            </a:r>
            <a:r>
              <a:rPr lang="en-US" dirty="0"/>
              <a:t> a file named "example.txt," you would run: </a:t>
            </a:r>
          </a:p>
          <a:p>
            <a:pPr marL="0" indent="0">
              <a:lnSpc>
                <a:spcPct val="150000"/>
              </a:lnSpc>
              <a:buNone/>
            </a:pPr>
            <a:r>
              <a:rPr lang="en-US" b="1" dirty="0"/>
              <a:t>git reset HEAD example.txt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13790806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E3287E-EBDF-A210-9103-286484492921}"/>
              </a:ext>
            </a:extLst>
          </p:cNvPr>
          <p:cNvSpPr>
            <a:spLocks noGrp="1"/>
          </p:cNvSpPr>
          <p:nvPr>
            <p:ph idx="1"/>
          </p:nvPr>
        </p:nvSpPr>
        <p:spPr>
          <a:xfrm>
            <a:off x="605790" y="502920"/>
            <a:ext cx="11167110" cy="6035040"/>
          </a:xfrm>
        </p:spPr>
        <p:txBody>
          <a:bodyPr>
            <a:normAutofit/>
          </a:bodyPr>
          <a:lstStyle/>
          <a:p>
            <a:pPr marL="0" indent="0">
              <a:lnSpc>
                <a:spcPct val="150000"/>
              </a:lnSpc>
              <a:buNone/>
            </a:pPr>
            <a:r>
              <a:rPr lang="en-US" dirty="0"/>
              <a:t>This command moves the changes from the staging area back to the working directory, effectively "</a:t>
            </a:r>
            <a:r>
              <a:rPr lang="en-US" dirty="0" err="1"/>
              <a:t>unstaging</a:t>
            </a:r>
            <a:r>
              <a:rPr lang="en-US" dirty="0"/>
              <a:t>" the file. </a:t>
            </a:r>
          </a:p>
          <a:p>
            <a:pPr marL="0" indent="0">
              <a:lnSpc>
                <a:spcPct val="150000"/>
              </a:lnSpc>
              <a:buNone/>
            </a:pPr>
            <a:r>
              <a:rPr lang="en-US" dirty="0"/>
              <a:t>After </a:t>
            </a:r>
            <a:r>
              <a:rPr lang="en-US" dirty="0" err="1"/>
              <a:t>unstaging</a:t>
            </a:r>
            <a:r>
              <a:rPr lang="en-US" dirty="0"/>
              <a:t> the file, you can verify its status using </a:t>
            </a:r>
            <a:r>
              <a:rPr lang="en-US" b="1" dirty="0"/>
              <a:t>git status </a:t>
            </a:r>
            <a:r>
              <a:rPr lang="en-US" dirty="0"/>
              <a:t>again. </a:t>
            </a:r>
          </a:p>
          <a:p>
            <a:pPr marL="0" indent="0">
              <a:lnSpc>
                <a:spcPct val="150000"/>
              </a:lnSpc>
              <a:buNone/>
            </a:pPr>
            <a:r>
              <a:rPr lang="en-US" b="1" dirty="0"/>
              <a:t>4.2 Deleting and staging file/folder </a:t>
            </a:r>
            <a:endParaRPr lang="en-US" dirty="0"/>
          </a:p>
          <a:p>
            <a:pPr marL="0" indent="0">
              <a:lnSpc>
                <a:spcPct val="150000"/>
              </a:lnSpc>
              <a:buNone/>
            </a:pPr>
            <a:r>
              <a:rPr lang="en-US" dirty="0"/>
              <a:t>Deleting and staging a file/folder involves two separate steps: deleting the file/folder from your working directory and then staging the deletion for the next commit. Here's how you can do it: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3583964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0EA5C3-8529-E716-75BA-845E178D22F0}"/>
              </a:ext>
            </a:extLst>
          </p:cNvPr>
          <p:cNvSpPr>
            <a:spLocks noGrp="1"/>
          </p:cNvSpPr>
          <p:nvPr>
            <p:ph idx="1"/>
          </p:nvPr>
        </p:nvSpPr>
        <p:spPr>
          <a:xfrm>
            <a:off x="365760" y="537210"/>
            <a:ext cx="11441430" cy="5532120"/>
          </a:xfrm>
        </p:spPr>
        <p:txBody>
          <a:bodyPr>
            <a:normAutofit fontScale="85000" lnSpcReduction="20000"/>
          </a:bodyPr>
          <a:lstStyle/>
          <a:p>
            <a:pPr marL="0" indent="0">
              <a:lnSpc>
                <a:spcPct val="150000"/>
              </a:lnSpc>
              <a:buNone/>
            </a:pPr>
            <a:r>
              <a:rPr lang="en-US" dirty="0"/>
              <a:t>1. To delete a file from your working directory, you can use the standard file system command, such as </a:t>
            </a:r>
            <a:r>
              <a:rPr lang="en-US" b="1" dirty="0"/>
              <a:t>rm </a:t>
            </a:r>
            <a:r>
              <a:rPr lang="en-US" dirty="0"/>
              <a:t>on Unix-based systems or </a:t>
            </a:r>
            <a:r>
              <a:rPr lang="en-US" b="1" dirty="0"/>
              <a:t>del </a:t>
            </a:r>
            <a:r>
              <a:rPr lang="en-US" dirty="0"/>
              <a:t>on Windows. For example, to delete a file named "example.txt" </a:t>
            </a:r>
          </a:p>
          <a:p>
            <a:pPr marL="0" indent="0">
              <a:buNone/>
            </a:pPr>
            <a:r>
              <a:rPr lang="en-US" b="1" dirty="0"/>
              <a:t>on Unix</a:t>
            </a:r>
            <a:r>
              <a:rPr lang="en-US" dirty="0"/>
              <a:t>: rm example.txt </a:t>
            </a:r>
          </a:p>
          <a:p>
            <a:pPr marL="0" indent="0">
              <a:lnSpc>
                <a:spcPct val="150000"/>
              </a:lnSpc>
              <a:buNone/>
            </a:pPr>
            <a:r>
              <a:rPr lang="en-US" b="1" dirty="0"/>
              <a:t>On Windows: </a:t>
            </a:r>
            <a:r>
              <a:rPr lang="en-US" dirty="0"/>
              <a:t>del example.txt 	</a:t>
            </a:r>
          </a:p>
          <a:p>
            <a:pPr marL="0" indent="0">
              <a:lnSpc>
                <a:spcPct val="150000"/>
              </a:lnSpc>
              <a:buNone/>
            </a:pPr>
            <a:r>
              <a:rPr lang="en-US" dirty="0"/>
              <a:t>Alternatively, you can use the Git command to delete the file, which will both remove it from the working directory and stage the deletion: </a:t>
            </a:r>
          </a:p>
          <a:p>
            <a:pPr marL="0" indent="0">
              <a:lnSpc>
                <a:spcPct val="150000"/>
              </a:lnSpc>
              <a:buNone/>
            </a:pPr>
            <a:r>
              <a:rPr lang="en-US" b="1" dirty="0"/>
              <a:t>git rm &lt;file&gt; </a:t>
            </a:r>
            <a:endParaRPr lang="en-US" dirty="0"/>
          </a:p>
          <a:p>
            <a:pPr marL="0" indent="0">
              <a:buNone/>
            </a:pPr>
            <a:r>
              <a:rPr lang="en-US" dirty="0"/>
              <a:t>	</a:t>
            </a:r>
          </a:p>
          <a:p>
            <a:pPr marL="0" indent="0">
              <a:buNone/>
            </a:pPr>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6263456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7771D-6BB4-7819-6028-014EAE130B01}"/>
              </a:ext>
            </a:extLst>
          </p:cNvPr>
          <p:cNvSpPr>
            <a:spLocks noGrp="1"/>
          </p:cNvSpPr>
          <p:nvPr>
            <p:ph idx="1"/>
          </p:nvPr>
        </p:nvSpPr>
        <p:spPr>
          <a:xfrm>
            <a:off x="365760" y="617220"/>
            <a:ext cx="10988040" cy="5977890"/>
          </a:xfrm>
        </p:spPr>
        <p:txBody>
          <a:bodyPr>
            <a:normAutofit/>
          </a:bodyPr>
          <a:lstStyle/>
          <a:p>
            <a:pPr marL="0" indent="0">
              <a:lnSpc>
                <a:spcPct val="150000"/>
              </a:lnSpc>
              <a:buNone/>
            </a:pPr>
            <a:r>
              <a:rPr lang="en-US" b="1" dirty="0"/>
              <a:t>For example: </a:t>
            </a:r>
            <a:endParaRPr lang="en-US" dirty="0"/>
          </a:p>
          <a:p>
            <a:pPr marL="0" indent="0">
              <a:lnSpc>
                <a:spcPct val="150000"/>
              </a:lnSpc>
              <a:buNone/>
            </a:pPr>
            <a:r>
              <a:rPr lang="en-US" b="1" dirty="0"/>
              <a:t>git rm example.txt </a:t>
            </a:r>
            <a:endParaRPr lang="en-US" dirty="0"/>
          </a:p>
          <a:p>
            <a:pPr marL="0" indent="0">
              <a:lnSpc>
                <a:spcPct val="150000"/>
              </a:lnSpc>
              <a:buNone/>
            </a:pPr>
            <a:r>
              <a:rPr lang="en-US" dirty="0"/>
              <a:t>2. After deleting the file, it is removed from the working directory, but its deletion is not yet committed. To stage the deletion for the next commit, you need to run: </a:t>
            </a:r>
          </a:p>
          <a:p>
            <a:pPr marL="0" indent="0">
              <a:lnSpc>
                <a:spcPct val="150000"/>
              </a:lnSpc>
              <a:buNone/>
            </a:pPr>
            <a:r>
              <a:rPr lang="en-US" b="1" dirty="0"/>
              <a:t>git add &lt;file&gt; </a:t>
            </a:r>
            <a:r>
              <a:rPr lang="en-US" dirty="0"/>
              <a:t>	</a:t>
            </a:r>
          </a:p>
          <a:p>
            <a:pPr marL="0" indent="0">
              <a:lnSpc>
                <a:spcPct val="150000"/>
              </a:lnSpc>
              <a:buNone/>
            </a:pPr>
            <a:r>
              <a:rPr lang="en-US" dirty="0"/>
              <a:t>For example: </a:t>
            </a:r>
          </a:p>
          <a:p>
            <a:pPr marL="0" indent="0">
              <a:lnSpc>
                <a:spcPct val="150000"/>
              </a:lnSpc>
              <a:buNone/>
            </a:pPr>
            <a:r>
              <a:rPr lang="en-US" b="1" dirty="0"/>
              <a:t>git add </a:t>
            </a:r>
            <a:r>
              <a:rPr lang="en-US" dirty="0"/>
              <a:t>example.txt 	</a:t>
            </a:r>
          </a:p>
          <a:p>
            <a:pPr marL="0" indent="0">
              <a:buNone/>
            </a:pPr>
            <a:endParaRPr lang="en-US" dirty="0"/>
          </a:p>
        </p:txBody>
      </p:sp>
    </p:spTree>
    <p:extLst>
      <p:ext uri="{BB962C8B-B14F-4D97-AF65-F5344CB8AC3E}">
        <p14:creationId xmlns:p14="http://schemas.microsoft.com/office/powerpoint/2010/main" val="17984264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A8AB0-D169-7195-17FF-9C4EBA64433B}"/>
              </a:ext>
            </a:extLst>
          </p:cNvPr>
          <p:cNvSpPr>
            <a:spLocks noGrp="1"/>
          </p:cNvSpPr>
          <p:nvPr>
            <p:ph idx="1"/>
          </p:nvPr>
        </p:nvSpPr>
        <p:spPr>
          <a:xfrm>
            <a:off x="571500" y="445770"/>
            <a:ext cx="11018520" cy="5897880"/>
          </a:xfrm>
        </p:spPr>
        <p:txBody>
          <a:bodyPr>
            <a:normAutofit lnSpcReduction="10000"/>
          </a:bodyPr>
          <a:lstStyle/>
          <a:p>
            <a:pPr marL="0" indent="0">
              <a:buNone/>
            </a:pPr>
            <a:r>
              <a:rPr lang="en-US" dirty="0"/>
              <a:t>3. At this point, the file deletion is staged and will be part of the next commit. To complete the process, commit the changes: </a:t>
            </a:r>
          </a:p>
          <a:p>
            <a:pPr marL="0" indent="0">
              <a:buNone/>
            </a:pPr>
            <a:r>
              <a:rPr lang="en-US" b="1" dirty="0"/>
              <a:t>git commit -m "Deleted example.txt" </a:t>
            </a:r>
            <a:r>
              <a:rPr lang="en-US" dirty="0"/>
              <a:t>	</a:t>
            </a:r>
          </a:p>
          <a:p>
            <a:pPr marL="0" indent="0">
              <a:lnSpc>
                <a:spcPct val="150000"/>
              </a:lnSpc>
              <a:buNone/>
            </a:pPr>
            <a:r>
              <a:rPr lang="en-US" b="1" dirty="0"/>
              <a:t>5. Operations on rm command </a:t>
            </a:r>
            <a:endParaRPr lang="en-US" dirty="0"/>
          </a:p>
          <a:p>
            <a:pPr marL="0" indent="0">
              <a:lnSpc>
                <a:spcPct val="150000"/>
              </a:lnSpc>
              <a:buNone/>
            </a:pPr>
            <a:r>
              <a:rPr lang="en-US" b="1" dirty="0"/>
              <a:t>5.1 Remove and Stage a File: </a:t>
            </a:r>
            <a:endParaRPr lang="en-US" dirty="0"/>
          </a:p>
          <a:p>
            <a:pPr marL="0" indent="0">
              <a:lnSpc>
                <a:spcPct val="150000"/>
              </a:lnSpc>
              <a:buNone/>
            </a:pPr>
            <a:r>
              <a:rPr lang="en-US" dirty="0"/>
              <a:t>1. First, ensure you are in the root directory of your Git repository. </a:t>
            </a:r>
          </a:p>
          <a:p>
            <a:pPr marL="0" indent="0">
              <a:lnSpc>
                <a:spcPct val="150000"/>
              </a:lnSpc>
              <a:buNone/>
            </a:pPr>
            <a:r>
              <a:rPr lang="en-US" dirty="0"/>
              <a:t>2. To remove the file from both the working directory and the repository (staged deletion), use the following command: </a:t>
            </a:r>
          </a:p>
          <a:p>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7690660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36CF68-19AD-D918-8EE1-54CFBE945825}"/>
              </a:ext>
            </a:extLst>
          </p:cNvPr>
          <p:cNvSpPr>
            <a:spLocks noGrp="1"/>
          </p:cNvSpPr>
          <p:nvPr>
            <p:ph idx="1"/>
          </p:nvPr>
        </p:nvSpPr>
        <p:spPr>
          <a:xfrm>
            <a:off x="708660" y="582930"/>
            <a:ext cx="10847070" cy="5909310"/>
          </a:xfrm>
        </p:spPr>
        <p:txBody>
          <a:bodyPr/>
          <a:lstStyle/>
          <a:p>
            <a:pPr marL="0" indent="0">
              <a:lnSpc>
                <a:spcPct val="150000"/>
              </a:lnSpc>
              <a:buNone/>
            </a:pPr>
            <a:r>
              <a:rPr lang="en-US" b="1" dirty="0"/>
              <a:t>git rm &lt;file&gt; </a:t>
            </a:r>
            <a:endParaRPr lang="en-US" dirty="0"/>
          </a:p>
          <a:p>
            <a:pPr marL="0" indent="0">
              <a:lnSpc>
                <a:spcPct val="150000"/>
              </a:lnSpc>
              <a:buNone/>
            </a:pPr>
            <a:r>
              <a:rPr lang="en-US" dirty="0"/>
              <a:t>For example, if you want to remove a file named "example.txt": </a:t>
            </a:r>
          </a:p>
          <a:p>
            <a:pPr marL="0" indent="0">
              <a:lnSpc>
                <a:spcPct val="150000"/>
              </a:lnSpc>
              <a:buNone/>
            </a:pPr>
            <a:r>
              <a:rPr lang="en-US" b="1" dirty="0"/>
              <a:t>git rm example.txt </a:t>
            </a:r>
          </a:p>
          <a:p>
            <a:pPr marL="0" indent="0">
              <a:lnSpc>
                <a:spcPct val="150000"/>
              </a:lnSpc>
              <a:buNone/>
            </a:pPr>
            <a:r>
              <a:rPr lang="en-US" dirty="0"/>
              <a:t>3. After running the </a:t>
            </a:r>
            <a:r>
              <a:rPr lang="en-US" b="1" dirty="0"/>
              <a:t>git rm </a:t>
            </a:r>
            <a:r>
              <a:rPr lang="en-US" dirty="0"/>
              <a:t>command, the file is removed from the working directory and staged for deletion. To complete the process, commit the changes: </a:t>
            </a:r>
          </a:p>
          <a:p>
            <a:pPr marL="0" indent="0">
              <a:lnSpc>
                <a:spcPct val="150000"/>
              </a:lnSpc>
              <a:buNone/>
            </a:pPr>
            <a:r>
              <a:rPr lang="en-US" b="1" dirty="0"/>
              <a:t>git commit -m "Deleted example.txt" </a:t>
            </a:r>
            <a:r>
              <a:rPr lang="en-US" dirty="0"/>
              <a:t>	</a:t>
            </a:r>
          </a:p>
          <a:p>
            <a:pPr marL="0" indent="0">
              <a:buNone/>
            </a:pPr>
            <a:endParaRPr lang="en-US" dirty="0"/>
          </a:p>
        </p:txBody>
      </p:sp>
    </p:spTree>
    <p:extLst>
      <p:ext uri="{BB962C8B-B14F-4D97-AF65-F5344CB8AC3E}">
        <p14:creationId xmlns:p14="http://schemas.microsoft.com/office/powerpoint/2010/main" val="306599547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2684D0-3837-6271-2F05-E3798F2CAEB7}"/>
              </a:ext>
            </a:extLst>
          </p:cNvPr>
          <p:cNvSpPr>
            <a:spLocks noGrp="1"/>
          </p:cNvSpPr>
          <p:nvPr>
            <p:ph idx="1"/>
          </p:nvPr>
        </p:nvSpPr>
        <p:spPr>
          <a:xfrm>
            <a:off x="720090" y="240030"/>
            <a:ext cx="10812780" cy="6126480"/>
          </a:xfrm>
        </p:spPr>
        <p:txBody>
          <a:bodyPr>
            <a:normAutofit fontScale="92500"/>
          </a:bodyPr>
          <a:lstStyle/>
          <a:p>
            <a:pPr marL="0" indent="0">
              <a:lnSpc>
                <a:spcPct val="150000"/>
              </a:lnSpc>
              <a:buNone/>
            </a:pPr>
            <a:r>
              <a:rPr lang="en-US" dirty="0"/>
              <a:t>Replace the commit message with an appropriate message for your changes. </a:t>
            </a:r>
          </a:p>
          <a:p>
            <a:pPr marL="0" indent="0">
              <a:lnSpc>
                <a:spcPct val="150000"/>
              </a:lnSpc>
              <a:buNone/>
            </a:pPr>
            <a:r>
              <a:rPr lang="en-US" b="1" dirty="0"/>
              <a:t>5.2 Remove and Stage a Folder (Directory): </a:t>
            </a:r>
            <a:endParaRPr lang="en-US" dirty="0"/>
          </a:p>
          <a:p>
            <a:pPr marL="0" indent="0">
              <a:lnSpc>
                <a:spcPct val="150000"/>
              </a:lnSpc>
              <a:buNone/>
            </a:pPr>
            <a:r>
              <a:rPr lang="en-US" dirty="0"/>
              <a:t>1.First, ensure you are in the root directory of your Git repository. </a:t>
            </a:r>
          </a:p>
          <a:p>
            <a:pPr marL="0" indent="0">
              <a:lnSpc>
                <a:spcPct val="150000"/>
              </a:lnSpc>
              <a:buNone/>
            </a:pPr>
            <a:r>
              <a:rPr lang="en-US" dirty="0"/>
              <a:t>2.To remove the folder and its contents from both the working directory and the repository (staged deletion), use the following command: </a:t>
            </a:r>
          </a:p>
          <a:p>
            <a:pPr marL="0" indent="0">
              <a:lnSpc>
                <a:spcPct val="150000"/>
              </a:lnSpc>
              <a:buNone/>
            </a:pPr>
            <a:r>
              <a:rPr lang="en-US" b="1" dirty="0"/>
              <a:t>git rm -r &lt;folder&gt; </a:t>
            </a:r>
            <a:endParaRPr lang="en-US" dirty="0"/>
          </a:p>
          <a:p>
            <a:pPr marL="0" indent="0">
              <a:lnSpc>
                <a:spcPct val="150000"/>
              </a:lnSpc>
              <a:buNone/>
            </a:pPr>
            <a:r>
              <a:rPr lang="en-US" dirty="0"/>
              <a:t>For example, if you want to remove a folder named "examples": </a:t>
            </a:r>
          </a:p>
          <a:p>
            <a:pPr marL="0" indent="0">
              <a:lnSpc>
                <a:spcPct val="150000"/>
              </a:lnSpc>
              <a:buNone/>
            </a:pPr>
            <a:r>
              <a:rPr lang="en-US" b="1" dirty="0"/>
              <a:t>git rm -r examples </a:t>
            </a:r>
            <a:r>
              <a:rPr lang="en-US" dirty="0"/>
              <a:t>	</a:t>
            </a:r>
          </a:p>
          <a:p>
            <a:pPr marL="0" indent="0">
              <a:buNone/>
            </a:pPr>
            <a:endParaRPr lang="en-US" dirty="0"/>
          </a:p>
        </p:txBody>
      </p:sp>
    </p:spTree>
    <p:extLst>
      <p:ext uri="{BB962C8B-B14F-4D97-AF65-F5344CB8AC3E}">
        <p14:creationId xmlns:p14="http://schemas.microsoft.com/office/powerpoint/2010/main" val="11937404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C93574-E822-26AD-62FD-514BDEFBBBF3}"/>
              </a:ext>
            </a:extLst>
          </p:cNvPr>
          <p:cNvSpPr>
            <a:spLocks noGrp="1"/>
          </p:cNvSpPr>
          <p:nvPr>
            <p:ph idx="1"/>
          </p:nvPr>
        </p:nvSpPr>
        <p:spPr>
          <a:xfrm>
            <a:off x="400050" y="365760"/>
            <a:ext cx="11212830" cy="6012180"/>
          </a:xfrm>
        </p:spPr>
        <p:txBody>
          <a:bodyPr/>
          <a:lstStyle/>
          <a:p>
            <a:pPr marL="0" indent="0">
              <a:lnSpc>
                <a:spcPct val="150000"/>
              </a:lnSpc>
              <a:buNone/>
            </a:pPr>
            <a:r>
              <a:rPr lang="en-US" b="1" dirty="0"/>
              <a:t>Indicative content 2.2: Commit File changes to git local repository and manage branch </a:t>
            </a:r>
          </a:p>
          <a:p>
            <a:pPr marL="0" indent="0">
              <a:lnSpc>
                <a:spcPct val="150000"/>
              </a:lnSpc>
              <a:buNone/>
            </a:pPr>
            <a:r>
              <a:rPr lang="en-US" b="1" dirty="0"/>
              <a:t>2.2.1: Introduction of commit file change to git local repository </a:t>
            </a:r>
          </a:p>
          <a:p>
            <a:pPr marL="0" indent="0">
              <a:lnSpc>
                <a:spcPct val="150000"/>
              </a:lnSpc>
              <a:buNone/>
            </a:pPr>
            <a:r>
              <a:rPr lang="en-US" b="1" dirty="0"/>
              <a:t>1. Definition of Commit message </a:t>
            </a:r>
            <a:endParaRPr lang="en-US" dirty="0"/>
          </a:p>
          <a:p>
            <a:pPr marL="0" indent="0">
              <a:lnSpc>
                <a:spcPct val="150000"/>
              </a:lnSpc>
              <a:buNone/>
            </a:pPr>
            <a:r>
              <a:rPr lang="en-US" dirty="0"/>
              <a:t>In Git, a commit message is a brief description that explains the changes made in a particular commit. 	</a:t>
            </a:r>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6783126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04E596-400E-7E93-CE57-E8F9A8290955}"/>
              </a:ext>
            </a:extLst>
          </p:cNvPr>
          <p:cNvSpPr>
            <a:spLocks noGrp="1"/>
          </p:cNvSpPr>
          <p:nvPr>
            <p:ph idx="1"/>
          </p:nvPr>
        </p:nvSpPr>
        <p:spPr>
          <a:xfrm>
            <a:off x="777240" y="560070"/>
            <a:ext cx="10949940" cy="5989320"/>
          </a:xfrm>
        </p:spPr>
        <p:txBody>
          <a:bodyPr/>
          <a:lstStyle/>
          <a:p>
            <a:pPr marL="0" indent="0">
              <a:buNone/>
            </a:pPr>
            <a:r>
              <a:rPr lang="en-US" b="1" dirty="0"/>
              <a:t>2.2.2 : Committing File changes to git local repository and manage branches </a:t>
            </a:r>
            <a:endParaRPr lang="en-US" dirty="0"/>
          </a:p>
          <a:p>
            <a:pPr marL="0" indent="0">
              <a:buNone/>
            </a:pPr>
            <a:r>
              <a:rPr lang="en-US" b="1" dirty="0"/>
              <a:t>1. Commit file change </a:t>
            </a:r>
            <a:r>
              <a:rPr lang="en-US" dirty="0"/>
              <a:t>	</a:t>
            </a:r>
          </a:p>
          <a:p>
            <a:pPr marL="0" indent="0">
              <a:lnSpc>
                <a:spcPct val="150000"/>
              </a:lnSpc>
              <a:buNone/>
            </a:pPr>
            <a:r>
              <a:rPr lang="en-US" dirty="0"/>
              <a:t>Here are the steps to commit file changes to a Git local repository: </a:t>
            </a:r>
          </a:p>
          <a:p>
            <a:pPr marL="0" indent="0">
              <a:lnSpc>
                <a:spcPct val="150000"/>
              </a:lnSpc>
              <a:buNone/>
            </a:pPr>
            <a:r>
              <a:rPr lang="en-US" b="1" dirty="0"/>
              <a:t>1.Check Status</a:t>
            </a:r>
            <a:r>
              <a:rPr lang="en-US" dirty="0"/>
              <a:t>: Before committing changes, it's a good practice to review the status of your repository using the command:</a:t>
            </a:r>
          </a:p>
          <a:p>
            <a:pPr marL="0" indent="0">
              <a:lnSpc>
                <a:spcPct val="150000"/>
              </a:lnSpc>
              <a:buNone/>
            </a:pPr>
            <a:endParaRPr lang="en-US" dirty="0"/>
          </a:p>
          <a:p>
            <a:pPr marL="0" indent="0">
              <a:lnSpc>
                <a:spcPct val="150000"/>
              </a:lnSpc>
              <a:buNone/>
            </a:pPr>
            <a:r>
              <a:rPr lang="en-US" dirty="0"/>
              <a:t>This will show you which files have been modified, added, or deleted. 	</a:t>
            </a:r>
          </a:p>
          <a:p>
            <a:pPr marL="0" indent="0">
              <a:lnSpc>
                <a:spcPct val="150000"/>
              </a:lnSpc>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FF9624C7-E90A-15ED-8ADB-A8A7758E3F4D}"/>
              </a:ext>
            </a:extLst>
          </p:cNvPr>
          <p:cNvPicPr>
            <a:picLocks noChangeAspect="1"/>
          </p:cNvPicPr>
          <p:nvPr/>
        </p:nvPicPr>
        <p:blipFill>
          <a:blip r:embed="rId2"/>
          <a:stretch>
            <a:fillRect/>
          </a:stretch>
        </p:blipFill>
        <p:spPr>
          <a:xfrm>
            <a:off x="6096000" y="4149090"/>
            <a:ext cx="2119656" cy="874359"/>
          </a:xfrm>
          <a:prstGeom prst="rect">
            <a:avLst/>
          </a:prstGeom>
        </p:spPr>
      </p:pic>
    </p:spTree>
    <p:extLst>
      <p:ext uri="{BB962C8B-B14F-4D97-AF65-F5344CB8AC3E}">
        <p14:creationId xmlns:p14="http://schemas.microsoft.com/office/powerpoint/2010/main" val="41529193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7CBFDF-CBBD-E3CC-2652-0884313204B0}"/>
              </a:ext>
            </a:extLst>
          </p:cNvPr>
          <p:cNvSpPr>
            <a:spLocks noGrp="1"/>
          </p:cNvSpPr>
          <p:nvPr>
            <p:ph idx="1"/>
          </p:nvPr>
        </p:nvSpPr>
        <p:spPr>
          <a:xfrm>
            <a:off x="868680" y="400050"/>
            <a:ext cx="10675620" cy="5920740"/>
          </a:xfrm>
        </p:spPr>
        <p:txBody>
          <a:bodyPr>
            <a:normAutofit fontScale="92500" lnSpcReduction="10000"/>
          </a:bodyPr>
          <a:lstStyle/>
          <a:p>
            <a:pPr marL="0" indent="0">
              <a:lnSpc>
                <a:spcPct val="150000"/>
              </a:lnSpc>
              <a:buNone/>
            </a:pPr>
            <a:r>
              <a:rPr lang="en-US" b="1" dirty="0"/>
              <a:t>2.Stage Changes</a:t>
            </a:r>
            <a:r>
              <a:rPr lang="en-US" dirty="0"/>
              <a:t>: Use the "git add" command to stage the changes you want to commit. You can either stage specific files or stage all changes. For example: 	</a:t>
            </a:r>
          </a:p>
          <a:p>
            <a:pPr>
              <a:lnSpc>
                <a:spcPct val="150000"/>
              </a:lnSpc>
            </a:pPr>
            <a:r>
              <a:rPr lang="en-US" dirty="0"/>
              <a:t>To stage a specific file: </a:t>
            </a:r>
          </a:p>
          <a:p>
            <a:pPr marL="0" indent="0">
              <a:lnSpc>
                <a:spcPct val="150000"/>
              </a:lnSpc>
              <a:buNone/>
            </a:pPr>
            <a:endParaRPr lang="en-US" dirty="0"/>
          </a:p>
          <a:p>
            <a:endParaRPr lang="en-US" dirty="0"/>
          </a:p>
          <a:p>
            <a:r>
              <a:rPr lang="en-US" dirty="0"/>
              <a:t>To stage all changes: </a:t>
            </a:r>
          </a:p>
          <a:p>
            <a:pPr marL="0" indent="0">
              <a:buNone/>
            </a:pPr>
            <a:r>
              <a:rPr lang="en-US" dirty="0"/>
              <a:t>	</a:t>
            </a:r>
          </a:p>
          <a:p>
            <a:pPr marL="0" indent="0">
              <a:lnSpc>
                <a:spcPct val="150000"/>
              </a:lnSpc>
              <a:buNone/>
            </a:pPr>
            <a:endParaRPr lang="en-US" dirty="0"/>
          </a:p>
          <a:p>
            <a:pPr marL="0" indent="0">
              <a:buNone/>
            </a:pPr>
            <a:r>
              <a:rPr lang="en-US" dirty="0"/>
              <a:t>	</a:t>
            </a:r>
          </a:p>
          <a:p>
            <a:pPr marL="0" indent="0">
              <a:lnSpc>
                <a:spcPct val="150000"/>
              </a:lnSpc>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88047A32-8ECC-DA29-ACDA-C9A0E832B69C}"/>
              </a:ext>
            </a:extLst>
          </p:cNvPr>
          <p:cNvPicPr>
            <a:picLocks noChangeAspect="1"/>
          </p:cNvPicPr>
          <p:nvPr/>
        </p:nvPicPr>
        <p:blipFill>
          <a:blip r:embed="rId2"/>
          <a:stretch>
            <a:fillRect/>
          </a:stretch>
        </p:blipFill>
        <p:spPr>
          <a:xfrm>
            <a:off x="5189176" y="2414258"/>
            <a:ext cx="3384276" cy="820431"/>
          </a:xfrm>
          <a:prstGeom prst="rect">
            <a:avLst/>
          </a:prstGeom>
        </p:spPr>
      </p:pic>
      <p:pic>
        <p:nvPicPr>
          <p:cNvPr id="7" name="Picture 6">
            <a:extLst>
              <a:ext uri="{FF2B5EF4-FFF2-40B4-BE49-F238E27FC236}">
                <a16:creationId xmlns:a16="http://schemas.microsoft.com/office/drawing/2014/main" id="{7A73905F-1F35-2790-CDFA-9ADC47DB039B}"/>
              </a:ext>
            </a:extLst>
          </p:cNvPr>
          <p:cNvPicPr>
            <a:picLocks noChangeAspect="1"/>
          </p:cNvPicPr>
          <p:nvPr/>
        </p:nvPicPr>
        <p:blipFill>
          <a:blip r:embed="rId3"/>
          <a:stretch>
            <a:fillRect/>
          </a:stretch>
        </p:blipFill>
        <p:spPr>
          <a:xfrm>
            <a:off x="4843119" y="4349384"/>
            <a:ext cx="3077870" cy="1078235"/>
          </a:xfrm>
          <a:prstGeom prst="rect">
            <a:avLst/>
          </a:prstGeom>
        </p:spPr>
      </p:pic>
    </p:spTree>
    <p:extLst>
      <p:ext uri="{BB962C8B-B14F-4D97-AF65-F5344CB8AC3E}">
        <p14:creationId xmlns:p14="http://schemas.microsoft.com/office/powerpoint/2010/main" val="19669012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A3BA68-64DC-89FF-1F21-EE7E0AC65D01}"/>
              </a:ext>
            </a:extLst>
          </p:cNvPr>
          <p:cNvPicPr>
            <a:picLocks noChangeAspect="1"/>
          </p:cNvPicPr>
          <p:nvPr/>
        </p:nvPicPr>
        <p:blipFill>
          <a:blip r:embed="rId2"/>
          <a:stretch>
            <a:fillRect/>
          </a:stretch>
        </p:blipFill>
        <p:spPr>
          <a:xfrm>
            <a:off x="5638800" y="1931670"/>
            <a:ext cx="3183695" cy="811530"/>
          </a:xfrm>
          <a:prstGeom prst="rect">
            <a:avLst/>
          </a:prstGeom>
        </p:spPr>
      </p:pic>
      <p:sp>
        <p:nvSpPr>
          <p:cNvPr id="11" name="Content Placeholder 10">
            <a:extLst>
              <a:ext uri="{FF2B5EF4-FFF2-40B4-BE49-F238E27FC236}">
                <a16:creationId xmlns:a16="http://schemas.microsoft.com/office/drawing/2014/main" id="{BE10B111-1A3D-BEE7-A86C-BF59BF3B429C}"/>
              </a:ext>
            </a:extLst>
          </p:cNvPr>
          <p:cNvSpPr>
            <a:spLocks noGrp="1"/>
          </p:cNvSpPr>
          <p:nvPr>
            <p:ph idx="1"/>
          </p:nvPr>
        </p:nvSpPr>
        <p:spPr>
          <a:xfrm>
            <a:off x="628650" y="274320"/>
            <a:ext cx="11201400" cy="6206490"/>
          </a:xfrm>
        </p:spPr>
        <p:txBody>
          <a:bodyPr/>
          <a:lstStyle/>
          <a:p>
            <a:pPr marL="0" indent="0">
              <a:lnSpc>
                <a:spcPct val="150000"/>
              </a:lnSpc>
              <a:buNone/>
            </a:pPr>
            <a:r>
              <a:rPr lang="en-US" b="1" dirty="0"/>
              <a:t>3.Verify Staging</a:t>
            </a:r>
            <a:r>
              <a:rPr lang="en-US" dirty="0"/>
              <a:t>: Confirm that the changes you want to commit are staged correctly by checking the status again: 	</a:t>
            </a:r>
          </a:p>
          <a:p>
            <a:pPr marL="0" indent="0">
              <a:buNone/>
            </a:pPr>
            <a:endParaRPr lang="en-US" dirty="0"/>
          </a:p>
          <a:p>
            <a:pPr marL="0" indent="0">
              <a:buNone/>
            </a:pPr>
            <a:endParaRPr lang="en-US" dirty="0"/>
          </a:p>
          <a:p>
            <a:pPr marL="0" indent="0">
              <a:lnSpc>
                <a:spcPct val="150000"/>
              </a:lnSpc>
              <a:buNone/>
            </a:pPr>
            <a:r>
              <a:rPr lang="en-US" dirty="0"/>
              <a:t>Staged changes will appear in green. </a:t>
            </a:r>
          </a:p>
          <a:p>
            <a:pPr marL="0" indent="0">
              <a:lnSpc>
                <a:spcPct val="150000"/>
              </a:lnSpc>
              <a:buNone/>
            </a:pPr>
            <a:r>
              <a:rPr lang="en-US" b="1" dirty="0"/>
              <a:t>4.Commit Changes</a:t>
            </a:r>
            <a:r>
              <a:rPr lang="en-US" dirty="0"/>
              <a:t>: Once you've staged the desired changes, commit them to the local repository along with a descriptive commit message using the "git commit" command: 	</a:t>
            </a:r>
          </a:p>
          <a:p>
            <a:pPr marL="0" indent="0">
              <a:buNone/>
            </a:pPr>
            <a:endParaRPr lang="en-US" dirty="0"/>
          </a:p>
        </p:txBody>
      </p:sp>
      <p:pic>
        <p:nvPicPr>
          <p:cNvPr id="13" name="Picture 12">
            <a:extLst>
              <a:ext uri="{FF2B5EF4-FFF2-40B4-BE49-F238E27FC236}">
                <a16:creationId xmlns:a16="http://schemas.microsoft.com/office/drawing/2014/main" id="{F21D46C3-A818-B196-F87B-795F09E16CBC}"/>
              </a:ext>
            </a:extLst>
          </p:cNvPr>
          <p:cNvPicPr>
            <a:picLocks noChangeAspect="1"/>
          </p:cNvPicPr>
          <p:nvPr/>
        </p:nvPicPr>
        <p:blipFill>
          <a:blip r:embed="rId3"/>
          <a:stretch>
            <a:fillRect/>
          </a:stretch>
        </p:blipFill>
        <p:spPr>
          <a:xfrm>
            <a:off x="1568352" y="5547986"/>
            <a:ext cx="8594394" cy="704223"/>
          </a:xfrm>
          <a:prstGeom prst="rect">
            <a:avLst/>
          </a:prstGeom>
        </p:spPr>
      </p:pic>
    </p:spTree>
    <p:extLst>
      <p:ext uri="{BB962C8B-B14F-4D97-AF65-F5344CB8AC3E}">
        <p14:creationId xmlns:p14="http://schemas.microsoft.com/office/powerpoint/2010/main" val="387673371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7439D6-6FC9-CD32-B98F-24C0CF78A219}"/>
              </a:ext>
            </a:extLst>
          </p:cNvPr>
          <p:cNvSpPr>
            <a:spLocks noGrp="1"/>
          </p:cNvSpPr>
          <p:nvPr>
            <p:ph idx="1"/>
          </p:nvPr>
        </p:nvSpPr>
        <p:spPr>
          <a:xfrm>
            <a:off x="377190" y="1051560"/>
            <a:ext cx="11555730" cy="5634990"/>
          </a:xfrm>
        </p:spPr>
        <p:txBody>
          <a:bodyPr>
            <a:normAutofit fontScale="47500" lnSpcReduction="20000"/>
          </a:bodyPr>
          <a:lstStyle/>
          <a:p>
            <a:pPr marL="0" indent="0">
              <a:lnSpc>
                <a:spcPct val="150000"/>
              </a:lnSpc>
              <a:buNone/>
            </a:pPr>
            <a:r>
              <a:rPr lang="en-US" sz="4700" dirty="0"/>
              <a:t>Replace "</a:t>
            </a:r>
            <a:r>
              <a:rPr lang="en-US" sz="5900" dirty="0"/>
              <a:t>Your commit message here" with a concise description of the changes you're committing.</a:t>
            </a:r>
          </a:p>
          <a:p>
            <a:pPr marL="0" indent="0">
              <a:lnSpc>
                <a:spcPct val="150000"/>
              </a:lnSpc>
              <a:buNone/>
            </a:pPr>
            <a:r>
              <a:rPr lang="en-US" sz="5900" b="1" dirty="0"/>
              <a:t>5.Verify Commit: </a:t>
            </a:r>
            <a:r>
              <a:rPr lang="en-US" sz="5900" dirty="0"/>
              <a:t>After committing the changes, you can verify that they have been successfully committed by reviewing the commit history: </a:t>
            </a:r>
            <a:r>
              <a:rPr lang="en-US" dirty="0"/>
              <a:t>	</a:t>
            </a:r>
          </a:p>
          <a:p>
            <a:pPr marL="0" indent="0">
              <a:lnSpc>
                <a:spcPct val="150000"/>
              </a:lnSpc>
              <a:buNone/>
            </a:pPr>
            <a:endParaRPr lang="en-US" dirty="0"/>
          </a:p>
          <a:p>
            <a:pPr marL="0" indent="0">
              <a:lnSpc>
                <a:spcPct val="150000"/>
              </a:lnSpc>
              <a:buNone/>
            </a:pPr>
            <a:endParaRPr lang="en-US" dirty="0"/>
          </a:p>
          <a:p>
            <a:pPr marL="0" indent="0">
              <a:lnSpc>
                <a:spcPct val="150000"/>
              </a:lnSpc>
              <a:buNone/>
            </a:pPr>
            <a:endParaRPr lang="en-US" dirty="0"/>
          </a:p>
          <a:p>
            <a:pPr marL="0" indent="0">
              <a:lnSpc>
                <a:spcPct val="150000"/>
              </a:lnSpc>
              <a:buNone/>
            </a:pPr>
            <a:r>
              <a:rPr lang="en-US" sz="4500" dirty="0"/>
              <a:t>	</a:t>
            </a:r>
          </a:p>
          <a:p>
            <a:pPr marL="0" indent="0">
              <a:lnSpc>
                <a:spcPct val="150000"/>
              </a:lnSpc>
              <a:buNone/>
            </a:pPr>
            <a:endParaRPr lang="en-US" dirty="0"/>
          </a:p>
          <a:p>
            <a:pPr marL="0" indent="0">
              <a:lnSpc>
                <a:spcPct val="150000"/>
              </a:lnSpc>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FB3A8DAE-F847-1C9D-33F9-E57FE3E18CC0}"/>
              </a:ext>
            </a:extLst>
          </p:cNvPr>
          <p:cNvPicPr>
            <a:picLocks noChangeAspect="1"/>
          </p:cNvPicPr>
          <p:nvPr/>
        </p:nvPicPr>
        <p:blipFill>
          <a:blip r:embed="rId2"/>
          <a:stretch>
            <a:fillRect/>
          </a:stretch>
        </p:blipFill>
        <p:spPr>
          <a:xfrm>
            <a:off x="4532608" y="3900033"/>
            <a:ext cx="2165372" cy="955313"/>
          </a:xfrm>
          <a:prstGeom prst="rect">
            <a:avLst/>
          </a:prstGeom>
        </p:spPr>
      </p:pic>
    </p:spTree>
    <p:extLst>
      <p:ext uri="{BB962C8B-B14F-4D97-AF65-F5344CB8AC3E}">
        <p14:creationId xmlns:p14="http://schemas.microsoft.com/office/powerpoint/2010/main" val="235474146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CAD6CA-2F60-CCFE-B5BF-69E2AB5AA820}"/>
              </a:ext>
            </a:extLst>
          </p:cNvPr>
          <p:cNvSpPr>
            <a:spLocks noGrp="1"/>
          </p:cNvSpPr>
          <p:nvPr>
            <p:ph idx="1"/>
          </p:nvPr>
        </p:nvSpPr>
        <p:spPr>
          <a:xfrm>
            <a:off x="720090" y="502920"/>
            <a:ext cx="10744200" cy="6126480"/>
          </a:xfrm>
        </p:spPr>
        <p:txBody>
          <a:bodyPr/>
          <a:lstStyle/>
          <a:p>
            <a:pPr marL="0" indent="0">
              <a:lnSpc>
                <a:spcPct val="150000"/>
              </a:lnSpc>
              <a:buNone/>
            </a:pPr>
            <a:r>
              <a:rPr lang="en-US" dirty="0"/>
              <a:t>This will display a list of commits, including the one you just made. Press "</a:t>
            </a:r>
            <a:r>
              <a:rPr lang="en-US" b="1" dirty="0"/>
              <a:t>q</a:t>
            </a:r>
            <a:r>
              <a:rPr lang="en-US" dirty="0"/>
              <a:t>" to exit the log. 	</a:t>
            </a:r>
          </a:p>
          <a:p>
            <a:pPr marL="0" indent="0">
              <a:lnSpc>
                <a:spcPct val="150000"/>
              </a:lnSpc>
              <a:buNone/>
            </a:pPr>
            <a:r>
              <a:rPr lang="en-US" b="1" dirty="0"/>
              <a:t>6. Manage branches </a:t>
            </a:r>
            <a:endParaRPr lang="en-US" dirty="0"/>
          </a:p>
          <a:p>
            <a:pPr marL="0" indent="0">
              <a:lnSpc>
                <a:spcPct val="150000"/>
              </a:lnSpc>
              <a:buNone/>
            </a:pPr>
            <a:r>
              <a:rPr lang="en-US" b="1" dirty="0"/>
              <a:t>6.1 Git Branch </a:t>
            </a:r>
            <a:r>
              <a:rPr lang="en-US" dirty="0"/>
              <a:t>	</a:t>
            </a:r>
          </a:p>
          <a:p>
            <a:pPr marL="0" indent="0">
              <a:lnSpc>
                <a:spcPct val="150000"/>
              </a:lnSpc>
              <a:buNone/>
            </a:pPr>
            <a:r>
              <a:rPr lang="en-US" dirty="0"/>
              <a:t>A </a:t>
            </a:r>
            <a:r>
              <a:rPr lang="en-US" b="1" dirty="0"/>
              <a:t>branch</a:t>
            </a:r>
            <a:r>
              <a:rPr lang="en-US" dirty="0"/>
              <a:t> is a version of the repository that diverges from the main working project. It is a feature available in most modern version control systems. A Git project can have more than one branch. 	</a:t>
            </a:r>
          </a:p>
          <a:p>
            <a:pPr marL="0" indent="0">
              <a:buNone/>
            </a:pPr>
            <a:endParaRPr lang="en-US" dirty="0"/>
          </a:p>
        </p:txBody>
      </p:sp>
    </p:spTree>
    <p:extLst>
      <p:ext uri="{BB962C8B-B14F-4D97-AF65-F5344CB8AC3E}">
        <p14:creationId xmlns:p14="http://schemas.microsoft.com/office/powerpoint/2010/main" val="14293712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794E47-4C46-413A-D1D2-C21DE4E7AFA2}"/>
              </a:ext>
            </a:extLst>
          </p:cNvPr>
          <p:cNvSpPr>
            <a:spLocks noGrp="1"/>
          </p:cNvSpPr>
          <p:nvPr>
            <p:ph idx="1"/>
          </p:nvPr>
        </p:nvSpPr>
        <p:spPr>
          <a:xfrm>
            <a:off x="605790" y="662940"/>
            <a:ext cx="11269980" cy="5840730"/>
          </a:xfrm>
        </p:spPr>
        <p:txBody>
          <a:bodyPr>
            <a:normAutofit/>
          </a:bodyPr>
          <a:lstStyle/>
          <a:p>
            <a:pPr marL="0" indent="0">
              <a:lnSpc>
                <a:spcPct val="150000"/>
              </a:lnSpc>
              <a:buNone/>
            </a:pPr>
            <a:r>
              <a:rPr lang="en-US" dirty="0"/>
              <a:t>The master branch is a default branch in Git. A repository can have only one master branch. </a:t>
            </a:r>
          </a:p>
          <a:p>
            <a:pPr marL="0" indent="0">
              <a:lnSpc>
                <a:spcPct val="150000"/>
              </a:lnSpc>
              <a:buNone/>
            </a:pPr>
            <a:r>
              <a:rPr lang="en-US" dirty="0"/>
              <a:t>Master branch is the branch in which all the changes eventually get merged back. It can be called as an official working version of your project. </a:t>
            </a:r>
          </a:p>
          <a:p>
            <a:pPr marL="0" indent="0">
              <a:lnSpc>
                <a:spcPct val="150000"/>
              </a:lnSpc>
              <a:buNone/>
            </a:pPr>
            <a:r>
              <a:rPr lang="en-US" b="1" dirty="0"/>
              <a:t>6.2 Operations on Branches </a:t>
            </a:r>
            <a:endParaRPr lang="en-US" dirty="0"/>
          </a:p>
          <a:p>
            <a:pPr marL="0" indent="0">
              <a:lnSpc>
                <a:spcPct val="150000"/>
              </a:lnSpc>
              <a:buNone/>
            </a:pPr>
            <a:r>
              <a:rPr lang="en-US" dirty="0"/>
              <a:t>We can perform various operations on Git branches. The </a:t>
            </a:r>
            <a:r>
              <a:rPr lang="en-US" b="1" dirty="0"/>
              <a:t>git branch command </a:t>
            </a:r>
            <a:r>
              <a:rPr lang="en-US" dirty="0"/>
              <a:t>allows you to </a:t>
            </a:r>
            <a:r>
              <a:rPr lang="en-US" b="1" dirty="0"/>
              <a:t>create</a:t>
            </a:r>
            <a:r>
              <a:rPr lang="en-US" dirty="0"/>
              <a:t>, </a:t>
            </a:r>
            <a:r>
              <a:rPr lang="en-US" b="1" dirty="0"/>
              <a:t>list</a:t>
            </a:r>
            <a:r>
              <a:rPr lang="en-US" dirty="0"/>
              <a:t>, </a:t>
            </a:r>
            <a:r>
              <a:rPr lang="en-US" b="1" dirty="0"/>
              <a:t>rename </a:t>
            </a:r>
            <a:r>
              <a:rPr lang="en-US" dirty="0"/>
              <a:t>and </a:t>
            </a:r>
            <a:r>
              <a:rPr lang="en-US" b="1" dirty="0"/>
              <a:t>delete </a:t>
            </a:r>
            <a:r>
              <a:rPr lang="en-US" dirty="0"/>
              <a:t>branches.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411712992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989254-4A5B-F5D1-3234-EF7037B097D5}"/>
              </a:ext>
            </a:extLst>
          </p:cNvPr>
          <p:cNvSpPr>
            <a:spLocks noGrp="1"/>
          </p:cNvSpPr>
          <p:nvPr>
            <p:ph idx="1"/>
          </p:nvPr>
        </p:nvSpPr>
        <p:spPr>
          <a:xfrm>
            <a:off x="560070" y="640080"/>
            <a:ext cx="11087100" cy="5852160"/>
          </a:xfrm>
        </p:spPr>
        <p:txBody>
          <a:bodyPr/>
          <a:lstStyle/>
          <a:p>
            <a:pPr marL="0" indent="0">
              <a:lnSpc>
                <a:spcPct val="150000"/>
              </a:lnSpc>
              <a:buNone/>
            </a:pPr>
            <a:r>
              <a:rPr lang="en-US" b="1" dirty="0"/>
              <a:t>The Operations that can be performed on a branch: </a:t>
            </a:r>
            <a:endParaRPr lang="en-US" dirty="0"/>
          </a:p>
          <a:p>
            <a:pPr marL="0" indent="0">
              <a:lnSpc>
                <a:spcPct val="150000"/>
              </a:lnSpc>
              <a:buNone/>
            </a:pPr>
            <a:r>
              <a:rPr lang="en-US" b="1" dirty="0"/>
              <a:t>1.Create Branch </a:t>
            </a:r>
            <a:endParaRPr lang="en-US" dirty="0"/>
          </a:p>
          <a:p>
            <a:pPr marL="0" indent="0">
              <a:lnSpc>
                <a:spcPct val="150000"/>
              </a:lnSpc>
              <a:buNone/>
            </a:pPr>
            <a:r>
              <a:rPr lang="en-US" dirty="0"/>
              <a:t>You can create a new branch with the help of the </a:t>
            </a:r>
            <a:r>
              <a:rPr lang="en-US" b="1" dirty="0"/>
              <a:t>git branch </a:t>
            </a:r>
            <a:r>
              <a:rPr lang="en-US" dirty="0"/>
              <a:t>command. This command will be used as: </a:t>
            </a:r>
          </a:p>
          <a:p>
            <a:pPr marL="0" indent="0">
              <a:lnSpc>
                <a:spcPct val="150000"/>
              </a:lnSpc>
              <a:buNone/>
            </a:pPr>
            <a:r>
              <a:rPr lang="en-US" b="1" dirty="0"/>
              <a:t>Syntax:  </a:t>
            </a:r>
            <a:r>
              <a:rPr lang="en-US" dirty="0"/>
              <a:t>$ </a:t>
            </a:r>
            <a:r>
              <a:rPr lang="en-US" b="1" dirty="0"/>
              <a:t>git branch &lt;branch name&gt; </a:t>
            </a:r>
            <a:endParaRPr lang="en-US" dirty="0"/>
          </a:p>
          <a:p>
            <a:pPr marL="0" indent="0">
              <a:lnSpc>
                <a:spcPct val="150000"/>
              </a:lnSpc>
              <a:buNone/>
            </a:pPr>
            <a:r>
              <a:rPr lang="en-US" b="1" dirty="0"/>
              <a:t>Output: </a:t>
            </a:r>
            <a:r>
              <a:rPr lang="en-US" dirty="0"/>
              <a:t>	</a:t>
            </a:r>
          </a:p>
          <a:p>
            <a:pPr marL="0" indent="0">
              <a:buNone/>
            </a:pPr>
            <a:endParaRPr lang="en-US" dirty="0"/>
          </a:p>
        </p:txBody>
      </p:sp>
      <p:pic>
        <p:nvPicPr>
          <p:cNvPr id="5" name="Picture 4">
            <a:extLst>
              <a:ext uri="{FF2B5EF4-FFF2-40B4-BE49-F238E27FC236}">
                <a16:creationId xmlns:a16="http://schemas.microsoft.com/office/drawing/2014/main" id="{1AE270D3-7FB2-7D51-FBA7-D561D7F1DC01}"/>
              </a:ext>
            </a:extLst>
          </p:cNvPr>
          <p:cNvPicPr>
            <a:picLocks noChangeAspect="1"/>
          </p:cNvPicPr>
          <p:nvPr/>
        </p:nvPicPr>
        <p:blipFill>
          <a:blip r:embed="rId2"/>
          <a:stretch>
            <a:fillRect/>
          </a:stretch>
        </p:blipFill>
        <p:spPr>
          <a:xfrm>
            <a:off x="781308" y="5010770"/>
            <a:ext cx="10865862" cy="967119"/>
          </a:xfrm>
          <a:prstGeom prst="rect">
            <a:avLst/>
          </a:prstGeom>
        </p:spPr>
      </p:pic>
    </p:spTree>
    <p:extLst>
      <p:ext uri="{BB962C8B-B14F-4D97-AF65-F5344CB8AC3E}">
        <p14:creationId xmlns:p14="http://schemas.microsoft.com/office/powerpoint/2010/main" val="11614517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FE2660-B4D7-9A6D-ECF6-14582A03470E}"/>
              </a:ext>
            </a:extLst>
          </p:cNvPr>
          <p:cNvSpPr>
            <a:spLocks noGrp="1"/>
          </p:cNvSpPr>
          <p:nvPr>
            <p:ph idx="1"/>
          </p:nvPr>
        </p:nvSpPr>
        <p:spPr>
          <a:xfrm>
            <a:off x="695324" y="400050"/>
            <a:ext cx="11111866" cy="5989320"/>
          </a:xfrm>
        </p:spPr>
        <p:txBody>
          <a:bodyPr/>
          <a:lstStyle/>
          <a:p>
            <a:pPr marL="0" indent="0">
              <a:lnSpc>
                <a:spcPct val="150000"/>
              </a:lnSpc>
              <a:buNone/>
            </a:pPr>
            <a:r>
              <a:rPr lang="en-US" dirty="0"/>
              <a:t>This command will create the </a:t>
            </a:r>
            <a:r>
              <a:rPr lang="en-US" b="1" dirty="0"/>
              <a:t>branch B1 </a:t>
            </a:r>
            <a:r>
              <a:rPr lang="en-US" dirty="0"/>
              <a:t>locally in Git directory. 	</a:t>
            </a:r>
          </a:p>
          <a:p>
            <a:pPr marL="0" indent="0">
              <a:lnSpc>
                <a:spcPct val="150000"/>
              </a:lnSpc>
              <a:buNone/>
            </a:pPr>
            <a:r>
              <a:rPr lang="en-US" b="1" dirty="0"/>
              <a:t>2.List Branch </a:t>
            </a:r>
            <a:endParaRPr lang="en-US" dirty="0"/>
          </a:p>
          <a:p>
            <a:pPr marL="0" indent="0">
              <a:lnSpc>
                <a:spcPct val="150000"/>
              </a:lnSpc>
              <a:buNone/>
            </a:pPr>
            <a:r>
              <a:rPr lang="en-US" dirty="0"/>
              <a:t>You can List all of the available branches in your repository by using the following command. </a:t>
            </a:r>
          </a:p>
          <a:p>
            <a:pPr marL="0" indent="0">
              <a:lnSpc>
                <a:spcPct val="150000"/>
              </a:lnSpc>
              <a:buNone/>
            </a:pPr>
            <a:r>
              <a:rPr lang="en-US" dirty="0"/>
              <a:t>Either we can use </a:t>
            </a:r>
            <a:r>
              <a:rPr lang="en-US" b="1" dirty="0"/>
              <a:t>git branch - list </a:t>
            </a:r>
            <a:r>
              <a:rPr lang="en-US" dirty="0"/>
              <a:t>or </a:t>
            </a:r>
            <a:r>
              <a:rPr lang="en-US" b="1" dirty="0"/>
              <a:t>git branch </a:t>
            </a:r>
            <a:r>
              <a:rPr lang="en-US" dirty="0"/>
              <a:t>command to list the available branches in the repository. 	</a:t>
            </a:r>
          </a:p>
          <a:p>
            <a:pPr marL="0" indent="0">
              <a:buNone/>
            </a:pPr>
            <a:endParaRPr lang="en-US" b="1" dirty="0"/>
          </a:p>
        </p:txBody>
      </p:sp>
    </p:spTree>
    <p:extLst>
      <p:ext uri="{BB962C8B-B14F-4D97-AF65-F5344CB8AC3E}">
        <p14:creationId xmlns:p14="http://schemas.microsoft.com/office/powerpoint/2010/main" val="9932632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627A6B-957E-F8AB-EC0F-2EA625DEE3AC}"/>
              </a:ext>
            </a:extLst>
          </p:cNvPr>
          <p:cNvSpPr>
            <a:spLocks noGrp="1"/>
          </p:cNvSpPr>
          <p:nvPr>
            <p:ph idx="1"/>
          </p:nvPr>
        </p:nvSpPr>
        <p:spPr>
          <a:xfrm>
            <a:off x="674370" y="571500"/>
            <a:ext cx="10679430" cy="5605463"/>
          </a:xfrm>
        </p:spPr>
        <p:txBody>
          <a:bodyPr/>
          <a:lstStyle/>
          <a:p>
            <a:pPr marL="0" indent="0">
              <a:buNone/>
            </a:pPr>
            <a:r>
              <a:rPr lang="en-US" b="1" dirty="0"/>
              <a:t>Syntax: </a:t>
            </a:r>
            <a:endParaRPr lang="en-US" dirty="0"/>
          </a:p>
          <a:p>
            <a:pPr marL="0" indent="0">
              <a:buNone/>
            </a:pPr>
            <a:r>
              <a:rPr lang="en-US" b="1" dirty="0"/>
              <a:t>1. $ git branch --list or $ git branch </a:t>
            </a:r>
            <a:endParaRPr lang="en-US" dirty="0"/>
          </a:p>
          <a:p>
            <a:pPr marL="0" indent="0">
              <a:buNone/>
            </a:pPr>
            <a:r>
              <a:rPr lang="en-US" b="1" dirty="0"/>
              <a:t>Output: </a:t>
            </a:r>
            <a:r>
              <a:rPr lang="en-US" dirty="0"/>
              <a:t>	</a:t>
            </a:r>
          </a:p>
          <a:p>
            <a:pPr marL="0" indent="0">
              <a:buNone/>
            </a:pPr>
            <a:endParaRPr lang="en-US" dirty="0"/>
          </a:p>
        </p:txBody>
      </p:sp>
      <p:pic>
        <p:nvPicPr>
          <p:cNvPr id="5" name="Picture 4">
            <a:extLst>
              <a:ext uri="{FF2B5EF4-FFF2-40B4-BE49-F238E27FC236}">
                <a16:creationId xmlns:a16="http://schemas.microsoft.com/office/drawing/2014/main" id="{58540D2E-F064-D3AC-4F13-F321DE8C5290}"/>
              </a:ext>
            </a:extLst>
          </p:cNvPr>
          <p:cNvPicPr>
            <a:picLocks noChangeAspect="1"/>
          </p:cNvPicPr>
          <p:nvPr/>
        </p:nvPicPr>
        <p:blipFill>
          <a:blip r:embed="rId2"/>
          <a:stretch>
            <a:fillRect/>
          </a:stretch>
        </p:blipFill>
        <p:spPr>
          <a:xfrm>
            <a:off x="1045014" y="2423160"/>
            <a:ext cx="10393078" cy="2788919"/>
          </a:xfrm>
          <a:prstGeom prst="rect">
            <a:avLst/>
          </a:prstGeom>
        </p:spPr>
      </p:pic>
    </p:spTree>
    <p:extLst>
      <p:ext uri="{BB962C8B-B14F-4D97-AF65-F5344CB8AC3E}">
        <p14:creationId xmlns:p14="http://schemas.microsoft.com/office/powerpoint/2010/main" val="40605544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3EF9E0-0C30-B898-ED04-29FE21B313EC}"/>
              </a:ext>
            </a:extLst>
          </p:cNvPr>
          <p:cNvSpPr>
            <a:spLocks noGrp="1"/>
          </p:cNvSpPr>
          <p:nvPr>
            <p:ph idx="1"/>
          </p:nvPr>
        </p:nvSpPr>
        <p:spPr>
          <a:xfrm>
            <a:off x="491490" y="548640"/>
            <a:ext cx="10862310" cy="5628323"/>
          </a:xfrm>
        </p:spPr>
        <p:txBody>
          <a:bodyPr/>
          <a:lstStyle/>
          <a:p>
            <a:pPr marL="0" indent="0">
              <a:lnSpc>
                <a:spcPct val="150000"/>
              </a:lnSpc>
              <a:buNone/>
            </a:pPr>
            <a:r>
              <a:rPr lang="en-US" b="1" dirty="0"/>
              <a:t>3.Delete Branch : </a:t>
            </a:r>
            <a:r>
              <a:rPr lang="en-US" dirty="0"/>
              <a:t>You can delete the specified branch. </a:t>
            </a:r>
          </a:p>
          <a:p>
            <a:pPr marL="0" indent="0">
              <a:lnSpc>
                <a:spcPct val="150000"/>
              </a:lnSpc>
              <a:buNone/>
            </a:pPr>
            <a:r>
              <a:rPr lang="en-US" b="1" dirty="0"/>
              <a:t>Syntax:  </a:t>
            </a:r>
            <a:r>
              <a:rPr lang="de-DE" dirty="0"/>
              <a:t>$ git branch -d</a:t>
            </a:r>
            <a:r>
              <a:rPr lang="de-DE" b="1" dirty="0"/>
              <a:t>&lt;branch </a:t>
            </a:r>
            <a:r>
              <a:rPr lang="de-DE" dirty="0"/>
              <a:t>name</a:t>
            </a:r>
            <a:r>
              <a:rPr lang="de-DE" b="1" dirty="0"/>
              <a:t>&gt; </a:t>
            </a:r>
            <a:endParaRPr lang="de-DE" dirty="0"/>
          </a:p>
          <a:p>
            <a:pPr marL="0" indent="0">
              <a:lnSpc>
                <a:spcPct val="150000"/>
              </a:lnSpc>
              <a:buNone/>
            </a:pPr>
            <a:r>
              <a:rPr lang="en-US" b="1" dirty="0"/>
              <a:t>Output: </a:t>
            </a:r>
            <a:r>
              <a:rPr lang="en-US" dirty="0"/>
              <a:t>	</a:t>
            </a:r>
          </a:p>
          <a:p>
            <a:pPr marL="0" indent="0">
              <a:lnSpc>
                <a:spcPct val="150000"/>
              </a:lnSpc>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97191D14-A8AC-BBC9-9A06-7F9B172D08D2}"/>
              </a:ext>
            </a:extLst>
          </p:cNvPr>
          <p:cNvPicPr>
            <a:picLocks noChangeAspect="1"/>
          </p:cNvPicPr>
          <p:nvPr/>
        </p:nvPicPr>
        <p:blipFill>
          <a:blip r:embed="rId2"/>
          <a:stretch>
            <a:fillRect/>
          </a:stretch>
        </p:blipFill>
        <p:spPr>
          <a:xfrm>
            <a:off x="742950" y="2980036"/>
            <a:ext cx="10447890" cy="1249064"/>
          </a:xfrm>
          <a:prstGeom prst="rect">
            <a:avLst/>
          </a:prstGeom>
        </p:spPr>
      </p:pic>
    </p:spTree>
    <p:extLst>
      <p:ext uri="{BB962C8B-B14F-4D97-AF65-F5344CB8AC3E}">
        <p14:creationId xmlns:p14="http://schemas.microsoft.com/office/powerpoint/2010/main" val="277436624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B8104-8312-0597-6511-E63DF3FC5F44}"/>
              </a:ext>
            </a:extLst>
          </p:cNvPr>
          <p:cNvSpPr>
            <a:spLocks noGrp="1"/>
          </p:cNvSpPr>
          <p:nvPr>
            <p:ph idx="1"/>
          </p:nvPr>
        </p:nvSpPr>
        <p:spPr>
          <a:xfrm>
            <a:off x="765810" y="605790"/>
            <a:ext cx="10812780" cy="5966460"/>
          </a:xfrm>
        </p:spPr>
        <p:txBody>
          <a:bodyPr/>
          <a:lstStyle/>
          <a:p>
            <a:pPr marL="0" indent="0">
              <a:lnSpc>
                <a:spcPct val="150000"/>
              </a:lnSpc>
              <a:buNone/>
            </a:pPr>
            <a:r>
              <a:rPr lang="en-US" b="1" dirty="0"/>
              <a:t>Delete a Remote Branch </a:t>
            </a:r>
            <a:endParaRPr lang="en-US" dirty="0"/>
          </a:p>
          <a:p>
            <a:pPr marL="0" indent="0">
              <a:lnSpc>
                <a:spcPct val="150000"/>
              </a:lnSpc>
              <a:buNone/>
            </a:pPr>
            <a:r>
              <a:rPr lang="en-US" dirty="0"/>
              <a:t>You can delete a remote branch from Git desktop application. Below command is used to delete a remote branch: </a:t>
            </a:r>
          </a:p>
          <a:p>
            <a:pPr marL="0" indent="0">
              <a:lnSpc>
                <a:spcPct val="150000"/>
              </a:lnSpc>
              <a:buNone/>
            </a:pPr>
            <a:r>
              <a:rPr lang="en-US" b="1" dirty="0"/>
              <a:t>Syntax: </a:t>
            </a:r>
            <a:r>
              <a:rPr lang="en-US" dirty="0"/>
              <a:t> </a:t>
            </a:r>
            <a:r>
              <a:rPr lang="en-US" b="1" dirty="0"/>
              <a:t>$ git push origin -delete &lt;branch name&gt; </a:t>
            </a:r>
            <a:endParaRPr lang="en-US" dirty="0"/>
          </a:p>
          <a:p>
            <a:pPr marL="0" indent="0">
              <a:lnSpc>
                <a:spcPct val="150000"/>
              </a:lnSpc>
              <a:buNone/>
            </a:pPr>
            <a:r>
              <a:rPr lang="en-US" b="1" dirty="0"/>
              <a:t>Output: </a:t>
            </a:r>
            <a:r>
              <a:rPr lang="en-US" dirty="0"/>
              <a:t>	</a:t>
            </a:r>
          </a:p>
          <a:p>
            <a:pPr marL="0" indent="0">
              <a:lnSpc>
                <a:spcPct val="150000"/>
              </a:lnSpc>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7D77081B-5AC6-B203-3C35-E8FA8EDF0E99}"/>
              </a:ext>
            </a:extLst>
          </p:cNvPr>
          <p:cNvPicPr>
            <a:picLocks noChangeAspect="1"/>
          </p:cNvPicPr>
          <p:nvPr/>
        </p:nvPicPr>
        <p:blipFill>
          <a:blip r:embed="rId2"/>
          <a:stretch>
            <a:fillRect/>
          </a:stretch>
        </p:blipFill>
        <p:spPr>
          <a:xfrm>
            <a:off x="2667478" y="3930614"/>
            <a:ext cx="8743160" cy="2001556"/>
          </a:xfrm>
          <a:prstGeom prst="rect">
            <a:avLst/>
          </a:prstGeom>
        </p:spPr>
      </p:pic>
    </p:spTree>
    <p:extLst>
      <p:ext uri="{BB962C8B-B14F-4D97-AF65-F5344CB8AC3E}">
        <p14:creationId xmlns:p14="http://schemas.microsoft.com/office/powerpoint/2010/main" val="32972948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AAEC2C-183E-CB56-A92C-DA1E1BC32CEE}"/>
              </a:ext>
            </a:extLst>
          </p:cNvPr>
          <p:cNvSpPr>
            <a:spLocks noGrp="1"/>
          </p:cNvSpPr>
          <p:nvPr>
            <p:ph idx="1"/>
          </p:nvPr>
        </p:nvSpPr>
        <p:spPr>
          <a:xfrm>
            <a:off x="495300" y="262890"/>
            <a:ext cx="11540490" cy="5977890"/>
          </a:xfrm>
        </p:spPr>
        <p:txBody>
          <a:bodyPr>
            <a:normAutofit fontScale="92500" lnSpcReduction="20000"/>
          </a:bodyPr>
          <a:lstStyle/>
          <a:p>
            <a:pPr marL="0" indent="0">
              <a:lnSpc>
                <a:spcPct val="160000"/>
              </a:lnSpc>
              <a:buNone/>
            </a:pPr>
            <a:r>
              <a:rPr lang="en-US" b="1" dirty="0"/>
              <a:t>4.Switch Branch </a:t>
            </a:r>
            <a:endParaRPr lang="en-US" dirty="0"/>
          </a:p>
          <a:p>
            <a:pPr marL="0" indent="0">
              <a:lnSpc>
                <a:spcPct val="160000"/>
              </a:lnSpc>
              <a:buNone/>
            </a:pPr>
            <a:r>
              <a:rPr lang="en-US" dirty="0"/>
              <a:t>Git allows you to switch between the branches without making a commit. You can switch between two branches with the </a:t>
            </a:r>
            <a:r>
              <a:rPr lang="en-US" b="1" dirty="0"/>
              <a:t>git checkout </a:t>
            </a:r>
            <a:r>
              <a:rPr lang="en-US" dirty="0"/>
              <a:t>command. To switch between the branches, below command is used: 	</a:t>
            </a:r>
          </a:p>
          <a:p>
            <a:pPr marL="0" indent="0">
              <a:lnSpc>
                <a:spcPct val="160000"/>
              </a:lnSpc>
              <a:buNone/>
            </a:pPr>
            <a:r>
              <a:rPr lang="en-US" dirty="0"/>
              <a:t>$ </a:t>
            </a:r>
            <a:r>
              <a:rPr lang="en-US" b="1" dirty="0"/>
              <a:t>git checkout&lt;branch name&gt; </a:t>
            </a:r>
          </a:p>
          <a:p>
            <a:pPr marL="0" indent="0">
              <a:lnSpc>
                <a:spcPct val="160000"/>
              </a:lnSpc>
              <a:buNone/>
            </a:pPr>
            <a:r>
              <a:rPr lang="en-US" b="1" dirty="0"/>
              <a:t>Switch from master Branch </a:t>
            </a:r>
            <a:endParaRPr lang="en-US" dirty="0"/>
          </a:p>
          <a:p>
            <a:pPr marL="0" indent="0">
              <a:lnSpc>
                <a:spcPct val="160000"/>
              </a:lnSpc>
              <a:buNone/>
            </a:pPr>
            <a:r>
              <a:rPr lang="en-US" dirty="0"/>
              <a:t>You can switch from master to any other branch available on your repository without making any commit. 	</a:t>
            </a:r>
          </a:p>
          <a:p>
            <a:pPr marL="0" indent="0">
              <a:buNone/>
            </a:pPr>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298613730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A72749-055A-1098-C290-D4F273B9EB08}"/>
              </a:ext>
            </a:extLst>
          </p:cNvPr>
          <p:cNvSpPr>
            <a:spLocks noGrp="1"/>
          </p:cNvSpPr>
          <p:nvPr>
            <p:ph idx="1"/>
          </p:nvPr>
        </p:nvSpPr>
        <p:spPr>
          <a:xfrm>
            <a:off x="708660" y="537210"/>
            <a:ext cx="11018520" cy="6023610"/>
          </a:xfrm>
        </p:spPr>
        <p:txBody>
          <a:bodyPr>
            <a:normAutofit/>
          </a:bodyPr>
          <a:lstStyle/>
          <a:p>
            <a:pPr marL="0" indent="0">
              <a:buNone/>
            </a:pPr>
            <a:r>
              <a:rPr lang="en-US" b="1" dirty="0"/>
              <a:t>Syntax: </a:t>
            </a:r>
            <a:r>
              <a:rPr lang="en-US" dirty="0"/>
              <a:t> </a:t>
            </a:r>
            <a:r>
              <a:rPr lang="en-US" b="1" dirty="0"/>
              <a:t>$ git checkout &lt;branch name&gt; </a:t>
            </a:r>
            <a:endParaRPr lang="en-US" dirty="0"/>
          </a:p>
          <a:p>
            <a:pPr marL="0" indent="0">
              <a:buNone/>
            </a:pPr>
            <a:r>
              <a:rPr lang="en-US" b="1" dirty="0"/>
              <a:t>Output: </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lnSpc>
                <a:spcPct val="150000"/>
              </a:lnSpc>
              <a:buNone/>
            </a:pPr>
            <a:r>
              <a:rPr lang="en-US" b="1" dirty="0"/>
              <a:t>Switch to master branch </a:t>
            </a:r>
            <a:endParaRPr lang="en-US" dirty="0"/>
          </a:p>
          <a:p>
            <a:pPr marL="0" indent="0">
              <a:lnSpc>
                <a:spcPct val="150000"/>
              </a:lnSpc>
              <a:buNone/>
            </a:pPr>
            <a:r>
              <a:rPr lang="en-US" dirty="0"/>
              <a:t>You can switch to the master branch from any other branch with the help of below command. 	</a:t>
            </a:r>
          </a:p>
          <a:p>
            <a:pPr marL="0" indent="0">
              <a:lnSpc>
                <a:spcPct val="150000"/>
              </a:lnSpc>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E652F479-4391-A7CC-67D9-99ABBBEA4CD8}"/>
              </a:ext>
            </a:extLst>
          </p:cNvPr>
          <p:cNvPicPr>
            <a:picLocks noChangeAspect="1"/>
          </p:cNvPicPr>
          <p:nvPr/>
        </p:nvPicPr>
        <p:blipFill>
          <a:blip r:embed="rId2"/>
          <a:stretch>
            <a:fillRect/>
          </a:stretch>
        </p:blipFill>
        <p:spPr>
          <a:xfrm>
            <a:off x="838200" y="1680209"/>
            <a:ext cx="10645140" cy="1910051"/>
          </a:xfrm>
          <a:prstGeom prst="rect">
            <a:avLst/>
          </a:prstGeom>
        </p:spPr>
      </p:pic>
    </p:spTree>
    <p:extLst>
      <p:ext uri="{BB962C8B-B14F-4D97-AF65-F5344CB8AC3E}">
        <p14:creationId xmlns:p14="http://schemas.microsoft.com/office/powerpoint/2010/main" val="64054382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4841DEE-9FAB-C2A0-D170-D04D4AA5C674}"/>
              </a:ext>
            </a:extLst>
          </p:cNvPr>
          <p:cNvSpPr>
            <a:spLocks noGrp="1"/>
          </p:cNvSpPr>
          <p:nvPr>
            <p:ph idx="1"/>
          </p:nvPr>
        </p:nvSpPr>
        <p:spPr>
          <a:xfrm>
            <a:off x="628650" y="480060"/>
            <a:ext cx="10995660" cy="6023610"/>
          </a:xfrm>
        </p:spPr>
        <p:txBody>
          <a:bodyPr>
            <a:normAutofit/>
          </a:bodyPr>
          <a:lstStyle/>
          <a:p>
            <a:pPr marL="0" indent="0">
              <a:buNone/>
            </a:pPr>
            <a:r>
              <a:rPr lang="en-US" b="1" dirty="0"/>
              <a:t>Syntax:  $ git branch -m master </a:t>
            </a:r>
          </a:p>
          <a:p>
            <a:pPr marL="0" indent="0">
              <a:buNone/>
            </a:pPr>
            <a:r>
              <a:rPr lang="en-US" b="1" dirty="0"/>
              <a:t>Output: </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lnSpc>
                <a:spcPct val="150000"/>
              </a:lnSpc>
              <a:buNone/>
            </a:pPr>
            <a:r>
              <a:rPr lang="en-US" dirty="0"/>
              <a:t>As you can see in the above output, branches are switched from </a:t>
            </a:r>
            <a:r>
              <a:rPr lang="en-US" b="1" dirty="0"/>
              <a:t>branch1 to master </a:t>
            </a:r>
            <a:r>
              <a:rPr lang="en-US" dirty="0"/>
              <a:t>without making any commit. 	</a:t>
            </a:r>
          </a:p>
          <a:p>
            <a:pPr marL="0" indent="0">
              <a:buNone/>
            </a:pPr>
            <a:endParaRPr lang="en-US" b="1" dirty="0"/>
          </a:p>
          <a:p>
            <a:pPr marL="0" indent="0">
              <a:buNone/>
            </a:pPr>
            <a:r>
              <a:rPr lang="en-US" dirty="0"/>
              <a:t>	</a:t>
            </a:r>
          </a:p>
          <a:p>
            <a:pPr marL="0" indent="0">
              <a:buNone/>
            </a:pPr>
            <a:endParaRPr lang="en-US" dirty="0"/>
          </a:p>
        </p:txBody>
      </p:sp>
      <p:pic>
        <p:nvPicPr>
          <p:cNvPr id="9" name="Picture 8">
            <a:extLst>
              <a:ext uri="{FF2B5EF4-FFF2-40B4-BE49-F238E27FC236}">
                <a16:creationId xmlns:a16="http://schemas.microsoft.com/office/drawing/2014/main" id="{D153DFB8-00D4-7A61-137E-2523AFEC347C}"/>
              </a:ext>
            </a:extLst>
          </p:cNvPr>
          <p:cNvPicPr>
            <a:picLocks noChangeAspect="1"/>
          </p:cNvPicPr>
          <p:nvPr/>
        </p:nvPicPr>
        <p:blipFill>
          <a:blip r:embed="rId2"/>
          <a:stretch>
            <a:fillRect/>
          </a:stretch>
        </p:blipFill>
        <p:spPr>
          <a:xfrm>
            <a:off x="838200" y="1568412"/>
            <a:ext cx="9271097" cy="2294927"/>
          </a:xfrm>
          <a:prstGeom prst="rect">
            <a:avLst/>
          </a:prstGeom>
        </p:spPr>
      </p:pic>
    </p:spTree>
    <p:extLst>
      <p:ext uri="{BB962C8B-B14F-4D97-AF65-F5344CB8AC3E}">
        <p14:creationId xmlns:p14="http://schemas.microsoft.com/office/powerpoint/2010/main" val="287255140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4A1442-1AA3-35A0-88C3-C5C17F668B99}"/>
              </a:ext>
            </a:extLst>
          </p:cNvPr>
          <p:cNvSpPr>
            <a:spLocks noGrp="1"/>
          </p:cNvSpPr>
          <p:nvPr>
            <p:ph idx="1"/>
          </p:nvPr>
        </p:nvSpPr>
        <p:spPr>
          <a:xfrm>
            <a:off x="720090" y="594360"/>
            <a:ext cx="10995660" cy="5909310"/>
          </a:xfrm>
        </p:spPr>
        <p:txBody>
          <a:bodyPr/>
          <a:lstStyle/>
          <a:p>
            <a:pPr marL="0" indent="0">
              <a:lnSpc>
                <a:spcPct val="150000"/>
              </a:lnSpc>
              <a:buNone/>
            </a:pPr>
            <a:r>
              <a:rPr lang="en-US" b="1" dirty="0"/>
              <a:t>5.Rename Branch </a:t>
            </a:r>
            <a:endParaRPr lang="en-US" dirty="0"/>
          </a:p>
          <a:p>
            <a:pPr marL="0" indent="0">
              <a:lnSpc>
                <a:spcPct val="150000"/>
              </a:lnSpc>
              <a:buNone/>
            </a:pPr>
            <a:r>
              <a:rPr lang="en-US" dirty="0"/>
              <a:t>We can rename the branch with the help of the </a:t>
            </a:r>
            <a:r>
              <a:rPr lang="en-US" b="1" dirty="0"/>
              <a:t>git branch </a:t>
            </a:r>
            <a:r>
              <a:rPr lang="en-US" dirty="0"/>
              <a:t>command. To rename a branch, use the below command: </a:t>
            </a:r>
          </a:p>
          <a:p>
            <a:pPr marL="0" indent="0">
              <a:lnSpc>
                <a:spcPct val="150000"/>
              </a:lnSpc>
              <a:buNone/>
            </a:pPr>
            <a:r>
              <a:rPr lang="en-US" b="1" dirty="0"/>
              <a:t>Syntax: </a:t>
            </a:r>
            <a:r>
              <a:rPr lang="en-US" dirty="0"/>
              <a:t>$ git branch -m </a:t>
            </a:r>
            <a:r>
              <a:rPr lang="en-US" b="1" dirty="0"/>
              <a:t>&lt;old </a:t>
            </a:r>
            <a:r>
              <a:rPr lang="en-US" dirty="0"/>
              <a:t>branch name</a:t>
            </a:r>
            <a:r>
              <a:rPr lang="en-US" b="1" dirty="0"/>
              <a:t>&gt;&lt;new </a:t>
            </a:r>
            <a:r>
              <a:rPr lang="en-US" dirty="0"/>
              <a:t>branch name</a:t>
            </a:r>
            <a:r>
              <a:rPr lang="en-US" b="1" dirty="0"/>
              <a:t>&gt; </a:t>
            </a:r>
            <a:endParaRPr lang="en-US" dirty="0"/>
          </a:p>
          <a:p>
            <a:pPr marL="0" indent="0">
              <a:lnSpc>
                <a:spcPct val="150000"/>
              </a:lnSpc>
              <a:buNone/>
            </a:pPr>
            <a:r>
              <a:rPr lang="en-US" b="1" dirty="0"/>
              <a:t>Output: </a:t>
            </a:r>
            <a:r>
              <a:rPr lang="en-US" dirty="0"/>
              <a:t>	</a:t>
            </a:r>
          </a:p>
          <a:p>
            <a:pPr marL="0" indent="0">
              <a:buNone/>
            </a:pPr>
            <a:endParaRPr lang="en-US" dirty="0"/>
          </a:p>
        </p:txBody>
      </p:sp>
      <p:pic>
        <p:nvPicPr>
          <p:cNvPr id="5" name="Picture 4">
            <a:extLst>
              <a:ext uri="{FF2B5EF4-FFF2-40B4-BE49-F238E27FC236}">
                <a16:creationId xmlns:a16="http://schemas.microsoft.com/office/drawing/2014/main" id="{F3BCD7AD-CAF8-8B7B-0FF0-FE8A9AA3E20A}"/>
              </a:ext>
            </a:extLst>
          </p:cNvPr>
          <p:cNvPicPr>
            <a:picLocks noChangeAspect="1"/>
          </p:cNvPicPr>
          <p:nvPr/>
        </p:nvPicPr>
        <p:blipFill>
          <a:blip r:embed="rId2"/>
          <a:stretch>
            <a:fillRect/>
          </a:stretch>
        </p:blipFill>
        <p:spPr>
          <a:xfrm>
            <a:off x="2596993" y="3875362"/>
            <a:ext cx="9172082" cy="2479718"/>
          </a:xfrm>
          <a:prstGeom prst="rect">
            <a:avLst/>
          </a:prstGeom>
        </p:spPr>
      </p:pic>
    </p:spTree>
    <p:extLst>
      <p:ext uri="{BB962C8B-B14F-4D97-AF65-F5344CB8AC3E}">
        <p14:creationId xmlns:p14="http://schemas.microsoft.com/office/powerpoint/2010/main" val="8701254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20E05-B756-A1DE-494E-0462C20B0A58}"/>
              </a:ext>
            </a:extLst>
          </p:cNvPr>
          <p:cNvSpPr>
            <a:spLocks noGrp="1"/>
          </p:cNvSpPr>
          <p:nvPr>
            <p:ph idx="1"/>
          </p:nvPr>
        </p:nvSpPr>
        <p:spPr>
          <a:xfrm>
            <a:off x="731520" y="571500"/>
            <a:ext cx="11018520" cy="6046470"/>
          </a:xfrm>
        </p:spPr>
        <p:txBody>
          <a:bodyPr>
            <a:normAutofit/>
          </a:bodyPr>
          <a:lstStyle/>
          <a:p>
            <a:pPr marL="0" indent="0">
              <a:lnSpc>
                <a:spcPct val="150000"/>
              </a:lnSpc>
              <a:buNone/>
            </a:pPr>
            <a:r>
              <a:rPr lang="en-US" dirty="0"/>
              <a:t>As you can see in the above output, </a:t>
            </a:r>
            <a:r>
              <a:rPr lang="en-US" b="1" dirty="0"/>
              <a:t>branch4 </a:t>
            </a:r>
            <a:r>
              <a:rPr lang="en-US" dirty="0"/>
              <a:t>renamed as </a:t>
            </a:r>
            <a:r>
              <a:rPr lang="en-US" b="1" dirty="0"/>
              <a:t>renamedB1</a:t>
            </a:r>
            <a:r>
              <a:rPr lang="en-US" dirty="0"/>
              <a:t>.</a:t>
            </a:r>
          </a:p>
          <a:p>
            <a:pPr marL="0" indent="0">
              <a:lnSpc>
                <a:spcPct val="150000"/>
              </a:lnSpc>
              <a:buNone/>
            </a:pPr>
            <a:r>
              <a:rPr lang="en-US" b="1" dirty="0"/>
              <a:t>6.Merge Branches </a:t>
            </a:r>
            <a:endParaRPr lang="en-US" dirty="0"/>
          </a:p>
          <a:p>
            <a:pPr marL="0" indent="0">
              <a:lnSpc>
                <a:spcPct val="150000"/>
              </a:lnSpc>
              <a:buNone/>
            </a:pPr>
            <a:r>
              <a:rPr lang="en-US" dirty="0"/>
              <a:t>Git allows you to merge the other branch with the currently active branch. You can merge two branches with the help of </a:t>
            </a:r>
            <a:r>
              <a:rPr lang="en-US" b="1" dirty="0"/>
              <a:t>git merge </a:t>
            </a:r>
            <a:r>
              <a:rPr lang="en-US" dirty="0"/>
              <a:t>command. Below command is used to merge the branches: </a:t>
            </a:r>
          </a:p>
          <a:p>
            <a:pPr marL="0" indent="0">
              <a:lnSpc>
                <a:spcPct val="150000"/>
              </a:lnSpc>
              <a:buNone/>
            </a:pPr>
            <a:r>
              <a:rPr lang="en-US" b="1" dirty="0"/>
              <a:t>Syntax:  </a:t>
            </a:r>
            <a:r>
              <a:rPr lang="en-US" dirty="0"/>
              <a:t>$ git merge </a:t>
            </a:r>
            <a:r>
              <a:rPr lang="en-US" b="1" dirty="0"/>
              <a:t>&lt;branch </a:t>
            </a:r>
            <a:r>
              <a:rPr lang="en-US" dirty="0"/>
              <a:t>name</a:t>
            </a:r>
            <a:r>
              <a:rPr lang="en-US" b="1" dirty="0"/>
              <a:t>&gt; </a:t>
            </a:r>
            <a:endParaRPr lang="en-US" dirty="0"/>
          </a:p>
          <a:p>
            <a:pPr marL="0" indent="0">
              <a:lnSpc>
                <a:spcPct val="150000"/>
              </a:lnSpc>
              <a:buNone/>
            </a:pPr>
            <a:r>
              <a:rPr lang="en-US" b="1" dirty="0"/>
              <a:t>Output: </a:t>
            </a:r>
            <a:r>
              <a:rPr lang="en-US" dirty="0"/>
              <a:t>	</a:t>
            </a:r>
          </a:p>
          <a:p>
            <a:pPr marL="0" indent="0">
              <a:lnSpc>
                <a:spcPct val="150000"/>
              </a:lnSpc>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502F581E-1D83-F0FE-1F5B-7671D81C2786}"/>
              </a:ext>
            </a:extLst>
          </p:cNvPr>
          <p:cNvPicPr>
            <a:picLocks noChangeAspect="1"/>
          </p:cNvPicPr>
          <p:nvPr/>
        </p:nvPicPr>
        <p:blipFill>
          <a:blip r:embed="rId2"/>
          <a:stretch>
            <a:fillRect/>
          </a:stretch>
        </p:blipFill>
        <p:spPr>
          <a:xfrm>
            <a:off x="2290287" y="4865341"/>
            <a:ext cx="9174726" cy="1661189"/>
          </a:xfrm>
          <a:prstGeom prst="rect">
            <a:avLst/>
          </a:prstGeom>
        </p:spPr>
      </p:pic>
    </p:spTree>
    <p:extLst>
      <p:ext uri="{BB962C8B-B14F-4D97-AF65-F5344CB8AC3E}">
        <p14:creationId xmlns:p14="http://schemas.microsoft.com/office/powerpoint/2010/main" val="131249016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0636B2-FEFD-5B82-2C0F-C5D5866137E3}"/>
              </a:ext>
            </a:extLst>
          </p:cNvPr>
          <p:cNvSpPr>
            <a:spLocks noGrp="1"/>
          </p:cNvSpPr>
          <p:nvPr>
            <p:ph idx="1"/>
          </p:nvPr>
        </p:nvSpPr>
        <p:spPr>
          <a:xfrm>
            <a:off x="731520" y="765810"/>
            <a:ext cx="10949940" cy="5760720"/>
          </a:xfrm>
        </p:spPr>
        <p:txBody>
          <a:bodyPr/>
          <a:lstStyle/>
          <a:p>
            <a:pPr marL="0" indent="0">
              <a:lnSpc>
                <a:spcPct val="150000"/>
              </a:lnSpc>
              <a:buNone/>
            </a:pPr>
            <a:r>
              <a:rPr lang="en-US" dirty="0"/>
              <a:t>From the above output, you can see that </a:t>
            </a:r>
            <a:r>
              <a:rPr lang="en-US" b="1" dirty="0"/>
              <a:t>the master </a:t>
            </a:r>
            <a:r>
              <a:rPr lang="en-US" dirty="0"/>
              <a:t>branch </a:t>
            </a:r>
            <a:r>
              <a:rPr lang="en-US" b="1" dirty="0"/>
              <a:t>merged </a:t>
            </a:r>
            <a:r>
              <a:rPr lang="en-US" dirty="0"/>
              <a:t>with </a:t>
            </a:r>
            <a:r>
              <a:rPr lang="en-US" b="1" dirty="0"/>
              <a:t>renamedB1</a:t>
            </a:r>
            <a:r>
              <a:rPr lang="en-US" dirty="0"/>
              <a:t>. Since I have made no-commit before merging, the output is showing as already up to date. 	</a:t>
            </a:r>
          </a:p>
          <a:p>
            <a:pPr marL="0" indent="0">
              <a:buNone/>
            </a:pPr>
            <a:endParaRPr lang="en-US" dirty="0"/>
          </a:p>
        </p:txBody>
      </p:sp>
    </p:spTree>
    <p:extLst>
      <p:ext uri="{BB962C8B-B14F-4D97-AF65-F5344CB8AC3E}">
        <p14:creationId xmlns:p14="http://schemas.microsoft.com/office/powerpoint/2010/main" val="36034529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04D058-F81A-CFEB-2998-AB3DA3A270EC}"/>
              </a:ext>
            </a:extLst>
          </p:cNvPr>
          <p:cNvSpPr>
            <a:spLocks noGrp="1"/>
          </p:cNvSpPr>
          <p:nvPr>
            <p:ph idx="1"/>
          </p:nvPr>
        </p:nvSpPr>
        <p:spPr>
          <a:xfrm>
            <a:off x="788670" y="697230"/>
            <a:ext cx="10767060" cy="5932170"/>
          </a:xfrm>
        </p:spPr>
        <p:txBody>
          <a:bodyPr>
            <a:normAutofit/>
          </a:bodyPr>
          <a:lstStyle/>
          <a:p>
            <a:pPr marL="0" indent="0">
              <a:lnSpc>
                <a:spcPct val="150000"/>
              </a:lnSpc>
              <a:buNone/>
            </a:pPr>
            <a:r>
              <a:rPr lang="en-US" b="1" dirty="0"/>
              <a:t>Learning Outcome 3: Ship Codes</a:t>
            </a:r>
            <a:endParaRPr lang="en-US" dirty="0"/>
          </a:p>
          <a:p>
            <a:pPr marL="0" indent="0">
              <a:lnSpc>
                <a:spcPct val="150000"/>
              </a:lnSpc>
              <a:buNone/>
            </a:pPr>
            <a:r>
              <a:rPr lang="en-US" b="1" dirty="0"/>
              <a:t>3.1 Fetch file from GitHub repository </a:t>
            </a:r>
            <a:r>
              <a:rPr lang="en-US" dirty="0"/>
              <a:t>	</a:t>
            </a:r>
          </a:p>
          <a:p>
            <a:pPr marL="0" indent="0">
              <a:lnSpc>
                <a:spcPct val="150000"/>
              </a:lnSpc>
              <a:buNone/>
            </a:pPr>
            <a:r>
              <a:rPr lang="en-US" b="1" dirty="0"/>
              <a:t>3.1.1: Introduction of Fetching file from GitHub </a:t>
            </a:r>
            <a:endParaRPr lang="en-US" dirty="0"/>
          </a:p>
          <a:p>
            <a:pPr marL="0" indent="0">
              <a:lnSpc>
                <a:spcPct val="150000"/>
              </a:lnSpc>
              <a:buNone/>
            </a:pPr>
            <a:r>
              <a:rPr lang="en-US" b="1" dirty="0"/>
              <a:t>Description </a:t>
            </a:r>
            <a:r>
              <a:rPr lang="en-US" dirty="0"/>
              <a:t>of Fetching file from GitHub </a:t>
            </a:r>
          </a:p>
          <a:p>
            <a:pPr marL="0" indent="0">
              <a:lnSpc>
                <a:spcPct val="150000"/>
              </a:lnSpc>
              <a:buNone/>
            </a:pPr>
            <a:r>
              <a:rPr lang="en-US" b="1" dirty="0"/>
              <a:t>1. Git Fetch </a:t>
            </a:r>
            <a:endParaRPr lang="en-US" dirty="0"/>
          </a:p>
          <a:p>
            <a:pPr marL="0" indent="0">
              <a:lnSpc>
                <a:spcPct val="150000"/>
              </a:lnSpc>
              <a:buNone/>
            </a:pPr>
            <a:r>
              <a:rPr lang="en-US" dirty="0"/>
              <a:t>Git "fetch" Downloads commits, objects and refs from another repository. It fetches branches and tags from one or more repositories. 	</a:t>
            </a:r>
          </a:p>
          <a:p>
            <a:pPr marL="0" indent="0">
              <a:buNone/>
            </a:pPr>
            <a:endParaRPr lang="en-US" dirty="0"/>
          </a:p>
        </p:txBody>
      </p:sp>
    </p:spTree>
    <p:extLst>
      <p:ext uri="{BB962C8B-B14F-4D97-AF65-F5344CB8AC3E}">
        <p14:creationId xmlns:p14="http://schemas.microsoft.com/office/powerpoint/2010/main" val="332946250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64155F7-34A3-A13F-B647-A64204DD7EDC}"/>
              </a:ext>
            </a:extLst>
          </p:cNvPr>
          <p:cNvPicPr>
            <a:picLocks noGrp="1" noChangeAspect="1"/>
          </p:cNvPicPr>
          <p:nvPr>
            <p:ph idx="1"/>
          </p:nvPr>
        </p:nvPicPr>
        <p:blipFill>
          <a:blip r:embed="rId2"/>
          <a:stretch>
            <a:fillRect/>
          </a:stretch>
        </p:blipFill>
        <p:spPr>
          <a:xfrm>
            <a:off x="1844850" y="565003"/>
            <a:ext cx="9154053" cy="4772807"/>
          </a:xfrm>
          <a:prstGeom prst="rect">
            <a:avLst/>
          </a:prstGeom>
        </p:spPr>
      </p:pic>
    </p:spTree>
    <p:extLst>
      <p:ext uri="{BB962C8B-B14F-4D97-AF65-F5344CB8AC3E}">
        <p14:creationId xmlns:p14="http://schemas.microsoft.com/office/powerpoint/2010/main" val="210680827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37FA9E-A21C-25C6-0F4C-E7012CFB3491}"/>
              </a:ext>
            </a:extLst>
          </p:cNvPr>
          <p:cNvSpPr>
            <a:spLocks noGrp="1"/>
          </p:cNvSpPr>
          <p:nvPr>
            <p:ph idx="1"/>
          </p:nvPr>
        </p:nvSpPr>
        <p:spPr>
          <a:xfrm>
            <a:off x="617220" y="582930"/>
            <a:ext cx="10904220" cy="5623560"/>
          </a:xfrm>
        </p:spPr>
        <p:txBody>
          <a:bodyPr/>
          <a:lstStyle/>
          <a:p>
            <a:pPr marL="0" indent="0">
              <a:lnSpc>
                <a:spcPct val="150000"/>
              </a:lnSpc>
              <a:buNone/>
            </a:pPr>
            <a:r>
              <a:rPr lang="en-US" dirty="0"/>
              <a:t>To better understand how git fetch works, let us discuss how Git organizes and stores commits. Git stores all commits, local and remote. Git keeps remote and local branch commits distinctly separate through the use of branch refs. 	Remote branches are just like local branches except they map to commits from somebody else’s repository. Remote branches are prefixed by the remote they belong to so that you don’t mix them up with local branches.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18464712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E1ED9F-D173-A724-DA36-96A91969FA5A}"/>
              </a:ext>
            </a:extLst>
          </p:cNvPr>
          <p:cNvSpPr>
            <a:spLocks noGrp="1"/>
          </p:cNvSpPr>
          <p:nvPr>
            <p:ph idx="1"/>
          </p:nvPr>
        </p:nvSpPr>
        <p:spPr>
          <a:xfrm>
            <a:off x="640080" y="720090"/>
            <a:ext cx="11098530" cy="5817870"/>
          </a:xfrm>
        </p:spPr>
        <p:txBody>
          <a:bodyPr>
            <a:normAutofit/>
          </a:bodyPr>
          <a:lstStyle/>
          <a:p>
            <a:pPr marL="0" indent="0">
              <a:lnSpc>
                <a:spcPct val="150000"/>
              </a:lnSpc>
              <a:buNone/>
            </a:pPr>
            <a:r>
              <a:rPr lang="en-US" b="1" dirty="0"/>
              <a:t>Fetch file from GitHub repository </a:t>
            </a:r>
          </a:p>
          <a:p>
            <a:pPr marL="0" indent="0">
              <a:lnSpc>
                <a:spcPct val="150000"/>
              </a:lnSpc>
              <a:buNone/>
            </a:pPr>
            <a:r>
              <a:rPr lang="en-US" dirty="0"/>
              <a:t>The "</a:t>
            </a:r>
            <a:r>
              <a:rPr lang="en-US" b="1" dirty="0"/>
              <a:t>git fetch</a:t>
            </a:r>
            <a:r>
              <a:rPr lang="en-US" dirty="0"/>
              <a:t>" </a:t>
            </a:r>
            <a:r>
              <a:rPr lang="en-US" b="1" dirty="0"/>
              <a:t>command </a:t>
            </a:r>
            <a:r>
              <a:rPr lang="en-US" dirty="0"/>
              <a:t>is used to pull the updates from remote-tracking branches. Additionally, we can get the updates that have been pushed to our remote branches to our local machines. 	</a:t>
            </a:r>
          </a:p>
          <a:p>
            <a:pPr marL="0" indent="0">
              <a:lnSpc>
                <a:spcPct val="150000"/>
              </a:lnSpc>
              <a:buNone/>
            </a:pPr>
            <a:r>
              <a:rPr lang="en-US" b="1" dirty="0"/>
              <a:t>1.1 Git fetch commands and options </a:t>
            </a:r>
            <a:endParaRPr lang="en-US" dirty="0"/>
          </a:p>
          <a:p>
            <a:pPr marL="0" indent="0">
              <a:lnSpc>
                <a:spcPct val="150000"/>
              </a:lnSpc>
              <a:buNone/>
            </a:pPr>
            <a:r>
              <a:rPr lang="en-US" b="1" dirty="0"/>
              <a:t>git fetch &lt;remote&gt; </a:t>
            </a:r>
            <a:r>
              <a:rPr lang="en-US" dirty="0"/>
              <a:t>	</a:t>
            </a:r>
          </a:p>
          <a:p>
            <a:pPr marL="0" indent="0">
              <a:lnSpc>
                <a:spcPct val="150000"/>
              </a:lnSpc>
              <a:buNone/>
            </a:pPr>
            <a:r>
              <a:rPr lang="en-US" dirty="0"/>
              <a:t>Fetch all of the branches from the repository. This also downloads all of the required commits and files from the other repository. 	</a:t>
            </a:r>
          </a:p>
          <a:p>
            <a:pPr marL="0" indent="0">
              <a:buNone/>
            </a:pPr>
            <a:endParaRPr lang="en-US" dirty="0"/>
          </a:p>
        </p:txBody>
      </p:sp>
    </p:spTree>
    <p:extLst>
      <p:ext uri="{BB962C8B-B14F-4D97-AF65-F5344CB8AC3E}">
        <p14:creationId xmlns:p14="http://schemas.microsoft.com/office/powerpoint/2010/main" val="85699582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6D7BCE-46F1-C059-893B-3371BB0BA226}"/>
              </a:ext>
            </a:extLst>
          </p:cNvPr>
          <p:cNvSpPr>
            <a:spLocks noGrp="1"/>
          </p:cNvSpPr>
          <p:nvPr>
            <p:ph idx="1"/>
          </p:nvPr>
        </p:nvSpPr>
        <p:spPr>
          <a:xfrm>
            <a:off x="891540" y="697230"/>
            <a:ext cx="10812780" cy="5737860"/>
          </a:xfrm>
        </p:spPr>
        <p:txBody>
          <a:bodyPr>
            <a:normAutofit lnSpcReduction="10000"/>
          </a:bodyPr>
          <a:lstStyle/>
          <a:p>
            <a:pPr marL="0" indent="0">
              <a:lnSpc>
                <a:spcPct val="150000"/>
              </a:lnSpc>
              <a:buNone/>
            </a:pPr>
            <a:r>
              <a:rPr lang="en-US" b="1" dirty="0"/>
              <a:t>git fetch &lt;remote&gt; &lt;branch&gt; </a:t>
            </a:r>
            <a:endParaRPr lang="en-US" dirty="0"/>
          </a:p>
          <a:p>
            <a:pPr marL="0" indent="0">
              <a:lnSpc>
                <a:spcPct val="150000"/>
              </a:lnSpc>
              <a:buNone/>
            </a:pPr>
            <a:r>
              <a:rPr lang="en-US" dirty="0"/>
              <a:t>Same as the above command, but only fetch the specified branch. </a:t>
            </a:r>
          </a:p>
          <a:p>
            <a:pPr marL="0" indent="0">
              <a:lnSpc>
                <a:spcPct val="150000"/>
              </a:lnSpc>
              <a:buNone/>
            </a:pPr>
            <a:r>
              <a:rPr lang="en-US" b="1" dirty="0"/>
              <a:t>git fetch --all </a:t>
            </a:r>
            <a:endParaRPr lang="en-US" dirty="0"/>
          </a:p>
          <a:p>
            <a:pPr marL="0" indent="0">
              <a:lnSpc>
                <a:spcPct val="150000"/>
              </a:lnSpc>
              <a:buNone/>
            </a:pPr>
            <a:r>
              <a:rPr lang="en-US" dirty="0"/>
              <a:t>A power move that fetches all registered remotes and their branches: </a:t>
            </a:r>
          </a:p>
          <a:p>
            <a:pPr marL="0" indent="0">
              <a:lnSpc>
                <a:spcPct val="150000"/>
              </a:lnSpc>
              <a:buNone/>
            </a:pPr>
            <a:r>
              <a:rPr lang="en-US" b="1" dirty="0"/>
              <a:t>git fetch --dry-run </a:t>
            </a:r>
            <a:endParaRPr lang="en-US" dirty="0"/>
          </a:p>
          <a:p>
            <a:pPr marL="0" indent="0">
              <a:lnSpc>
                <a:spcPct val="150000"/>
              </a:lnSpc>
              <a:buNone/>
            </a:pPr>
            <a:r>
              <a:rPr lang="en-US" dirty="0"/>
              <a:t>The --dry-run option will perform a demo run of the command. It will output examples of actions it will take during the fetch, but not apply them. 	</a:t>
            </a:r>
          </a:p>
          <a:p>
            <a:pPr marL="0" indent="0">
              <a:buNone/>
            </a:pPr>
            <a:endParaRPr lang="en-US" dirty="0"/>
          </a:p>
        </p:txBody>
      </p:sp>
    </p:spTree>
    <p:extLst>
      <p:ext uri="{BB962C8B-B14F-4D97-AF65-F5344CB8AC3E}">
        <p14:creationId xmlns:p14="http://schemas.microsoft.com/office/powerpoint/2010/main" val="398707530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7BE6F1-214C-2186-66DD-4499F5690980}"/>
              </a:ext>
            </a:extLst>
          </p:cNvPr>
          <p:cNvSpPr>
            <a:spLocks noGrp="1"/>
          </p:cNvSpPr>
          <p:nvPr>
            <p:ph idx="1"/>
          </p:nvPr>
        </p:nvSpPr>
        <p:spPr>
          <a:xfrm>
            <a:off x="674370" y="617220"/>
            <a:ext cx="11041380" cy="5772150"/>
          </a:xfrm>
        </p:spPr>
        <p:txBody>
          <a:bodyPr/>
          <a:lstStyle/>
          <a:p>
            <a:pPr marL="0" indent="0">
              <a:lnSpc>
                <a:spcPct val="150000"/>
              </a:lnSpc>
              <a:buNone/>
            </a:pPr>
            <a:r>
              <a:rPr lang="en-US" b="1" dirty="0"/>
              <a:t>1.2 Git Pull </a:t>
            </a:r>
            <a:endParaRPr lang="en-US" dirty="0"/>
          </a:p>
          <a:p>
            <a:pPr marL="0" indent="0">
              <a:lnSpc>
                <a:spcPct val="150000"/>
              </a:lnSpc>
              <a:buNone/>
            </a:pPr>
            <a:r>
              <a:rPr lang="en-US" dirty="0"/>
              <a:t>The term pull is used to receive data from GitHub. It fetches and merges changes from the remote server to your working directory. </a:t>
            </a:r>
          </a:p>
          <a:p>
            <a:pPr marL="0" indent="0">
              <a:lnSpc>
                <a:spcPct val="150000"/>
              </a:lnSpc>
              <a:buNone/>
            </a:pPr>
            <a:r>
              <a:rPr lang="en-US" dirty="0"/>
              <a:t>The </a:t>
            </a:r>
            <a:r>
              <a:rPr lang="en-US" b="1" dirty="0"/>
              <a:t>git pull command </a:t>
            </a:r>
            <a:r>
              <a:rPr lang="en-US" dirty="0"/>
              <a:t>is used to pull a repository. 	</a:t>
            </a:r>
          </a:p>
          <a:p>
            <a:pPr marL="0" indent="0">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23C8EEE5-609E-EAFA-0212-17AF13AA24BD}"/>
              </a:ext>
            </a:extLst>
          </p:cNvPr>
          <p:cNvPicPr>
            <a:picLocks noChangeAspect="1"/>
          </p:cNvPicPr>
          <p:nvPr/>
        </p:nvPicPr>
        <p:blipFill>
          <a:blip r:embed="rId2"/>
          <a:stretch>
            <a:fillRect/>
          </a:stretch>
        </p:blipFill>
        <p:spPr>
          <a:xfrm>
            <a:off x="1856179" y="3610046"/>
            <a:ext cx="7276803" cy="2651058"/>
          </a:xfrm>
          <a:prstGeom prst="rect">
            <a:avLst/>
          </a:prstGeom>
        </p:spPr>
      </p:pic>
    </p:spTree>
    <p:extLst>
      <p:ext uri="{BB962C8B-B14F-4D97-AF65-F5344CB8AC3E}">
        <p14:creationId xmlns:p14="http://schemas.microsoft.com/office/powerpoint/2010/main" val="344136983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17EA62-1EBE-8ABF-83E0-ED5B50FFE7CA}"/>
              </a:ext>
            </a:extLst>
          </p:cNvPr>
          <p:cNvSpPr>
            <a:spLocks noGrp="1"/>
          </p:cNvSpPr>
          <p:nvPr>
            <p:ph idx="1"/>
          </p:nvPr>
        </p:nvSpPr>
        <p:spPr>
          <a:xfrm>
            <a:off x="870332" y="683046"/>
            <a:ext cx="10840598" cy="5662670"/>
          </a:xfrm>
        </p:spPr>
        <p:txBody>
          <a:bodyPr/>
          <a:lstStyle/>
          <a:p>
            <a:pPr marL="0" indent="0">
              <a:lnSpc>
                <a:spcPct val="150000"/>
              </a:lnSpc>
              <a:buNone/>
            </a:pPr>
            <a:r>
              <a:rPr lang="en-US" dirty="0"/>
              <a:t>The </a:t>
            </a:r>
            <a:r>
              <a:rPr lang="en-US" b="1" dirty="0"/>
              <a:t>git pull </a:t>
            </a:r>
            <a:r>
              <a:rPr lang="en-US" dirty="0"/>
              <a:t>command is used to fetch and download content from a remote repository and immediately update the local repository to match that content. 	</a:t>
            </a:r>
          </a:p>
          <a:p>
            <a:pPr marL="0" indent="0">
              <a:buNone/>
            </a:pPr>
            <a:r>
              <a:rPr lang="en-US" b="1" dirty="0"/>
              <a:t> Differences between git fetch and git pull </a:t>
            </a:r>
            <a:r>
              <a:rPr lang="en-US" dirty="0"/>
              <a:t>	</a:t>
            </a:r>
          </a:p>
          <a:p>
            <a:pPr marL="0" indent="0">
              <a:buNone/>
            </a:pPr>
            <a:r>
              <a:rPr lang="en-US" dirty="0"/>
              <a:t>Some of the key differences between these commands are as follows: 	</a:t>
            </a:r>
          </a:p>
          <a:p>
            <a:pPr marL="0" indent="0">
              <a:buNone/>
            </a:pPr>
            <a:endParaRPr lang="en-US" dirty="0"/>
          </a:p>
        </p:txBody>
      </p:sp>
    </p:spTree>
    <p:extLst>
      <p:ext uri="{BB962C8B-B14F-4D97-AF65-F5344CB8AC3E}">
        <p14:creationId xmlns:p14="http://schemas.microsoft.com/office/powerpoint/2010/main" val="7023153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530D02E0-063E-D963-3C22-5469A8A8E77C}"/>
              </a:ext>
            </a:extLst>
          </p:cNvPr>
          <p:cNvPicPr>
            <a:picLocks noGrp="1" noChangeAspect="1"/>
          </p:cNvPicPr>
          <p:nvPr>
            <p:ph idx="1"/>
          </p:nvPr>
        </p:nvPicPr>
        <p:blipFill>
          <a:blip r:embed="rId2"/>
          <a:stretch>
            <a:fillRect/>
          </a:stretch>
        </p:blipFill>
        <p:spPr>
          <a:xfrm>
            <a:off x="2346494" y="776170"/>
            <a:ext cx="7948212" cy="520727"/>
          </a:xfrm>
          <a:prstGeom prst="rect">
            <a:avLst/>
          </a:prstGeom>
        </p:spPr>
      </p:pic>
      <p:pic>
        <p:nvPicPr>
          <p:cNvPr id="11" name="Picture 10">
            <a:extLst>
              <a:ext uri="{FF2B5EF4-FFF2-40B4-BE49-F238E27FC236}">
                <a16:creationId xmlns:a16="http://schemas.microsoft.com/office/drawing/2014/main" id="{DC02953C-1102-F904-1FD4-CA7E636EA376}"/>
              </a:ext>
            </a:extLst>
          </p:cNvPr>
          <p:cNvPicPr>
            <a:picLocks noChangeAspect="1"/>
          </p:cNvPicPr>
          <p:nvPr/>
        </p:nvPicPr>
        <p:blipFill>
          <a:blip r:embed="rId3"/>
          <a:stretch>
            <a:fillRect/>
          </a:stretch>
        </p:blipFill>
        <p:spPr>
          <a:xfrm>
            <a:off x="2346494" y="1184732"/>
            <a:ext cx="8033639" cy="5184775"/>
          </a:xfrm>
          <a:prstGeom prst="rect">
            <a:avLst/>
          </a:prstGeom>
        </p:spPr>
      </p:pic>
    </p:spTree>
    <p:extLst>
      <p:ext uri="{BB962C8B-B14F-4D97-AF65-F5344CB8AC3E}">
        <p14:creationId xmlns:p14="http://schemas.microsoft.com/office/powerpoint/2010/main" val="38293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78F316-0985-E19F-4554-708772B723AC}"/>
              </a:ext>
            </a:extLst>
          </p:cNvPr>
          <p:cNvSpPr>
            <a:spLocks noGrp="1"/>
          </p:cNvSpPr>
          <p:nvPr>
            <p:ph idx="1"/>
          </p:nvPr>
        </p:nvSpPr>
        <p:spPr>
          <a:xfrm>
            <a:off x="750013" y="626725"/>
            <a:ext cx="11157735" cy="5743254"/>
          </a:xfrm>
        </p:spPr>
        <p:txBody>
          <a:bodyPr>
            <a:normAutofit fontScale="85000" lnSpcReduction="10000"/>
          </a:bodyPr>
          <a:lstStyle/>
          <a:p>
            <a:pPr marL="0" indent="0">
              <a:lnSpc>
                <a:spcPct val="150000"/>
              </a:lnSpc>
              <a:buNone/>
            </a:pPr>
            <a:r>
              <a:rPr lang="en-US" b="1" dirty="0"/>
              <a:t>3.1.2: Fetching file from GitHub repository </a:t>
            </a:r>
          </a:p>
          <a:p>
            <a:pPr marL="0" indent="0">
              <a:lnSpc>
                <a:spcPct val="150000"/>
              </a:lnSpc>
              <a:buNone/>
            </a:pPr>
            <a:r>
              <a:rPr lang="en-US" b="1" dirty="0"/>
              <a:t>Fetch a file from a GitHub repository </a:t>
            </a:r>
            <a:endParaRPr lang="en-US" dirty="0"/>
          </a:p>
          <a:p>
            <a:pPr marL="0" indent="0">
              <a:lnSpc>
                <a:spcPct val="150000"/>
              </a:lnSpc>
              <a:buNone/>
            </a:pPr>
            <a:r>
              <a:rPr lang="en-US" dirty="0"/>
              <a:t>To fetch a file from a GitHub repository, you typically need to clone the repository to your local machine. Here are the steps: </a:t>
            </a:r>
          </a:p>
          <a:p>
            <a:pPr marL="0" indent="0">
              <a:lnSpc>
                <a:spcPct val="150000"/>
              </a:lnSpc>
              <a:buNone/>
            </a:pPr>
            <a:r>
              <a:rPr lang="en-US" b="1" dirty="0"/>
              <a:t>1. Find the Repository: </a:t>
            </a:r>
            <a:r>
              <a:rPr lang="en-US" dirty="0"/>
              <a:t>Go to the GitHub website and navigate to the repository containing the file you want to fetch. </a:t>
            </a:r>
          </a:p>
          <a:p>
            <a:pPr marL="0" indent="0">
              <a:lnSpc>
                <a:spcPct val="150000"/>
              </a:lnSpc>
              <a:buNone/>
            </a:pPr>
            <a:r>
              <a:rPr lang="en-US" b="1" dirty="0"/>
              <a:t>2. Get the Repository URL: </a:t>
            </a:r>
            <a:r>
              <a:rPr lang="en-US" dirty="0"/>
              <a:t>Click on the "Code" button, then copy the URL provided. It should look something like https://github.com/username/repository.git.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183432620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1DE611-1FB5-5247-26E4-8679F774F9C3}"/>
              </a:ext>
            </a:extLst>
          </p:cNvPr>
          <p:cNvSpPr>
            <a:spLocks noGrp="1"/>
          </p:cNvSpPr>
          <p:nvPr>
            <p:ph idx="1"/>
          </p:nvPr>
        </p:nvSpPr>
        <p:spPr>
          <a:xfrm>
            <a:off x="745732" y="736563"/>
            <a:ext cx="11007904" cy="5222447"/>
          </a:xfrm>
        </p:spPr>
        <p:txBody>
          <a:bodyPr/>
          <a:lstStyle/>
          <a:p>
            <a:pPr marL="0" indent="0">
              <a:lnSpc>
                <a:spcPct val="150000"/>
              </a:lnSpc>
              <a:buNone/>
            </a:pPr>
            <a:r>
              <a:rPr lang="en-US" dirty="0"/>
              <a:t>3. Open Terminal/Command Prompt: Open your terminal or command prompt on your local machine. </a:t>
            </a:r>
          </a:p>
          <a:p>
            <a:pPr marL="0" indent="0">
              <a:lnSpc>
                <a:spcPct val="150000"/>
              </a:lnSpc>
              <a:buNone/>
            </a:pPr>
            <a:r>
              <a:rPr lang="en-US" dirty="0"/>
              <a:t>4. Navigate to the Desired Directory: Use the cd command to navigate to the directory where you want to clone the repository. For example: </a:t>
            </a:r>
          </a:p>
          <a:p>
            <a:pPr marL="0" indent="0">
              <a:lnSpc>
                <a:spcPct val="150000"/>
              </a:lnSpc>
              <a:buNone/>
            </a:pPr>
            <a:endParaRPr lang="en-US" dirty="0"/>
          </a:p>
          <a:p>
            <a:pPr marL="0" indent="0">
              <a:lnSpc>
                <a:spcPct val="150000"/>
              </a:lnSpc>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BEA2791C-F722-507F-BFBC-C6F511ED64A9}"/>
              </a:ext>
            </a:extLst>
          </p:cNvPr>
          <p:cNvPicPr>
            <a:picLocks noChangeAspect="1"/>
          </p:cNvPicPr>
          <p:nvPr/>
        </p:nvPicPr>
        <p:blipFill>
          <a:blip r:embed="rId2"/>
          <a:stretch>
            <a:fillRect/>
          </a:stretch>
        </p:blipFill>
        <p:spPr>
          <a:xfrm>
            <a:off x="1110301" y="4151879"/>
            <a:ext cx="10129627" cy="738619"/>
          </a:xfrm>
          <a:prstGeom prst="rect">
            <a:avLst/>
          </a:prstGeom>
        </p:spPr>
      </p:pic>
    </p:spTree>
    <p:extLst>
      <p:ext uri="{BB962C8B-B14F-4D97-AF65-F5344CB8AC3E}">
        <p14:creationId xmlns:p14="http://schemas.microsoft.com/office/powerpoint/2010/main" val="7077314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2C610D-1E55-2773-0852-B37656C262E6}"/>
              </a:ext>
            </a:extLst>
          </p:cNvPr>
          <p:cNvSpPr>
            <a:spLocks noGrp="1"/>
          </p:cNvSpPr>
          <p:nvPr>
            <p:ph idx="1"/>
          </p:nvPr>
        </p:nvSpPr>
        <p:spPr>
          <a:xfrm>
            <a:off x="792505" y="606176"/>
            <a:ext cx="10624335" cy="5468046"/>
          </a:xfrm>
        </p:spPr>
        <p:txBody>
          <a:bodyPr/>
          <a:lstStyle/>
          <a:p>
            <a:pPr marL="0" indent="0">
              <a:lnSpc>
                <a:spcPct val="150000"/>
              </a:lnSpc>
              <a:buNone/>
            </a:pPr>
            <a:r>
              <a:rPr lang="en-US" dirty="0"/>
              <a:t>5.Clone the Repository: Use the git clone command followed by the repository URL to clone the repository to your local machine: </a:t>
            </a:r>
          </a:p>
          <a:p>
            <a:pPr marL="0" indent="0">
              <a:lnSpc>
                <a:spcPct val="150000"/>
              </a:lnSpc>
              <a:buNone/>
            </a:pPr>
            <a:endParaRPr lang="en-US" dirty="0"/>
          </a:p>
          <a:p>
            <a:pPr marL="0" indent="0">
              <a:lnSpc>
                <a:spcPct val="150000"/>
              </a:lnSpc>
              <a:buNone/>
            </a:pPr>
            <a:r>
              <a:rPr lang="en-US" dirty="0"/>
              <a:t>6.Navigate into the Cloned Repository: Move into the cloned repository directory using the cd command: 	</a:t>
            </a:r>
          </a:p>
          <a:p>
            <a:pPr marL="0" indent="0">
              <a:lnSpc>
                <a:spcPct val="150000"/>
              </a:lnSpc>
              <a:buNone/>
            </a:pPr>
            <a:r>
              <a:rPr lang="en-US" dirty="0"/>
              <a:t>	</a:t>
            </a:r>
          </a:p>
          <a:p>
            <a:pPr marL="0" indent="0">
              <a:buNone/>
            </a:pPr>
            <a:endParaRPr lang="en-US" dirty="0"/>
          </a:p>
        </p:txBody>
      </p:sp>
      <p:pic>
        <p:nvPicPr>
          <p:cNvPr id="5" name="Picture 4">
            <a:extLst>
              <a:ext uri="{FF2B5EF4-FFF2-40B4-BE49-F238E27FC236}">
                <a16:creationId xmlns:a16="http://schemas.microsoft.com/office/drawing/2014/main" id="{F9EA0579-158A-2BBF-37DE-30785F452214}"/>
              </a:ext>
            </a:extLst>
          </p:cNvPr>
          <p:cNvPicPr>
            <a:picLocks noChangeAspect="1"/>
          </p:cNvPicPr>
          <p:nvPr/>
        </p:nvPicPr>
        <p:blipFill>
          <a:blip r:embed="rId2"/>
          <a:stretch>
            <a:fillRect/>
          </a:stretch>
        </p:blipFill>
        <p:spPr>
          <a:xfrm>
            <a:off x="792505" y="2036655"/>
            <a:ext cx="10384600" cy="737367"/>
          </a:xfrm>
          <a:prstGeom prst="rect">
            <a:avLst/>
          </a:prstGeom>
        </p:spPr>
      </p:pic>
      <p:pic>
        <p:nvPicPr>
          <p:cNvPr id="7" name="Picture 6">
            <a:extLst>
              <a:ext uri="{FF2B5EF4-FFF2-40B4-BE49-F238E27FC236}">
                <a16:creationId xmlns:a16="http://schemas.microsoft.com/office/drawing/2014/main" id="{3CBC231C-EB2D-33CC-F304-09E8A86B34EE}"/>
              </a:ext>
            </a:extLst>
          </p:cNvPr>
          <p:cNvPicPr>
            <a:picLocks noChangeAspect="1"/>
          </p:cNvPicPr>
          <p:nvPr/>
        </p:nvPicPr>
        <p:blipFill>
          <a:blip r:embed="rId3"/>
          <a:stretch>
            <a:fillRect/>
          </a:stretch>
        </p:blipFill>
        <p:spPr>
          <a:xfrm>
            <a:off x="792505" y="4471629"/>
            <a:ext cx="10643705" cy="737366"/>
          </a:xfrm>
          <a:prstGeom prst="rect">
            <a:avLst/>
          </a:prstGeom>
        </p:spPr>
      </p:pic>
    </p:spTree>
    <p:extLst>
      <p:ext uri="{BB962C8B-B14F-4D97-AF65-F5344CB8AC3E}">
        <p14:creationId xmlns:p14="http://schemas.microsoft.com/office/powerpoint/2010/main" val="286503526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1D4A45-F432-E75E-7CC6-7D291E4B98BE}"/>
              </a:ext>
            </a:extLst>
          </p:cNvPr>
          <p:cNvSpPr>
            <a:spLocks noGrp="1"/>
          </p:cNvSpPr>
          <p:nvPr>
            <p:ph idx="1"/>
          </p:nvPr>
        </p:nvSpPr>
        <p:spPr>
          <a:xfrm>
            <a:off x="842479" y="770562"/>
            <a:ext cx="11003623" cy="5445303"/>
          </a:xfrm>
        </p:spPr>
        <p:txBody>
          <a:bodyPr>
            <a:normAutofit lnSpcReduction="10000"/>
          </a:bodyPr>
          <a:lstStyle/>
          <a:p>
            <a:pPr marL="0" indent="0">
              <a:buNone/>
            </a:pPr>
            <a:r>
              <a:rPr lang="en-US" b="1" dirty="0"/>
              <a:t>Indicative content 3.2: Push files to remote branch </a:t>
            </a:r>
          </a:p>
          <a:p>
            <a:pPr marL="0" indent="0">
              <a:buNone/>
            </a:pPr>
            <a:r>
              <a:rPr lang="en-US" b="1" dirty="0"/>
              <a:t>3.2.1: Description of Git push operations </a:t>
            </a:r>
            <a:endParaRPr lang="en-US" dirty="0"/>
          </a:p>
          <a:p>
            <a:pPr marL="0" indent="0">
              <a:buNone/>
            </a:pPr>
            <a:r>
              <a:rPr lang="en-US" b="1" dirty="0"/>
              <a:t>1. Definition of Git Push </a:t>
            </a:r>
            <a:r>
              <a:rPr lang="en-US" dirty="0"/>
              <a:t>	</a:t>
            </a:r>
          </a:p>
          <a:p>
            <a:pPr marL="0" indent="0">
              <a:lnSpc>
                <a:spcPct val="150000"/>
              </a:lnSpc>
              <a:buNone/>
            </a:pPr>
            <a:r>
              <a:rPr lang="en-US" b="1" dirty="0"/>
              <a:t>1. Definition of Git Push </a:t>
            </a:r>
            <a:endParaRPr lang="en-US" dirty="0"/>
          </a:p>
          <a:p>
            <a:pPr marL="0" indent="0">
              <a:lnSpc>
                <a:spcPct val="150000"/>
              </a:lnSpc>
              <a:buNone/>
            </a:pPr>
            <a:r>
              <a:rPr lang="en-US" dirty="0"/>
              <a:t>Using the git push command, you can upload your files available on your local machine to the remote repository. After git pushes the changes to the remote repository other developers can access the changes and they can contribute their changes by git pulling. Before pushing it to the remote repository you need to do a git commit to your local machine. 	</a:t>
            </a:r>
          </a:p>
          <a:p>
            <a:pPr marL="0" indent="0">
              <a:buNone/>
            </a:pPr>
            <a:endParaRPr lang="en-US" dirty="0"/>
          </a:p>
        </p:txBody>
      </p:sp>
    </p:spTree>
    <p:extLst>
      <p:ext uri="{BB962C8B-B14F-4D97-AF65-F5344CB8AC3E}">
        <p14:creationId xmlns:p14="http://schemas.microsoft.com/office/powerpoint/2010/main" val="244033043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350AC0-0517-136F-C32E-06BE1FF3B886}"/>
              </a:ext>
            </a:extLst>
          </p:cNvPr>
          <p:cNvSpPr>
            <a:spLocks noGrp="1"/>
          </p:cNvSpPr>
          <p:nvPr>
            <p:ph idx="1"/>
          </p:nvPr>
        </p:nvSpPr>
        <p:spPr>
          <a:xfrm>
            <a:off x="791110" y="821933"/>
            <a:ext cx="10562690" cy="5355030"/>
          </a:xfrm>
        </p:spPr>
        <p:txBody>
          <a:bodyPr/>
          <a:lstStyle/>
          <a:p>
            <a:pPr marL="0" indent="0">
              <a:buNone/>
            </a:pPr>
            <a:r>
              <a:rPr lang="en-US" b="1" dirty="0"/>
              <a:t>1.1 Git Push Command </a:t>
            </a:r>
            <a:endParaRPr lang="en-US" dirty="0"/>
          </a:p>
          <a:p>
            <a:pPr marL="0" indent="0">
              <a:buNone/>
            </a:pPr>
            <a:r>
              <a:rPr lang="en-US" dirty="0"/>
              <a:t>Git push allows us to transfer files from the local repository to remote repository hosting services like GitHub, GitLab, etc. 	</a:t>
            </a:r>
          </a:p>
          <a:p>
            <a:pPr marL="0" indent="0">
              <a:buNone/>
            </a:pPr>
            <a:endParaRPr lang="en-US" dirty="0"/>
          </a:p>
        </p:txBody>
      </p:sp>
      <p:pic>
        <p:nvPicPr>
          <p:cNvPr id="6" name="Picture 5">
            <a:extLst>
              <a:ext uri="{FF2B5EF4-FFF2-40B4-BE49-F238E27FC236}">
                <a16:creationId xmlns:a16="http://schemas.microsoft.com/office/drawing/2014/main" id="{E23DE9D2-9F7C-BB4E-A8D6-C15E4F26BF7A}"/>
              </a:ext>
            </a:extLst>
          </p:cNvPr>
          <p:cNvPicPr>
            <a:picLocks noChangeAspect="1"/>
          </p:cNvPicPr>
          <p:nvPr/>
        </p:nvPicPr>
        <p:blipFill>
          <a:blip r:embed="rId2"/>
          <a:stretch>
            <a:fillRect/>
          </a:stretch>
        </p:blipFill>
        <p:spPr>
          <a:xfrm>
            <a:off x="1279999" y="2779975"/>
            <a:ext cx="8241191" cy="2797315"/>
          </a:xfrm>
          <a:prstGeom prst="rect">
            <a:avLst/>
          </a:prstGeom>
        </p:spPr>
      </p:pic>
    </p:spTree>
    <p:extLst>
      <p:ext uri="{BB962C8B-B14F-4D97-AF65-F5344CB8AC3E}">
        <p14:creationId xmlns:p14="http://schemas.microsoft.com/office/powerpoint/2010/main" val="300718254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FE9CB3-2F54-3FEB-6DD7-361B1D96E0A8}"/>
              </a:ext>
            </a:extLst>
          </p:cNvPr>
          <p:cNvSpPr>
            <a:spLocks noGrp="1"/>
          </p:cNvSpPr>
          <p:nvPr>
            <p:ph idx="1"/>
          </p:nvPr>
        </p:nvSpPr>
        <p:spPr>
          <a:xfrm>
            <a:off x="754380" y="560070"/>
            <a:ext cx="11109960" cy="5863590"/>
          </a:xfrm>
        </p:spPr>
        <p:txBody>
          <a:bodyPr>
            <a:normAutofit lnSpcReduction="10000"/>
          </a:bodyPr>
          <a:lstStyle/>
          <a:p>
            <a:pPr marL="0" indent="0">
              <a:lnSpc>
                <a:spcPct val="150000"/>
              </a:lnSpc>
              <a:buNone/>
            </a:pPr>
            <a:r>
              <a:rPr lang="en-US" b="1" dirty="0"/>
              <a:t>Figure 17: Push diagram </a:t>
            </a:r>
            <a:endParaRPr lang="en-US" dirty="0"/>
          </a:p>
          <a:p>
            <a:pPr marL="0" indent="0">
              <a:lnSpc>
                <a:spcPct val="150000"/>
              </a:lnSpc>
              <a:buNone/>
            </a:pPr>
            <a:r>
              <a:rPr lang="en-US" dirty="0"/>
              <a:t>In the above diagram, we can observe If our local main branch is way back when compared to the central main repository after that git push origin main will publish the changes. git push is essential as same as the git merge.  </a:t>
            </a:r>
            <a:r>
              <a:rPr lang="en-US" b="1" dirty="0"/>
              <a:t>git push &lt;remote&gt; &lt;branch&gt; </a:t>
            </a:r>
            <a:r>
              <a:rPr lang="en-US" dirty="0"/>
              <a:t>	</a:t>
            </a:r>
          </a:p>
          <a:p>
            <a:pPr marL="0" indent="0">
              <a:lnSpc>
                <a:spcPct val="150000"/>
              </a:lnSpc>
              <a:buNone/>
            </a:pPr>
            <a:r>
              <a:rPr lang="en-US" b="1" dirty="0"/>
              <a:t>1. </a:t>
            </a:r>
            <a:r>
              <a:rPr lang="en-US" dirty="0"/>
              <a:t>The &lt;remote&gt; option refers to the remote repository to which you want to push your files it will refer to its alias name where the name is mapped with the remote repository URL </a:t>
            </a:r>
          </a:p>
          <a:p>
            <a:pPr marL="0" indent="0">
              <a:buNone/>
            </a:pPr>
            <a:r>
              <a:rPr lang="en-US" dirty="0"/>
              <a:t>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136876735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9CE21E-E73A-B857-91AE-7E6D375042EE}"/>
              </a:ext>
            </a:extLst>
          </p:cNvPr>
          <p:cNvSpPr>
            <a:spLocks noGrp="1"/>
          </p:cNvSpPr>
          <p:nvPr>
            <p:ph idx="1"/>
          </p:nvPr>
        </p:nvSpPr>
        <p:spPr>
          <a:xfrm>
            <a:off x="628650" y="582930"/>
            <a:ext cx="11201400" cy="5783580"/>
          </a:xfrm>
        </p:spPr>
        <p:txBody>
          <a:bodyPr/>
          <a:lstStyle/>
          <a:p>
            <a:pPr marL="0" indent="0">
              <a:lnSpc>
                <a:spcPct val="150000"/>
              </a:lnSpc>
              <a:buNone/>
            </a:pPr>
            <a:r>
              <a:rPr lang="en-US" dirty="0"/>
              <a:t>2. The </a:t>
            </a:r>
            <a:r>
              <a:rPr lang="en-US" b="1" dirty="0"/>
              <a:t>&lt;branch&gt; </a:t>
            </a:r>
            <a:r>
              <a:rPr lang="en-US" dirty="0"/>
              <a:t>option represents the branch of the GitHub repository which you want to push.</a:t>
            </a:r>
          </a:p>
          <a:p>
            <a:pPr marL="0" indent="0">
              <a:lnSpc>
                <a:spcPct val="150000"/>
              </a:lnSpc>
              <a:buNone/>
            </a:pPr>
            <a:r>
              <a:rPr lang="en-US" dirty="0"/>
              <a:t>The push term refers to upload local repository content to a remote repository. Pushing is an act of transfer commits from your local repository to a remote repository. Pushing is capable of overwriting changes; caution should be taken when pushing. 	</a:t>
            </a:r>
          </a:p>
          <a:p>
            <a:pPr marL="0" indent="0">
              <a:lnSpc>
                <a:spcPct val="150000"/>
              </a:lnSpc>
              <a:buNone/>
            </a:pPr>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243545302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32559F-C536-CDD6-636D-103A18648AF7}"/>
              </a:ext>
            </a:extLst>
          </p:cNvPr>
          <p:cNvSpPr>
            <a:spLocks noGrp="1"/>
          </p:cNvSpPr>
          <p:nvPr>
            <p:ph idx="1"/>
          </p:nvPr>
        </p:nvSpPr>
        <p:spPr>
          <a:xfrm>
            <a:off x="354330" y="502920"/>
            <a:ext cx="11487150" cy="5806440"/>
          </a:xfrm>
        </p:spPr>
        <p:txBody>
          <a:bodyPr>
            <a:normAutofit/>
          </a:bodyPr>
          <a:lstStyle/>
          <a:p>
            <a:pPr marL="0" indent="0">
              <a:lnSpc>
                <a:spcPct val="150000"/>
              </a:lnSpc>
              <a:buNone/>
            </a:pPr>
            <a:r>
              <a:rPr lang="en-US" b="1" dirty="0"/>
              <a:t>1.2 Description of Git Push Tags </a:t>
            </a:r>
            <a:endParaRPr lang="en-US" dirty="0"/>
          </a:p>
          <a:p>
            <a:pPr marL="0" indent="0">
              <a:lnSpc>
                <a:spcPct val="150000"/>
              </a:lnSpc>
              <a:buNone/>
            </a:pPr>
            <a:r>
              <a:rPr lang="en-US" b="1" dirty="0"/>
              <a:t>&lt;repository&gt;: </a:t>
            </a:r>
            <a:r>
              <a:rPr lang="en-US" dirty="0"/>
              <a:t>The repository is the destination of a push operation. It can be either a URL or the name of a remote repository. </a:t>
            </a:r>
          </a:p>
          <a:p>
            <a:pPr marL="0" indent="0">
              <a:lnSpc>
                <a:spcPct val="150000"/>
              </a:lnSpc>
              <a:buNone/>
            </a:pPr>
            <a:r>
              <a:rPr lang="en-US" b="1" dirty="0"/>
              <a:t>&lt;</a:t>
            </a:r>
            <a:r>
              <a:rPr lang="en-US" b="1" dirty="0" err="1"/>
              <a:t>refspec</a:t>
            </a:r>
            <a:r>
              <a:rPr lang="en-US" b="1" dirty="0"/>
              <a:t>&gt;: </a:t>
            </a:r>
            <a:r>
              <a:rPr lang="en-US" dirty="0"/>
              <a:t>It specifies the destination ref to update source object. </a:t>
            </a:r>
          </a:p>
          <a:p>
            <a:pPr marL="0" indent="0">
              <a:lnSpc>
                <a:spcPct val="150000"/>
              </a:lnSpc>
              <a:buNone/>
            </a:pPr>
            <a:r>
              <a:rPr lang="en-US" b="1" dirty="0"/>
              <a:t>--all: </a:t>
            </a:r>
            <a:r>
              <a:rPr lang="en-US" dirty="0"/>
              <a:t>The word "all" stands for all branches. It pushes all branches. 	</a:t>
            </a:r>
          </a:p>
          <a:p>
            <a:pPr marL="0" indent="0">
              <a:lnSpc>
                <a:spcPct val="150000"/>
              </a:lnSpc>
              <a:buNone/>
            </a:pPr>
            <a:r>
              <a:rPr lang="en-US" b="1" dirty="0"/>
              <a:t>--prune: </a:t>
            </a:r>
            <a:r>
              <a:rPr lang="en-US" dirty="0"/>
              <a:t>It removes the remote branches that do not have a local counterpart. Means, if you have a remote branch say demo, if this branch does not exist locally, then it will be removed. 	</a:t>
            </a:r>
          </a:p>
          <a:p>
            <a:pPr marL="0" indent="0">
              <a:buNone/>
            </a:pPr>
            <a:endParaRPr lang="en-US" dirty="0"/>
          </a:p>
        </p:txBody>
      </p:sp>
    </p:spTree>
    <p:extLst>
      <p:ext uri="{BB962C8B-B14F-4D97-AF65-F5344CB8AC3E}">
        <p14:creationId xmlns:p14="http://schemas.microsoft.com/office/powerpoint/2010/main" val="357716301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D65AED-FAF2-AF23-191B-CCB0CB484509}"/>
              </a:ext>
            </a:extLst>
          </p:cNvPr>
          <p:cNvSpPr>
            <a:spLocks noGrp="1"/>
          </p:cNvSpPr>
          <p:nvPr>
            <p:ph idx="1"/>
          </p:nvPr>
        </p:nvSpPr>
        <p:spPr>
          <a:xfrm>
            <a:off x="377190" y="491490"/>
            <a:ext cx="11510010" cy="5966460"/>
          </a:xfrm>
        </p:spPr>
        <p:txBody>
          <a:bodyPr>
            <a:normAutofit fontScale="92500"/>
          </a:bodyPr>
          <a:lstStyle/>
          <a:p>
            <a:pPr marL="0" indent="0">
              <a:lnSpc>
                <a:spcPct val="150000"/>
              </a:lnSpc>
              <a:buNone/>
            </a:pPr>
            <a:r>
              <a:rPr lang="en-US" b="1" dirty="0"/>
              <a:t>--mirror: </a:t>
            </a:r>
            <a:r>
              <a:rPr lang="en-US" dirty="0"/>
              <a:t>It is used to mirror the repository to the remote. Updated or Newly created local refs will be pushed to the remote end. It can be force updated on the remote end. 	</a:t>
            </a:r>
          </a:p>
          <a:p>
            <a:pPr marL="0" indent="0">
              <a:lnSpc>
                <a:spcPct val="150000"/>
              </a:lnSpc>
              <a:buNone/>
            </a:pPr>
            <a:r>
              <a:rPr lang="en-US" b="1" dirty="0"/>
              <a:t>--dry-run: </a:t>
            </a:r>
            <a:r>
              <a:rPr lang="en-US" dirty="0"/>
              <a:t>Dry run tests the commands. It does all this except originally update the repository. </a:t>
            </a:r>
          </a:p>
          <a:p>
            <a:pPr marL="0" indent="0">
              <a:lnSpc>
                <a:spcPct val="150000"/>
              </a:lnSpc>
              <a:buNone/>
            </a:pPr>
            <a:r>
              <a:rPr lang="en-US" b="1" dirty="0"/>
              <a:t>--tags: </a:t>
            </a:r>
            <a:r>
              <a:rPr lang="en-US" dirty="0"/>
              <a:t>It pushes all local tags. </a:t>
            </a:r>
          </a:p>
          <a:p>
            <a:pPr marL="0" indent="0">
              <a:lnSpc>
                <a:spcPct val="150000"/>
              </a:lnSpc>
              <a:buNone/>
            </a:pPr>
            <a:r>
              <a:rPr lang="en-US" b="1" dirty="0"/>
              <a:t>--delete: </a:t>
            </a:r>
            <a:r>
              <a:rPr lang="en-US" dirty="0"/>
              <a:t>It deletes the specified branch. 	</a:t>
            </a:r>
          </a:p>
          <a:p>
            <a:pPr marL="0" indent="0">
              <a:lnSpc>
                <a:spcPct val="150000"/>
              </a:lnSpc>
              <a:buNone/>
            </a:pPr>
            <a:r>
              <a:rPr lang="en-US" b="1" dirty="0"/>
              <a:t>-u: </a:t>
            </a:r>
            <a:r>
              <a:rPr lang="en-US" dirty="0"/>
              <a:t>It creates an upstream tracking connection. It is very useful if you are going to push the branch for the first time. 	</a:t>
            </a:r>
          </a:p>
          <a:p>
            <a:pPr marL="0" indent="0">
              <a:buNone/>
            </a:pPr>
            <a:endParaRPr lang="en-US" dirty="0"/>
          </a:p>
        </p:txBody>
      </p:sp>
    </p:spTree>
    <p:extLst>
      <p:ext uri="{BB962C8B-B14F-4D97-AF65-F5344CB8AC3E}">
        <p14:creationId xmlns:p14="http://schemas.microsoft.com/office/powerpoint/2010/main" val="244130105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CA6F76-43BA-FF66-B5FB-73599AC21D56}"/>
              </a:ext>
            </a:extLst>
          </p:cNvPr>
          <p:cNvSpPr>
            <a:spLocks noGrp="1"/>
          </p:cNvSpPr>
          <p:nvPr>
            <p:ph idx="1"/>
          </p:nvPr>
        </p:nvSpPr>
        <p:spPr>
          <a:xfrm>
            <a:off x="765810" y="525780"/>
            <a:ext cx="10847070" cy="5829300"/>
          </a:xfrm>
        </p:spPr>
        <p:txBody>
          <a:bodyPr/>
          <a:lstStyle/>
          <a:p>
            <a:pPr marL="0" indent="0">
              <a:buNone/>
            </a:pPr>
            <a:r>
              <a:rPr lang="en-US" b="1" dirty="0"/>
              <a:t>Indicative content 3.3: Merge branches on remote repository </a:t>
            </a:r>
          </a:p>
          <a:p>
            <a:pPr marL="0" indent="0">
              <a:buNone/>
            </a:pPr>
            <a:r>
              <a:rPr lang="en-US" b="1" dirty="0"/>
              <a:t>3.3.1.: Description of merge branches on remote repository </a:t>
            </a:r>
            <a:endParaRPr lang="en-US" dirty="0"/>
          </a:p>
          <a:p>
            <a:pPr marL="0" indent="0">
              <a:buNone/>
            </a:pPr>
            <a:r>
              <a:rPr lang="en-US" b="1" dirty="0"/>
              <a:t>1.Git Rebase </a:t>
            </a:r>
            <a:r>
              <a:rPr lang="en-US" dirty="0"/>
              <a:t>	</a:t>
            </a:r>
          </a:p>
          <a:p>
            <a:pPr marL="0" indent="0">
              <a:lnSpc>
                <a:spcPct val="150000"/>
              </a:lnSpc>
              <a:buNone/>
            </a:pPr>
            <a:r>
              <a:rPr lang="en-US" dirty="0"/>
              <a:t>In Git, the term rebase is referred to as the process of moving or combining a sequence of commits to a new base commit. Rebasing is very beneficial and it visualized the process in the environment of a feature branching workflow. 	</a:t>
            </a:r>
          </a:p>
          <a:p>
            <a:pPr marL="0" indent="0">
              <a:lnSpc>
                <a:spcPct val="150000"/>
              </a:lnSpc>
              <a:buNone/>
            </a:pPr>
            <a:r>
              <a:rPr lang="en-US" b="1" dirty="0"/>
              <a:t>git rebase </a:t>
            </a:r>
            <a:r>
              <a:rPr lang="en-US" dirty="0"/>
              <a:t>is a Git command used to reapply a series of commits from one branch onto another branch. 	</a:t>
            </a:r>
          </a:p>
          <a:p>
            <a:pPr marL="0" indent="0">
              <a:buNone/>
            </a:pPr>
            <a:endParaRPr lang="en-US" dirty="0"/>
          </a:p>
        </p:txBody>
      </p:sp>
    </p:spTree>
    <p:extLst>
      <p:ext uri="{BB962C8B-B14F-4D97-AF65-F5344CB8AC3E}">
        <p14:creationId xmlns:p14="http://schemas.microsoft.com/office/powerpoint/2010/main" val="231926765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B96037-50B8-13DD-0668-33175CCEFEFA}"/>
              </a:ext>
            </a:extLst>
          </p:cNvPr>
          <p:cNvSpPr>
            <a:spLocks noGrp="1"/>
          </p:cNvSpPr>
          <p:nvPr>
            <p:ph idx="1"/>
          </p:nvPr>
        </p:nvSpPr>
        <p:spPr>
          <a:xfrm>
            <a:off x="674370" y="628650"/>
            <a:ext cx="11235690" cy="5760720"/>
          </a:xfrm>
        </p:spPr>
        <p:txBody>
          <a:bodyPr>
            <a:normAutofit fontScale="92500"/>
          </a:bodyPr>
          <a:lstStyle/>
          <a:p>
            <a:pPr marL="0" indent="0">
              <a:lnSpc>
                <a:spcPct val="150000"/>
              </a:lnSpc>
              <a:buNone/>
            </a:pPr>
            <a:r>
              <a:rPr lang="en-US" b="1" dirty="0"/>
              <a:t>2. Git Pull Request </a:t>
            </a:r>
            <a:endParaRPr lang="en-US" dirty="0"/>
          </a:p>
          <a:p>
            <a:pPr marL="0" indent="0">
              <a:lnSpc>
                <a:spcPct val="150000"/>
              </a:lnSpc>
              <a:buNone/>
            </a:pPr>
            <a:r>
              <a:rPr lang="en-US" dirty="0"/>
              <a:t>Pull request allows you to announce a change made by you in the branch. Once a pull request is opened, you are allowed to converse and review the changes made by others. 	</a:t>
            </a:r>
          </a:p>
          <a:p>
            <a:pPr marL="0" indent="0">
              <a:lnSpc>
                <a:spcPct val="150000"/>
              </a:lnSpc>
              <a:buNone/>
            </a:pPr>
            <a:r>
              <a:rPr lang="en-US" b="1" dirty="0"/>
              <a:t>3. Git Merge and Merge Conflict </a:t>
            </a:r>
            <a:endParaRPr lang="en-US" dirty="0"/>
          </a:p>
          <a:p>
            <a:pPr marL="0" indent="0">
              <a:lnSpc>
                <a:spcPct val="150000"/>
              </a:lnSpc>
              <a:buNone/>
            </a:pPr>
            <a:r>
              <a:rPr lang="en-US" dirty="0"/>
              <a:t>In Git, the merging is a procedure to connect the forked history. It joins two or more development history together. The git merge command facilitates you to take the data created by git branch and integrate them into a single branch. 	</a:t>
            </a:r>
          </a:p>
          <a:p>
            <a:pPr marL="0" indent="0">
              <a:buNone/>
            </a:pPr>
            <a:endParaRPr lang="en-US" dirty="0"/>
          </a:p>
        </p:txBody>
      </p:sp>
    </p:spTree>
    <p:extLst>
      <p:ext uri="{BB962C8B-B14F-4D97-AF65-F5344CB8AC3E}">
        <p14:creationId xmlns:p14="http://schemas.microsoft.com/office/powerpoint/2010/main" val="104691390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C63E84-3B6D-CEC4-CEA7-32B28002917A}"/>
              </a:ext>
            </a:extLst>
          </p:cNvPr>
          <p:cNvSpPr>
            <a:spLocks noGrp="1"/>
          </p:cNvSpPr>
          <p:nvPr>
            <p:ph idx="1"/>
          </p:nvPr>
        </p:nvSpPr>
        <p:spPr>
          <a:xfrm>
            <a:off x="1215390" y="405206"/>
            <a:ext cx="10656570" cy="5628323"/>
          </a:xfrm>
        </p:spPr>
        <p:txBody>
          <a:bodyPr/>
          <a:lstStyle/>
          <a:p>
            <a:pPr marL="0" indent="0">
              <a:lnSpc>
                <a:spcPct val="150000"/>
              </a:lnSpc>
              <a:buNone/>
            </a:pPr>
            <a:r>
              <a:rPr lang="en-US" b="1" dirty="0"/>
              <a:t>4. Git Merge Conflict </a:t>
            </a:r>
            <a:endParaRPr lang="en-US" dirty="0"/>
          </a:p>
          <a:p>
            <a:pPr marL="0" indent="0">
              <a:lnSpc>
                <a:spcPct val="150000"/>
              </a:lnSpc>
              <a:buNone/>
            </a:pPr>
            <a:r>
              <a:rPr lang="en-US" dirty="0"/>
              <a:t>When two branches are trying to merge, and both are edited at the same time and in the same file, Git won't be able to identify which version is to take for changes. Such a situation is called merge conflict. </a:t>
            </a:r>
          </a:p>
          <a:p>
            <a:pPr marL="0" indent="0">
              <a:lnSpc>
                <a:spcPct val="150000"/>
              </a:lnSpc>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322AFED3-7F5D-AFC8-0FFC-13D5C910B4EF}"/>
              </a:ext>
            </a:extLst>
          </p:cNvPr>
          <p:cNvPicPr>
            <a:picLocks noChangeAspect="1"/>
          </p:cNvPicPr>
          <p:nvPr/>
        </p:nvPicPr>
        <p:blipFill>
          <a:blip r:embed="rId2"/>
          <a:stretch>
            <a:fillRect/>
          </a:stretch>
        </p:blipFill>
        <p:spPr>
          <a:xfrm>
            <a:off x="2171701" y="3093566"/>
            <a:ext cx="6812280" cy="3535103"/>
          </a:xfrm>
          <a:prstGeom prst="rect">
            <a:avLst/>
          </a:prstGeom>
        </p:spPr>
      </p:pic>
    </p:spTree>
    <p:extLst>
      <p:ext uri="{BB962C8B-B14F-4D97-AF65-F5344CB8AC3E}">
        <p14:creationId xmlns:p14="http://schemas.microsoft.com/office/powerpoint/2010/main" val="57270154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476248-AA18-4C0B-1862-78C47EC61AC1}"/>
              </a:ext>
            </a:extLst>
          </p:cNvPr>
          <p:cNvSpPr>
            <a:spLocks noGrp="1"/>
          </p:cNvSpPr>
          <p:nvPr>
            <p:ph idx="1"/>
          </p:nvPr>
        </p:nvSpPr>
        <p:spPr>
          <a:xfrm>
            <a:off x="779144" y="377190"/>
            <a:ext cx="10993756" cy="6103620"/>
          </a:xfrm>
        </p:spPr>
        <p:txBody>
          <a:bodyPr/>
          <a:lstStyle/>
          <a:p>
            <a:pPr marL="0" indent="0">
              <a:lnSpc>
                <a:spcPct val="150000"/>
              </a:lnSpc>
              <a:buNone/>
            </a:pPr>
            <a:r>
              <a:rPr lang="en-US" b="1" dirty="0"/>
              <a:t>3.3.2: Applying Git merge commands </a:t>
            </a:r>
            <a:endParaRPr lang="en-US" dirty="0"/>
          </a:p>
          <a:p>
            <a:pPr marL="0" indent="0">
              <a:lnSpc>
                <a:spcPct val="150000"/>
              </a:lnSpc>
              <a:buNone/>
            </a:pPr>
            <a:r>
              <a:rPr lang="en-US" b="1" dirty="0"/>
              <a:t>1. Merging branches </a:t>
            </a:r>
            <a:endParaRPr lang="en-US" dirty="0"/>
          </a:p>
          <a:p>
            <a:pPr marL="0" indent="0">
              <a:lnSpc>
                <a:spcPct val="150000"/>
              </a:lnSpc>
              <a:buNone/>
            </a:pPr>
            <a:r>
              <a:rPr lang="en-US" dirty="0"/>
              <a:t>Merging branches on a remote repository involves several steps. Below are the general steps to merge branches on a remote repository, assuming you're using Git: 	</a:t>
            </a:r>
          </a:p>
          <a:p>
            <a:pPr marL="0" indent="0">
              <a:lnSpc>
                <a:spcPct val="150000"/>
              </a:lnSpc>
              <a:buNone/>
            </a:pPr>
            <a:r>
              <a:rPr lang="en-US" dirty="0"/>
              <a:t>1. </a:t>
            </a:r>
            <a:r>
              <a:rPr lang="en-US" b="1" dirty="0"/>
              <a:t>Fetch Remote Changes: </a:t>
            </a:r>
            <a:r>
              <a:rPr lang="en-US" dirty="0"/>
              <a:t>Before merging branches, ensure you have the latest changes from the remote repository. Use the following command to fetch the latest changes: 	</a:t>
            </a:r>
          </a:p>
          <a:p>
            <a:pPr marL="0" indent="0">
              <a:buNone/>
            </a:pPr>
            <a:endParaRPr lang="en-US" dirty="0"/>
          </a:p>
        </p:txBody>
      </p:sp>
    </p:spTree>
    <p:extLst>
      <p:ext uri="{BB962C8B-B14F-4D97-AF65-F5344CB8AC3E}">
        <p14:creationId xmlns:p14="http://schemas.microsoft.com/office/powerpoint/2010/main" val="190542886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DB867A-92DC-A0F7-EDED-4237A55BCD24}"/>
              </a:ext>
            </a:extLst>
          </p:cNvPr>
          <p:cNvSpPr>
            <a:spLocks noGrp="1"/>
          </p:cNvSpPr>
          <p:nvPr>
            <p:ph idx="1"/>
          </p:nvPr>
        </p:nvSpPr>
        <p:spPr>
          <a:xfrm>
            <a:off x="838200" y="708660"/>
            <a:ext cx="11014710" cy="5726430"/>
          </a:xfrm>
        </p:spPr>
        <p:txBody>
          <a:bodyPr/>
          <a:lstStyle/>
          <a:p>
            <a:pPr marL="0" indent="0">
              <a:buNone/>
            </a:pPr>
            <a:endParaRPr lang="en-US" dirty="0"/>
          </a:p>
          <a:p>
            <a:pPr marL="0" indent="0">
              <a:buNone/>
            </a:pPr>
            <a:endParaRPr lang="en-US" dirty="0"/>
          </a:p>
          <a:p>
            <a:pPr marL="0" indent="0">
              <a:lnSpc>
                <a:spcPct val="150000"/>
              </a:lnSpc>
              <a:buNone/>
            </a:pPr>
            <a:endParaRPr lang="en-US" dirty="0"/>
          </a:p>
          <a:p>
            <a:pPr marL="0" indent="0">
              <a:lnSpc>
                <a:spcPct val="150000"/>
              </a:lnSpc>
              <a:buNone/>
            </a:pPr>
            <a:r>
              <a:rPr lang="en-US" dirty="0"/>
              <a:t>Replace origin with the name of your remote repository if it's different. </a:t>
            </a:r>
            <a:r>
              <a:rPr lang="en-US" b="1" dirty="0"/>
              <a:t>2.Checkout the Target Branch</a:t>
            </a:r>
            <a:r>
              <a:rPr lang="en-US" dirty="0"/>
              <a:t>: Switch to the branch into which you want to merge the changes. For example, to merge changes into the master branch: 	</a:t>
            </a:r>
          </a:p>
          <a:p>
            <a:pPr marL="0" indent="0">
              <a:lnSpc>
                <a:spcPct val="150000"/>
              </a:lnSpc>
              <a:buNone/>
            </a:pPr>
            <a:endParaRPr lang="en-US" dirty="0"/>
          </a:p>
          <a:p>
            <a:pPr marL="0" indent="0">
              <a:buNone/>
            </a:pPr>
            <a:endParaRPr lang="en-US" dirty="0"/>
          </a:p>
        </p:txBody>
      </p:sp>
      <p:pic>
        <p:nvPicPr>
          <p:cNvPr id="9" name="Picture 8">
            <a:extLst>
              <a:ext uri="{FF2B5EF4-FFF2-40B4-BE49-F238E27FC236}">
                <a16:creationId xmlns:a16="http://schemas.microsoft.com/office/drawing/2014/main" id="{EBFD2529-C5F0-F203-8855-5609775B2E7A}"/>
              </a:ext>
            </a:extLst>
          </p:cNvPr>
          <p:cNvPicPr>
            <a:picLocks noChangeAspect="1"/>
          </p:cNvPicPr>
          <p:nvPr/>
        </p:nvPicPr>
        <p:blipFill>
          <a:blip r:embed="rId2"/>
          <a:stretch>
            <a:fillRect/>
          </a:stretch>
        </p:blipFill>
        <p:spPr>
          <a:xfrm>
            <a:off x="1680210" y="898936"/>
            <a:ext cx="5269235" cy="929864"/>
          </a:xfrm>
          <a:prstGeom prst="rect">
            <a:avLst/>
          </a:prstGeom>
        </p:spPr>
      </p:pic>
      <p:pic>
        <p:nvPicPr>
          <p:cNvPr id="11" name="Picture 10">
            <a:extLst>
              <a:ext uri="{FF2B5EF4-FFF2-40B4-BE49-F238E27FC236}">
                <a16:creationId xmlns:a16="http://schemas.microsoft.com/office/drawing/2014/main" id="{E6C93EF1-C89A-2CB7-2168-912DAF0AD616}"/>
              </a:ext>
            </a:extLst>
          </p:cNvPr>
          <p:cNvPicPr>
            <a:picLocks noChangeAspect="1"/>
          </p:cNvPicPr>
          <p:nvPr/>
        </p:nvPicPr>
        <p:blipFill>
          <a:blip r:embed="rId3"/>
          <a:stretch>
            <a:fillRect/>
          </a:stretch>
        </p:blipFill>
        <p:spPr>
          <a:xfrm>
            <a:off x="1446286" y="5189220"/>
            <a:ext cx="5766044" cy="758691"/>
          </a:xfrm>
          <a:prstGeom prst="rect">
            <a:avLst/>
          </a:prstGeom>
        </p:spPr>
      </p:pic>
    </p:spTree>
    <p:extLst>
      <p:ext uri="{BB962C8B-B14F-4D97-AF65-F5344CB8AC3E}">
        <p14:creationId xmlns:p14="http://schemas.microsoft.com/office/powerpoint/2010/main" val="419092680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4E87DB-E367-9CB4-B7CA-8DA197AC1792}"/>
              </a:ext>
            </a:extLst>
          </p:cNvPr>
          <p:cNvSpPr>
            <a:spLocks noGrp="1"/>
          </p:cNvSpPr>
          <p:nvPr>
            <p:ph idx="1"/>
          </p:nvPr>
        </p:nvSpPr>
        <p:spPr>
          <a:xfrm>
            <a:off x="800100" y="594360"/>
            <a:ext cx="10553700" cy="5582603"/>
          </a:xfrm>
        </p:spPr>
        <p:txBody>
          <a:bodyPr/>
          <a:lstStyle/>
          <a:p>
            <a:pPr marL="0" indent="0">
              <a:lnSpc>
                <a:spcPct val="150000"/>
              </a:lnSpc>
              <a:buNone/>
            </a:pPr>
            <a:r>
              <a:rPr lang="en-US" dirty="0"/>
              <a:t>3. </a:t>
            </a:r>
            <a:r>
              <a:rPr lang="en-US" b="1" dirty="0"/>
              <a:t>Merge the Branch: </a:t>
            </a:r>
            <a:r>
              <a:rPr lang="en-US" dirty="0"/>
              <a:t>Merge the changes from the source branch into the target branch using the git merge command. 	</a:t>
            </a:r>
          </a:p>
          <a:p>
            <a:pPr marL="0" indent="0">
              <a:buNone/>
            </a:pPr>
            <a:endParaRPr lang="en-US" dirty="0"/>
          </a:p>
        </p:txBody>
      </p:sp>
      <p:pic>
        <p:nvPicPr>
          <p:cNvPr id="5" name="Picture 4">
            <a:extLst>
              <a:ext uri="{FF2B5EF4-FFF2-40B4-BE49-F238E27FC236}">
                <a16:creationId xmlns:a16="http://schemas.microsoft.com/office/drawing/2014/main" id="{A7BDC018-C630-E217-5DDE-1E0E59F25313}"/>
              </a:ext>
            </a:extLst>
          </p:cNvPr>
          <p:cNvPicPr>
            <a:picLocks noChangeAspect="1"/>
          </p:cNvPicPr>
          <p:nvPr/>
        </p:nvPicPr>
        <p:blipFill>
          <a:blip r:embed="rId2"/>
          <a:stretch>
            <a:fillRect/>
          </a:stretch>
        </p:blipFill>
        <p:spPr>
          <a:xfrm>
            <a:off x="1088172" y="2352989"/>
            <a:ext cx="9977556" cy="1076011"/>
          </a:xfrm>
          <a:prstGeom prst="rect">
            <a:avLst/>
          </a:prstGeom>
        </p:spPr>
      </p:pic>
    </p:spTree>
    <p:extLst>
      <p:ext uri="{BB962C8B-B14F-4D97-AF65-F5344CB8AC3E}">
        <p14:creationId xmlns:p14="http://schemas.microsoft.com/office/powerpoint/2010/main" val="1762200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2511</TotalTime>
  <Words>8972</Words>
  <Application>Microsoft Office PowerPoint</Application>
  <PresentationFormat>Widescreen</PresentationFormat>
  <Paragraphs>741</Paragraphs>
  <Slides>138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138</vt:i4>
      </vt:variant>
    </vt:vector>
  </HeadingPairs>
  <TitlesOfParts>
    <vt:vector size="142" baseType="lpstr">
      <vt:lpstr>Arial</vt:lpstr>
      <vt:lpstr>Calibri</vt:lpstr>
      <vt:lpstr>Calibri Light</vt:lpstr>
      <vt:lpstr>Office Theme</vt:lpstr>
      <vt:lpstr>SWDVC301:VERSION CONTROL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12</cp:revision>
  <dcterms:created xsi:type="dcterms:W3CDTF">2026-01-19T13:13:44Z</dcterms:created>
  <dcterms:modified xsi:type="dcterms:W3CDTF">2026-06-09T07:16:11Z</dcterms:modified>
</cp:coreProperties>
</file>